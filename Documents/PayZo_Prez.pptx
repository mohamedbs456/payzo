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8" r:id="rId2"/>
    <p:sldId id="259" r:id="rId3"/>
    <p:sldId id="263" r:id="rId4"/>
    <p:sldId id="311" r:id="rId5"/>
    <p:sldId id="316" r:id="rId6"/>
    <p:sldId id="314" r:id="rId7"/>
    <p:sldId id="317" r:id="rId8"/>
    <p:sldId id="267" r:id="rId9"/>
    <p:sldId id="329" r:id="rId10"/>
    <p:sldId id="260" r:id="rId11"/>
    <p:sldId id="343" r:id="rId12"/>
    <p:sldId id="270" r:id="rId13"/>
    <p:sldId id="344" r:id="rId14"/>
    <p:sldId id="303" r:id="rId15"/>
    <p:sldId id="301" r:id="rId16"/>
    <p:sldId id="302" r:id="rId17"/>
    <p:sldId id="309" r:id="rId18"/>
    <p:sldId id="328" r:id="rId19"/>
    <p:sldId id="308" r:id="rId20"/>
    <p:sldId id="307" r:id="rId21"/>
    <p:sldId id="306" r:id="rId22"/>
    <p:sldId id="305" r:id="rId23"/>
    <p:sldId id="273" r:id="rId24"/>
    <p:sldId id="310" r:id="rId25"/>
    <p:sldId id="275" r:id="rId26"/>
    <p:sldId id="276" r:id="rId27"/>
    <p:sldId id="327" r:id="rId28"/>
    <p:sldId id="277" r:id="rId29"/>
    <p:sldId id="326" r:id="rId30"/>
    <p:sldId id="279" r:id="rId31"/>
    <p:sldId id="325" r:id="rId32"/>
    <p:sldId id="284" r:id="rId33"/>
    <p:sldId id="324" r:id="rId34"/>
    <p:sldId id="323" r:id="rId35"/>
    <p:sldId id="283" r:id="rId36"/>
    <p:sldId id="282" r:id="rId37"/>
    <p:sldId id="281" r:id="rId38"/>
    <p:sldId id="298" r:id="rId39"/>
    <p:sldId id="335" r:id="rId40"/>
    <p:sldId id="336" r:id="rId41"/>
    <p:sldId id="337" r:id="rId42"/>
    <p:sldId id="338" r:id="rId43"/>
    <p:sldId id="334" r:id="rId44"/>
    <p:sldId id="339" r:id="rId45"/>
    <p:sldId id="340" r:id="rId46"/>
    <p:sldId id="341" r:id="rId47"/>
    <p:sldId id="342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7A4A28"/>
    <a:srgbClr val="F8F6F0"/>
    <a:srgbClr val="FAE8DA"/>
    <a:srgbClr val="C1DAF1"/>
    <a:srgbClr val="003F76"/>
    <a:srgbClr val="FF7D7D"/>
    <a:srgbClr val="FF4747"/>
    <a:srgbClr val="2A9D8F"/>
    <a:srgbClr val="E8A2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86405" autoAdjust="0"/>
  </p:normalViewPr>
  <p:slideViewPr>
    <p:cSldViewPr snapToGrid="0">
      <p:cViewPr varScale="1">
        <p:scale>
          <a:sx n="82" d="100"/>
          <a:sy n="82" d="100"/>
        </p:scale>
        <p:origin x="1464" y="40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11F8D-FEAD-47AE-97EC-DAB84A94723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49B37-EE58-4B50-AA8A-77F7CA480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14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2ABA4-463D-C6FC-F4FB-502F55E65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E275F-0620-56AF-C97B-13D82368D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A59E5-4EAB-6CC7-B47C-F574445C5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CBE03-FC99-7701-63AC-C9F2D80CE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88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8E9BB-97A5-3EAC-A486-999CCA62C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BD23C0-636F-9A0B-5304-EF05B5815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0D795-1D21-FCDE-A537-AD7E63AFD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35A5E-7DB6-D6BB-6FC5-A6290C43F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79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42EB5-143B-1ECF-4A6A-EE57B905D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41292-A77B-3BC2-D8AA-D9356A81C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5A5CF-08F7-A46A-E73F-F965001E5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1F303-A78B-03C3-3894-4ED870E2E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951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FAE3D-12C3-6BA0-EBD7-1A9550B1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04367-E172-2A77-98E2-5A6FFC385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89CDB-E843-3A9C-2D40-C46E53136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A678F-D76F-5AE3-D7FA-FDB79B7AD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197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73BC6-D0AE-857D-3EC9-CE04D62FD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0A32D-4D7D-3995-34BC-9398EEFBE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D0E73B-A74A-6349-E58B-FEB6D9881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3BAB2-544A-5235-DBDB-6E038BB145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68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A06CD-3515-0728-ECDA-042D4839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C196AD-6FE4-780F-E1DF-B55C2F441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3900B8-75C9-E957-788D-05F855730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36C53-0986-BD79-FFBC-87B131EAE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73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581EE-D12E-B737-2D34-9EF34E0C1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7A80C-45F8-ABFC-AEBA-EB45C707F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10080E-AE33-C32C-CAD5-A59035EB8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E5B5E-DDF8-9325-85C2-E17CDEE80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450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24AC9-3813-EA9E-8785-BE83CE2A2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764A8-82B5-88B0-85DF-4535E15F9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BEF89-EFDB-E473-EBC5-6DFC71500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F0FDE-FAF2-304E-E23C-E937E1430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574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15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604E9-1DD6-227C-C0D7-0802DBD4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BDF70-72D2-FDE3-290C-000D4C402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DE15A-96AC-FF31-3B4C-7464E0E88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E1FC1-5CA9-C362-746B-118DD8AD7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115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28731-6BF3-C0D3-D00C-B8B174786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E0EE1-7B7A-099C-7CAE-FD26DB6AC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FFF3C-7F8B-F3BF-9816-B74D2D5E2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4E379-F122-146D-82D0-B35DBBA23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6132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595DC-6315-BEA5-D01C-61D7B346C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FAEA1-3CA3-4B86-6109-2C0208317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80B925-4080-0F61-6EED-43D9BCA97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E1410-690E-83ED-20A5-D8936F5CD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11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4AEE3-4C51-D85B-CB5D-D9C422AE5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1B9BD1-353F-3CAE-E9BB-0A8BC6E69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FB4472-E36F-ED87-86E3-154089B40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53288-2812-1CB9-8215-E6455A838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1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10EA6-08C6-207E-C065-D2D22CA25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567ED-7324-250F-4E6C-40F1DD6AF2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45F97-933A-D822-AAC6-15B73E712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E8A42-75E7-2DD4-6966-37171D79E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276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F4711-6C78-A614-F376-8A521A6CB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B8788-DFCF-588A-472A-88484E033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F9DC0-8EE6-D195-C011-0CFCB3DC6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2586D-0DA0-5A37-26DF-F200F95CB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498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7DF6E-305A-A96A-493A-27358809F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1103E7-A119-C176-7A00-74BD71A13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6E164-B65A-33F6-B0A8-E0E32ED26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7FB59-34F1-3F4A-9BC1-F9BEAE33D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6141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7E386-0504-7903-0B83-91147B0CE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29494-9E97-0802-E44D-0F5AB79BF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F7DB3-E3AB-36C1-A94E-1399AB827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76BF7-18E4-491C-5C4D-00B8894D6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248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B8BA8-8C84-BF06-EA3E-9BEBBE600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EF279B-7017-B5AE-0509-11513DB13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6C4BA-6084-E284-946E-C5195CE60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2176D-A110-2F2B-D9D0-5D141C15D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223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4898A-D9FD-E298-2A32-A4DEB5F5E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C88D6-7DAB-B420-743A-B626D93CF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E81494-0000-F601-04D7-D4979F1A0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Closer</a:t>
            </a:r>
            <a:r>
              <a:rPr lang="fr-FR" dirty="0"/>
              <a:t> look </a:t>
            </a:r>
            <a:r>
              <a:rPr lang="fr-FR" dirty="0" err="1"/>
              <a:t>into</a:t>
            </a:r>
            <a:r>
              <a:rPr lang="fr-FR" dirty="0"/>
              <a:t> the </a:t>
            </a:r>
            <a:r>
              <a:rPr lang="fr-FR" dirty="0" err="1"/>
              <a:t>core</a:t>
            </a:r>
            <a:r>
              <a:rPr lang="fr-FR" dirty="0"/>
              <a:t> of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project</a:t>
            </a:r>
            <a:r>
              <a:rPr lang="fr-FR" dirty="0"/>
              <a:t>, the ML system </a:t>
            </a:r>
            <a:r>
              <a:rPr lang="fr-FR" dirty="0" err="1"/>
              <a:t>where</a:t>
            </a:r>
            <a:r>
              <a:rPr lang="fr-FR" dirty="0"/>
              <a:t> the </a:t>
            </a:r>
            <a:r>
              <a:rPr lang="fr-FR" dirty="0" err="1"/>
              <a:t>magic</a:t>
            </a:r>
            <a:r>
              <a:rPr lang="fr-FR" dirty="0"/>
              <a:t> </a:t>
            </a:r>
            <a:r>
              <a:rPr lang="fr-FR" dirty="0" err="1"/>
              <a:t>happens</a:t>
            </a:r>
            <a:r>
              <a:rPr lang="fr-FR" dirty="0"/>
              <a:t>,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tried</a:t>
            </a:r>
            <a:r>
              <a:rPr lang="fr-FR" dirty="0"/>
              <a:t> and </a:t>
            </a:r>
            <a:r>
              <a:rPr lang="fr-FR" dirty="0" err="1"/>
              <a:t>tested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opensorce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...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06E05-E68B-6A38-178A-3AC141219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01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74F71-BF93-DAC1-B16D-1BEA0FAA6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13CB98-5029-9D30-BF81-B463C0583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0A3C2C-3B51-3FF3-CC9A-D2B904E59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9865B-EDA8-A419-E696-08B9D8376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959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E2A73-B39E-5E0B-13DE-1178CFCA8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D4627-D7DE-DCE6-BFF3-EFD6A9A35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3157A-7C08-F1BA-DACD-3FAAB4FCE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817BD-AE7B-0B26-5CFD-4B53A18AB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482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D23CA-AE54-9DDD-3D4E-40D1484E2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9F70F-C4E2-3EFA-7D47-41EA749CF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5E70F-DFB3-5968-6130-930D02A97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A4A3-BD75-8236-5E46-C9069A94F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5195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F5696-A984-4F0E-D14C-6A288DC03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EE449-4E60-E8B3-6FEE-2349DF2AF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3FE64-5D72-7139-F36C-4208C58FA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whole project relied on a wide set of hardware, tools, and technologies — to take it from planning…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BF630-0CB0-A70F-1B88-7B02716B4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2422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E6624-B36C-835D-4867-CAE30B73A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D5EEA-3CFB-F249-A61A-DC83ACA84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4361D-D2EE-0880-199C-B14D9847B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85B01-9FD6-0626-5EA7-1EF2658DE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135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C9B56-3786-D28B-2D1A-AE49F0EC9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AC9AC-2876-6076-6FBD-1893E368E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71FD68-174F-3B6E-0ABA-62B971203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3F43D-53BC-ACCF-D94C-CC1B6B8BA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892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458F9-F8CA-23C0-404C-9BBDADE4D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5601C-C391-9D7D-9210-988A37880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2CBB3-6364-C906-67E6-7259CA75E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8CA7D-8767-0005-22C0-BE8D04657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05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ED008-1C3A-5BED-97A7-2B942F1E6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5E16A-E5D7-73DF-68E0-AF9F0A14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55E68-CE5F-597D-22F2-38004E38D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7F25C-A7AC-1A20-6967-186DC08228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310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85568-D0AB-AA90-45B8-2220E1E61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AD87C8-95A8-9486-A1A0-4AB6E70D0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7D0C4-4587-EFAE-2F4C-F809D94F1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E2EFE-BBAA-AE37-6079-7F90C8C781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734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5C69B-8651-6451-C9A0-D24FBB338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C43426-6042-764A-B430-7548BA76E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98069E-5A8E-0A62-3175-95A080651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4A9DC-00F5-2B31-2AB0-70072BFBB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716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E187F-0EB9-F510-7C1D-E03863E98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B8382F-3110-ED17-4409-3DD62F33A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2BC15-6FA1-5B43-5CBD-D5819687E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AAF75-8F7C-398D-9A0F-B5AC1F964B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125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34DA5-3E56-FF6F-1890-D958327F5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1983D-6F43-22CD-BDE8-D5E591815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428834-A333-0481-DF97-FCC473B16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CFEB0-D01E-BDDF-6737-A4AA4DF7E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3833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37E30-35E2-05A6-DCC4-F7363A10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15D34-B8DC-EA19-1A94-15464E359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0D5111-4E96-5A01-1181-D9C201992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12D04-B12A-5E49-9E3C-D76D46A28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692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2602-AF37-0FBA-9C20-1B69E7B60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DB966-9550-AB46-79BF-DEDD2D831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76A026-B1F7-3393-98AF-11F4FC6D8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54673-879D-6DF5-4F6B-445763C097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49B37-EE58-4B50-AA8A-77F7CA480BB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22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D2D99-3A1E-3B00-D89C-0B32E1CCB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D295B-43E8-0584-0F49-04C406939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71258-220E-D08F-2802-49AF5D19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DE88-E55F-4057-929B-FE3B4D9DA4D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680A0-45C1-6DFE-D89A-B913CDDCA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C9B73-3F8A-2977-0C01-ECFA1EBD6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EF15-BA61-4B91-98C0-AABCD4E29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05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5D559-AF61-459C-DF96-F799CAFB2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5D3BA-3FD2-EEE9-0418-6E27B321E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D87B8-B6ED-6417-8AA7-53CCEE9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DE88-E55F-4057-929B-FE3B4D9DA4D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B532F-6885-CE2A-EDD8-3CBF49C4A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46E47-FC8A-27EC-6B2B-35ABB9CD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EF15-BA61-4B91-98C0-AABCD4E29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57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EA01F-0627-5905-D6EF-6A9EC7A75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94920-D0EC-62B8-CAAA-8E878B929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18AED-0C90-9830-B3A2-813CD14F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DE88-E55F-4057-929B-FE3B4D9DA4D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AF9EA-E133-2E0B-A8A5-15B3C530D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5250E-E571-CFBB-C970-77A86D284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EF15-BA61-4B91-98C0-AABCD4E29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4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9DB8E-2E6F-A356-2947-4B85017B3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43002-3512-0628-AB16-46B6C220A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1B5B3-C955-7DF3-7212-4D680BB77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E89EF-02FE-7D5F-1AF9-1D1743D8C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DE88-E55F-4057-929B-FE3B4D9DA4D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FF8E6-4226-597F-1D98-0D1CF7B55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1FA78-22F9-E93D-A248-D3CDF909C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EF15-BA61-4B91-98C0-AABCD4E29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239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FDCB0-3864-8D78-57B6-B879B6408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E1B8-7698-2D97-2577-14130B970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A740E-FF6A-5395-1B03-17D65FFA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2E83F-0438-4D93-AFFA-3189EFAB8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1FA25A-45CA-6922-7C8F-164D214FA4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B8B8E2-C505-DABF-B213-C50FB89F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DE88-E55F-4057-929B-FE3B4D9DA4D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ABFCD-2EBD-7086-2280-A6A376235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1760E3-DFB1-F944-4482-211F143A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EF15-BA61-4B91-98C0-AABCD4E29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77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42120-C8A5-C7DD-5D1B-E5562FAE1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FB042E-2CA3-3853-620D-DFA4DBEDB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DE88-E55F-4057-929B-FE3B4D9DA4D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471627-4936-E898-AE5D-46D292E0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F7A42-0ADD-AE37-827F-C0F5D2C0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EF15-BA61-4B91-98C0-AABCD4E29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40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D80A88-955D-B3C8-7F4B-76D34548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DE88-E55F-4057-929B-FE3B4D9DA4D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EF046F-E16B-7382-5661-548A97A35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EB686-F7C8-70A1-FA58-33974840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EF15-BA61-4B91-98C0-AABCD4E29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51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4B956-4F77-4557-9036-E5858358C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7F2E4-15B8-AE0B-C8FB-3AD7DAC59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8D8151-B4B1-8694-AB2B-F245EF32D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F8D77-6EA9-1EF8-03EA-57E3281CF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DE88-E55F-4057-929B-FE3B4D9DA4D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18F4A-215F-29FE-0756-0DDDA9B58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5CAE1-991E-D3EA-F74C-F41B697E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EF15-BA61-4B91-98C0-AABCD4E29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61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17D9B-543C-A50B-8BCA-8A0896452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0832A1-264F-5E3E-0B60-5165DD786F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16048-7173-13CC-C28C-6FC04A197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A7941C-E327-B0EE-A071-7F0CE89B3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DE88-E55F-4057-929B-FE3B4D9DA4D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C1D1C-F388-D13D-F17D-C0749C34B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2D245-8B35-6867-C1DB-06D63B7D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EF15-BA61-4B91-98C0-AABCD4E29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30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D02A-57B3-8866-DAF4-93B11C84D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0F2437-7280-76DA-7F24-EF3948DCF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ECD69-9ED7-3D73-FB17-87158FED1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DE88-E55F-4057-929B-FE3B4D9DA4D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C0E76-0045-8581-CCB9-4086ECF73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71887-40A0-AC0B-5928-6B7D0EB6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EF15-BA61-4B91-98C0-AABCD4E29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3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011AAA-2D81-46A1-767A-7320101C9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AB72A-CAE2-FC71-57ED-D70B2068F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0F3D9-E336-E745-66D0-BFF6C448F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9DE88-E55F-4057-929B-FE3B4D9DA4D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406E0-6528-104D-650B-01E6CF60E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F67FF-B04E-A17F-DADF-B00E1952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CEF15-BA61-4B91-98C0-AABCD4E29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26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D50B00-C5F4-B7F4-FB09-5128B6DAA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4BFEE-905C-679B-478F-114798544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0A39C-DF1D-71CB-E5BE-63DD88778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9DE88-E55F-4057-929B-FE3B4D9DA4DF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AD5F9-E2FB-3985-8692-4D3B471AD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A7D8C-481C-5CC6-8CB7-8D00ED9DB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CEF15-BA61-4B91-98C0-AABCD4E29F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40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5.sv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22.svg"/><Relationship Id="rId10" Type="http://schemas.openxmlformats.org/officeDocument/2006/relationships/image" Target="../media/image19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39.png"/><Relationship Id="rId7" Type="http://schemas.openxmlformats.org/officeDocument/2006/relationships/image" Target="../media/image14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11" Type="http://schemas.openxmlformats.org/officeDocument/2006/relationships/image" Target="../media/image38.png"/><Relationship Id="rId5" Type="http://schemas.openxmlformats.org/officeDocument/2006/relationships/image" Target="../media/image12.svg"/><Relationship Id="rId10" Type="http://schemas.openxmlformats.org/officeDocument/2006/relationships/image" Target="../media/image37.svg"/><Relationship Id="rId4" Type="http://schemas.openxmlformats.org/officeDocument/2006/relationships/image" Target="../media/image40.png"/><Relationship Id="rId9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39.png"/><Relationship Id="rId7" Type="http://schemas.openxmlformats.org/officeDocument/2006/relationships/image" Target="../media/image14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11" Type="http://schemas.openxmlformats.org/officeDocument/2006/relationships/image" Target="../media/image38.png"/><Relationship Id="rId5" Type="http://schemas.openxmlformats.org/officeDocument/2006/relationships/image" Target="../media/image12.svg"/><Relationship Id="rId10" Type="http://schemas.openxmlformats.org/officeDocument/2006/relationships/image" Target="../media/image37.svg"/><Relationship Id="rId4" Type="http://schemas.openxmlformats.org/officeDocument/2006/relationships/image" Target="../media/image40.png"/><Relationship Id="rId9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sv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sv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sv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sv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sv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sv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41.sv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26" Type="http://schemas.openxmlformats.org/officeDocument/2006/relationships/image" Target="../media/image87.png"/><Relationship Id="rId3" Type="http://schemas.openxmlformats.org/officeDocument/2006/relationships/image" Target="../media/image41.svg"/><Relationship Id="rId21" Type="http://schemas.openxmlformats.org/officeDocument/2006/relationships/image" Target="../media/image82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5" Type="http://schemas.openxmlformats.org/officeDocument/2006/relationships/image" Target="../media/image86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77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24" Type="http://schemas.openxmlformats.org/officeDocument/2006/relationships/image" Target="../media/image85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23" Type="http://schemas.openxmlformats.org/officeDocument/2006/relationships/image" Target="../media/image84.png"/><Relationship Id="rId28" Type="http://schemas.openxmlformats.org/officeDocument/2006/relationships/image" Target="../media/image89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Relationship Id="rId22" Type="http://schemas.openxmlformats.org/officeDocument/2006/relationships/image" Target="../media/image83.png"/><Relationship Id="rId27" Type="http://schemas.openxmlformats.org/officeDocument/2006/relationships/image" Target="../media/image8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_water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26563" y="-1377298"/>
            <a:ext cx="5176827" cy="5040595"/>
          </a:xfrm>
          <a:prstGeom prst="rect">
            <a:avLst/>
          </a:prstGeom>
        </p:spPr>
      </p:pic>
      <p:pic>
        <p:nvPicPr>
          <p:cNvPr id="3" name="cover_water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54882" y="3042302"/>
            <a:ext cx="5176827" cy="5040595"/>
          </a:xfrm>
          <a:prstGeom prst="rect">
            <a:avLst/>
          </a:prstGeom>
        </p:spPr>
      </p:pic>
      <p:pic>
        <p:nvPicPr>
          <p:cNvPr id="4" name="cover_waterma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39026" y="4593478"/>
            <a:ext cx="5176827" cy="5040595"/>
          </a:xfrm>
          <a:prstGeom prst="rect">
            <a:avLst/>
          </a:prstGeom>
        </p:spPr>
      </p:pic>
      <p:sp>
        <p:nvSpPr>
          <p:cNvPr id="5" name="cover_panel"/>
          <p:cNvSpPr/>
          <p:nvPr/>
        </p:nvSpPr>
        <p:spPr>
          <a:xfrm>
            <a:off x="8229600" y="0"/>
            <a:ext cx="3962400" cy="6858000"/>
          </a:xfrm>
          <a:prstGeom prst="rect">
            <a:avLst/>
          </a:prstGeom>
          <a:solidFill>
            <a:srgbClr val="003F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cover_title1"/>
          <p:cNvSpPr txBox="1"/>
          <p:nvPr/>
        </p:nvSpPr>
        <p:spPr>
          <a:xfrm>
            <a:off x="2328848" y="1197779"/>
            <a:ext cx="5392752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5400" b="1" dirty="0">
                <a:solidFill>
                  <a:srgbClr val="000000"/>
                </a:solidFill>
                <a:latin typeface="Aptos Slab Black" pitchFamily="34" charset="0"/>
              </a:rPr>
              <a:t>Fraud Detection</a:t>
            </a:r>
          </a:p>
        </p:txBody>
      </p:sp>
      <p:sp>
        <p:nvSpPr>
          <p:cNvPr id="9" name="cover_title2"/>
          <p:cNvSpPr txBox="1"/>
          <p:nvPr/>
        </p:nvSpPr>
        <p:spPr>
          <a:xfrm>
            <a:off x="2328848" y="2099479"/>
            <a:ext cx="5799152" cy="660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3800" b="1" dirty="0">
                <a:solidFill>
                  <a:srgbClr val="003F76"/>
                </a:solidFill>
                <a:latin typeface="Aptos Slab Black" pitchFamily="34" charset="0"/>
              </a:rPr>
              <a:t>in Banking Transactions</a:t>
            </a:r>
          </a:p>
        </p:txBody>
      </p:sp>
      <p:sp>
        <p:nvSpPr>
          <p:cNvPr id="11" name="lbl_prepared"/>
          <p:cNvSpPr txBox="1"/>
          <p:nvPr/>
        </p:nvSpPr>
        <p:spPr>
          <a:xfrm>
            <a:off x="2221875" y="4051287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spc="200" dirty="0">
                <a:solidFill>
                  <a:srgbClr val="5A6B7A"/>
                </a:solidFill>
                <a:latin typeface="Arial Narrow" pitchFamily="34" charset="0"/>
              </a:rPr>
              <a:t>PREPARED BY</a:t>
            </a:r>
          </a:p>
        </p:txBody>
      </p:sp>
      <p:sp>
        <p:nvSpPr>
          <p:cNvPr id="12" name="cover_name"/>
          <p:cNvSpPr txBox="1"/>
          <p:nvPr/>
        </p:nvSpPr>
        <p:spPr>
          <a:xfrm>
            <a:off x="2221875" y="4279887"/>
            <a:ext cx="5334000" cy="482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800" dirty="0">
                <a:solidFill>
                  <a:srgbClr val="000000"/>
                </a:solidFill>
                <a:latin typeface="Amasis MT Pro Black" pitchFamily="34" charset="0"/>
              </a:rPr>
              <a:t>Mohamed Ben Salem</a:t>
            </a:r>
          </a:p>
        </p:txBody>
      </p:sp>
      <p:sp>
        <p:nvSpPr>
          <p:cNvPr id="13" name="cover_defense_chip"/>
          <p:cNvSpPr/>
          <p:nvPr/>
        </p:nvSpPr>
        <p:spPr>
          <a:xfrm>
            <a:off x="2221875" y="4965687"/>
            <a:ext cx="5080000" cy="431800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dirty="0">
                <a:solidFill>
                  <a:srgbClr val="003F76"/>
                </a:solidFill>
                <a:latin typeface="Amasis MT Pro Medium" pitchFamily="34" charset="0"/>
              </a:rPr>
              <a:t>Defended on 13 June 2026 at 12:30, Amphi 3</a:t>
            </a:r>
          </a:p>
        </p:txBody>
      </p:sp>
      <p:sp>
        <p:nvSpPr>
          <p:cNvPr id="14" name="lbl_jury"/>
          <p:cNvSpPr txBox="1"/>
          <p:nvPr/>
        </p:nvSpPr>
        <p:spPr>
          <a:xfrm>
            <a:off x="8585200" y="894080"/>
            <a:ext cx="31496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400" b="1" spc="300" dirty="0">
                <a:solidFill>
                  <a:srgbClr val="C1DAF1"/>
                </a:solidFill>
                <a:latin typeface="Arial Narrow" pitchFamily="34" charset="0"/>
              </a:rPr>
              <a:t>JURY</a:t>
            </a:r>
          </a:p>
        </p:txBody>
      </p:sp>
      <p:sp>
        <p:nvSpPr>
          <p:cNvPr id="15" name="jury_role_74"/>
          <p:cNvSpPr txBox="1"/>
          <p:nvPr/>
        </p:nvSpPr>
        <p:spPr>
          <a:xfrm>
            <a:off x="8585200" y="1325880"/>
            <a:ext cx="31496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150" i="1" dirty="0">
                <a:solidFill>
                  <a:srgbClr val="C1DAF1"/>
                </a:solidFill>
                <a:latin typeface="Arial Narrow" pitchFamily="34" charset="0"/>
              </a:rPr>
              <a:t>President</a:t>
            </a:r>
          </a:p>
        </p:txBody>
      </p:sp>
      <p:sp>
        <p:nvSpPr>
          <p:cNvPr id="16" name="jury_name_74"/>
          <p:cNvSpPr txBox="1"/>
          <p:nvPr/>
        </p:nvSpPr>
        <p:spPr>
          <a:xfrm>
            <a:off x="8585200" y="1541780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600" dirty="0">
                <a:solidFill>
                  <a:srgbClr val="FFFFFF"/>
                </a:solidFill>
                <a:latin typeface="Amasis MT Pro Black" pitchFamily="34" charset="0"/>
              </a:rPr>
              <a:t>Mohamed Neji Maatouk</a:t>
            </a:r>
          </a:p>
        </p:txBody>
      </p:sp>
      <p:sp>
        <p:nvSpPr>
          <p:cNvPr id="17" name="jury_role_130"/>
          <p:cNvSpPr txBox="1"/>
          <p:nvPr/>
        </p:nvSpPr>
        <p:spPr>
          <a:xfrm>
            <a:off x="8585200" y="2037080"/>
            <a:ext cx="31496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150" i="1" dirty="0">
                <a:solidFill>
                  <a:srgbClr val="C1DAF1"/>
                </a:solidFill>
                <a:latin typeface="Arial Narrow" pitchFamily="34" charset="0"/>
              </a:rPr>
              <a:t>Reviewer</a:t>
            </a:r>
          </a:p>
        </p:txBody>
      </p:sp>
      <p:sp>
        <p:nvSpPr>
          <p:cNvPr id="18" name="jury_name_130"/>
          <p:cNvSpPr txBox="1"/>
          <p:nvPr/>
        </p:nvSpPr>
        <p:spPr>
          <a:xfrm>
            <a:off x="8585200" y="2252980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600" dirty="0">
                <a:solidFill>
                  <a:srgbClr val="FFFFFF"/>
                </a:solidFill>
                <a:latin typeface="Amasis MT Pro Black" pitchFamily="34" charset="0"/>
              </a:rPr>
              <a:t>Nizar Kerkeni</a:t>
            </a:r>
          </a:p>
        </p:txBody>
      </p:sp>
      <p:sp>
        <p:nvSpPr>
          <p:cNvPr id="19" name="jury_role_186"/>
          <p:cNvSpPr txBox="1"/>
          <p:nvPr/>
        </p:nvSpPr>
        <p:spPr>
          <a:xfrm>
            <a:off x="8585200" y="2748280"/>
            <a:ext cx="31496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150" i="1" dirty="0">
                <a:solidFill>
                  <a:srgbClr val="C1DAF1"/>
                </a:solidFill>
                <a:latin typeface="Arial Narrow" pitchFamily="34" charset="0"/>
              </a:rPr>
              <a:t>Academic Supervisor</a:t>
            </a:r>
          </a:p>
        </p:txBody>
      </p:sp>
      <p:sp>
        <p:nvSpPr>
          <p:cNvPr id="20" name="jury_name_186"/>
          <p:cNvSpPr txBox="1"/>
          <p:nvPr/>
        </p:nvSpPr>
        <p:spPr>
          <a:xfrm>
            <a:off x="8585200" y="2964180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600" dirty="0">
                <a:solidFill>
                  <a:srgbClr val="FFFFFF"/>
                </a:solidFill>
                <a:latin typeface="Amasis MT Pro Black" pitchFamily="34" charset="0"/>
              </a:rPr>
              <a:t>Mohsen Maraoui</a:t>
            </a:r>
          </a:p>
        </p:txBody>
      </p:sp>
      <p:sp>
        <p:nvSpPr>
          <p:cNvPr id="21" name="jury_role_242"/>
          <p:cNvSpPr txBox="1"/>
          <p:nvPr/>
        </p:nvSpPr>
        <p:spPr>
          <a:xfrm>
            <a:off x="8585200" y="3459480"/>
            <a:ext cx="31496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150" i="1" dirty="0">
                <a:solidFill>
                  <a:srgbClr val="C1DAF1"/>
                </a:solidFill>
                <a:latin typeface="Arial Narrow" pitchFamily="34" charset="0"/>
              </a:rPr>
              <a:t>Professional Supervisor</a:t>
            </a:r>
          </a:p>
        </p:txBody>
      </p:sp>
      <p:sp>
        <p:nvSpPr>
          <p:cNvPr id="22" name="jury_name_242"/>
          <p:cNvSpPr txBox="1"/>
          <p:nvPr/>
        </p:nvSpPr>
        <p:spPr>
          <a:xfrm>
            <a:off x="8585200" y="3675380"/>
            <a:ext cx="3149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600" dirty="0">
                <a:solidFill>
                  <a:srgbClr val="FFFFFF"/>
                </a:solidFill>
                <a:latin typeface="Amasis MT Pro Black" pitchFamily="34" charset="0"/>
              </a:rPr>
              <a:t>Chaima Zaier</a:t>
            </a:r>
          </a:p>
        </p:txBody>
      </p:sp>
      <p:cxnSp>
        <p:nvCxnSpPr>
          <p:cNvPr id="23" name="cover_divider"/>
          <p:cNvCxnSpPr/>
          <p:nvPr/>
        </p:nvCxnSpPr>
        <p:spPr>
          <a:xfrm>
            <a:off x="8585200" y="4170680"/>
            <a:ext cx="3149600" cy="0"/>
          </a:xfrm>
          <a:prstGeom prst="line">
            <a:avLst/>
          </a:prstGeom>
          <a:ln w="12700">
            <a:solidFill>
              <a:srgbClr val="C1DAF1">
                <a:alpha val="60000"/>
              </a:srgbClr>
            </a:solidFill>
          </a:ln>
        </p:spPr>
      </p:cxnSp>
      <p:sp>
        <p:nvSpPr>
          <p:cNvPr id="24" name="lbl_hosted"/>
          <p:cNvSpPr txBox="1"/>
          <p:nvPr/>
        </p:nvSpPr>
        <p:spPr>
          <a:xfrm>
            <a:off x="8585200" y="4348480"/>
            <a:ext cx="314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spc="200" dirty="0">
                <a:solidFill>
                  <a:srgbClr val="C1DAF1"/>
                </a:solidFill>
                <a:latin typeface="Arial Narrow" pitchFamily="34" charset="0"/>
              </a:rPr>
              <a:t>HOSTED AT</a:t>
            </a:r>
          </a:p>
        </p:txBody>
      </p:sp>
      <p:sp>
        <p:nvSpPr>
          <p:cNvPr id="25" name="ph_proxym_logo"/>
          <p:cNvSpPr/>
          <p:nvPr/>
        </p:nvSpPr>
        <p:spPr>
          <a:xfrm>
            <a:off x="8585201" y="4627880"/>
            <a:ext cx="2517683" cy="66625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A9A9A"/>
            </a:solidFill>
            <a:prstDash val="dash"/>
          </a:ln>
        </p:spPr>
        <p:txBody>
          <a:bodyPr wrap="square" anchor="ctr"/>
          <a:lstStyle/>
          <a:p>
            <a:pPr algn="ctr"/>
            <a:endParaRPr lang="en-US" sz="1000" dirty="0">
              <a:solidFill>
                <a:srgbClr val="9A9A9A"/>
              </a:solidFill>
              <a:latin typeface="Arial Narrow" pitchFamily="34" charset="0"/>
            </a:endParaRPr>
          </a:p>
        </p:txBody>
      </p:sp>
      <p:sp>
        <p:nvSpPr>
          <p:cNvPr id="26" name="lbl_year"/>
          <p:cNvSpPr txBox="1"/>
          <p:nvPr/>
        </p:nvSpPr>
        <p:spPr>
          <a:xfrm>
            <a:off x="8585200" y="5505475"/>
            <a:ext cx="3149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spc="200" dirty="0">
                <a:solidFill>
                  <a:srgbClr val="C1DAF1"/>
                </a:solidFill>
                <a:latin typeface="Arial Narrow" pitchFamily="34" charset="0"/>
              </a:rPr>
              <a:t>ACADEMIC YEAR</a:t>
            </a:r>
          </a:p>
        </p:txBody>
      </p:sp>
      <p:sp>
        <p:nvSpPr>
          <p:cNvPr id="27" name="cover_year"/>
          <p:cNvSpPr txBox="1"/>
          <p:nvPr/>
        </p:nvSpPr>
        <p:spPr>
          <a:xfrm>
            <a:off x="8585200" y="5759475"/>
            <a:ext cx="31496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dirty="0">
                <a:solidFill>
                  <a:srgbClr val="FFFFFF"/>
                </a:solidFill>
                <a:latin typeface="Amasis MT Pro Medium" pitchFamily="34" charset="0"/>
              </a:rPr>
              <a:t>2025 – 2026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5ECCE0-6DAA-DE93-F03C-97F142023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333" y="4622654"/>
            <a:ext cx="2496953" cy="67147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4D61ACE-44BE-0F9C-8B27-4FFF0C206A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387" y="530474"/>
            <a:ext cx="2680244" cy="2680244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90718CAA-CDBD-36C2-F428-B09BF21182E6}"/>
              </a:ext>
            </a:extLst>
          </p:cNvPr>
          <p:cNvSpPr/>
          <p:nvPr/>
        </p:nvSpPr>
        <p:spPr>
          <a:xfrm>
            <a:off x="11011444" y="117935"/>
            <a:ext cx="1097280" cy="10972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572F76D-F1A2-B86A-E75A-3DD3A40060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884" y="20981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78498-F3D3-3AC9-D93F-BF477D269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89F75F39-4570-B6B6-62F8-5A04125690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6C02B8F-44D0-DEC4-DB53-FE34699D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CA395DB-2FA4-2C31-F008-84E787599A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834268" y="2602578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32132BD-869C-3B37-E323-A93E0EEE6B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003BA3-D35A-AEE9-5D1D-06AA5B9223F5}"/>
              </a:ext>
            </a:extLst>
          </p:cNvPr>
          <p:cNvSpPr txBox="1"/>
          <p:nvPr/>
        </p:nvSpPr>
        <p:spPr>
          <a:xfrm>
            <a:off x="-1" y="0"/>
            <a:ext cx="46863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  </a:t>
            </a:r>
            <a:r>
              <a:rPr lang="en-US" sz="5400" b="1" dirty="0">
                <a:latin typeface="Aptos Slab Black" panose="020B0004020202020204" pitchFamily="34" charset="0"/>
              </a:rPr>
              <a:t>Overview</a:t>
            </a:r>
            <a:endParaRPr lang="en-US" sz="5400" dirty="0">
              <a:latin typeface="Aptos Slab Black" panose="020B0004020202020204" pitchFamily="34" charset="0"/>
            </a:endParaRPr>
          </a:p>
        </p:txBody>
      </p:sp>
      <p:sp>
        <p:nvSpPr>
          <p:cNvPr id="6" name="Dot1">
            <a:extLst>
              <a:ext uri="{FF2B5EF4-FFF2-40B4-BE49-F238E27FC236}">
                <a16:creationId xmlns:a16="http://schemas.microsoft.com/office/drawing/2014/main" id="{BB47959D-AE1A-D5FA-4A16-00CCC7F48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59564" y="1357208"/>
            <a:ext cx="548640" cy="548640"/>
          </a:xfrm>
          <a:prstGeom prst="ellipse">
            <a:avLst/>
          </a:prstGeom>
          <a:solidFill>
            <a:srgbClr val="EAEAEA"/>
          </a:solidFill>
          <a:ln w="3810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pPr algn="ctr"/>
            <a:endParaRPr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977D3D-5838-1729-0BC7-7EC82E968768}"/>
              </a:ext>
            </a:extLst>
          </p:cNvPr>
          <p:cNvSpPr txBox="1"/>
          <p:nvPr/>
        </p:nvSpPr>
        <p:spPr>
          <a:xfrm>
            <a:off x="2859564" y="1357208"/>
            <a:ext cx="548640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Amasis MT Pro Black" panose="02040A04050005020304" pitchFamily="18" charset="0"/>
              </a:rPr>
              <a:t>1</a:t>
            </a:r>
            <a:endParaRPr lang="en-US" sz="2800" dirty="0">
              <a:latin typeface="Amasis MT Pro Black" panose="02040A04050005020304" pitchFamily="18" charset="0"/>
            </a:endParaRPr>
          </a:p>
        </p:txBody>
      </p:sp>
      <p:sp>
        <p:nvSpPr>
          <p:cNvPr id="12" name="Dot1">
            <a:extLst>
              <a:ext uri="{FF2B5EF4-FFF2-40B4-BE49-F238E27FC236}">
                <a16:creationId xmlns:a16="http://schemas.microsoft.com/office/drawing/2014/main" id="{45B9928E-F4D3-B7CB-732D-55A8CFFF5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59564" y="2038051"/>
            <a:ext cx="548640" cy="548640"/>
          </a:xfrm>
          <a:prstGeom prst="ellipse">
            <a:avLst/>
          </a:prstGeom>
          <a:solidFill>
            <a:srgbClr val="EAEAEA"/>
          </a:solidFill>
          <a:ln w="3810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pPr algn="ctr"/>
            <a:endParaRPr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724557-81F2-7971-9E27-A7A95DB80ED2}"/>
              </a:ext>
            </a:extLst>
          </p:cNvPr>
          <p:cNvSpPr txBox="1"/>
          <p:nvPr/>
        </p:nvSpPr>
        <p:spPr>
          <a:xfrm>
            <a:off x="2859564" y="2050761"/>
            <a:ext cx="54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Amasis MT Pro Black" panose="02040A04050005020304" pitchFamily="18" charset="0"/>
              </a:rPr>
              <a:t>2</a:t>
            </a:r>
            <a:endParaRPr lang="en-US" sz="2800" dirty="0">
              <a:latin typeface="Amasis MT Pro Black" panose="02040A04050005020304" pitchFamily="18" charset="0"/>
            </a:endParaRPr>
          </a:p>
        </p:txBody>
      </p:sp>
      <p:sp>
        <p:nvSpPr>
          <p:cNvPr id="24" name="Dot1">
            <a:extLst>
              <a:ext uri="{FF2B5EF4-FFF2-40B4-BE49-F238E27FC236}">
                <a16:creationId xmlns:a16="http://schemas.microsoft.com/office/drawing/2014/main" id="{818E2337-9D3C-314B-D097-CFC27103E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58027" y="2718894"/>
            <a:ext cx="548640" cy="548640"/>
          </a:xfrm>
          <a:prstGeom prst="ellipse">
            <a:avLst/>
          </a:prstGeom>
          <a:solidFill>
            <a:srgbClr val="EAEAEA"/>
          </a:solidFill>
          <a:ln w="3810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pPr algn="ctr"/>
            <a:endParaRPr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43BEDA-95DF-7BFC-AAC5-C9C807B0237A}"/>
              </a:ext>
            </a:extLst>
          </p:cNvPr>
          <p:cNvSpPr txBox="1"/>
          <p:nvPr/>
        </p:nvSpPr>
        <p:spPr>
          <a:xfrm>
            <a:off x="2858027" y="2718894"/>
            <a:ext cx="54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Amasis MT Pro Black" panose="02040A04050005020304" pitchFamily="18" charset="0"/>
              </a:rPr>
              <a:t>3</a:t>
            </a:r>
            <a:endParaRPr lang="en-US" sz="2800" dirty="0">
              <a:latin typeface="Amasis MT Pro Black" panose="02040A04050005020304" pitchFamily="18" charset="0"/>
            </a:endParaRPr>
          </a:p>
        </p:txBody>
      </p:sp>
      <p:sp>
        <p:nvSpPr>
          <p:cNvPr id="26" name="Dot1">
            <a:extLst>
              <a:ext uri="{FF2B5EF4-FFF2-40B4-BE49-F238E27FC236}">
                <a16:creationId xmlns:a16="http://schemas.microsoft.com/office/drawing/2014/main" id="{CD9CB5F0-0F8D-5C57-527A-1FB71F697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58027" y="3399737"/>
            <a:ext cx="548640" cy="548640"/>
          </a:xfrm>
          <a:prstGeom prst="ellipse">
            <a:avLst/>
          </a:prstGeom>
          <a:solidFill>
            <a:srgbClr val="EAEAEA"/>
          </a:solidFill>
          <a:ln w="3810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pPr algn="ctr"/>
            <a:endParaRPr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5E9E59-A10A-92C8-65F7-663309B95B22}"/>
              </a:ext>
            </a:extLst>
          </p:cNvPr>
          <p:cNvSpPr txBox="1"/>
          <p:nvPr/>
        </p:nvSpPr>
        <p:spPr>
          <a:xfrm>
            <a:off x="2858027" y="3399737"/>
            <a:ext cx="54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Amasis MT Pro Black" panose="02040A04050005020304" pitchFamily="18" charset="0"/>
              </a:rPr>
              <a:t>4</a:t>
            </a:r>
            <a:endParaRPr lang="en-US" sz="2800" dirty="0">
              <a:latin typeface="Amasis MT Pro Black" panose="02040A04050005020304" pitchFamily="18" charset="0"/>
            </a:endParaRPr>
          </a:p>
        </p:txBody>
      </p:sp>
      <p:sp>
        <p:nvSpPr>
          <p:cNvPr id="28" name="Dot1">
            <a:extLst>
              <a:ext uri="{FF2B5EF4-FFF2-40B4-BE49-F238E27FC236}">
                <a16:creationId xmlns:a16="http://schemas.microsoft.com/office/drawing/2014/main" id="{B56B8D84-8A53-E516-A8BB-CF3C3B928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58027" y="4080580"/>
            <a:ext cx="548640" cy="548640"/>
          </a:xfrm>
          <a:prstGeom prst="ellipse">
            <a:avLst/>
          </a:prstGeom>
          <a:solidFill>
            <a:srgbClr val="EAEAEA"/>
          </a:solidFill>
          <a:ln w="3810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pPr algn="ctr"/>
            <a:endParaRPr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B5686A-DB68-BBA3-7CC8-2647DC7ED1DA}"/>
              </a:ext>
            </a:extLst>
          </p:cNvPr>
          <p:cNvSpPr txBox="1"/>
          <p:nvPr/>
        </p:nvSpPr>
        <p:spPr>
          <a:xfrm>
            <a:off x="2858027" y="4080580"/>
            <a:ext cx="54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Amasis MT Pro Black" panose="02040A04050005020304" pitchFamily="18" charset="0"/>
              </a:rPr>
              <a:t>5</a:t>
            </a:r>
            <a:endParaRPr lang="en-US" sz="2800" dirty="0">
              <a:latin typeface="Amasis MT Pro Black" panose="02040A04050005020304" pitchFamily="18" charset="0"/>
            </a:endParaRPr>
          </a:p>
        </p:txBody>
      </p:sp>
      <p:sp>
        <p:nvSpPr>
          <p:cNvPr id="32" name="Dot1">
            <a:extLst>
              <a:ext uri="{FF2B5EF4-FFF2-40B4-BE49-F238E27FC236}">
                <a16:creationId xmlns:a16="http://schemas.microsoft.com/office/drawing/2014/main" id="{C5198674-00E0-9DFD-AA95-747C8362B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58027" y="4761423"/>
            <a:ext cx="548640" cy="548640"/>
          </a:xfrm>
          <a:prstGeom prst="ellipse">
            <a:avLst/>
          </a:prstGeom>
          <a:solidFill>
            <a:srgbClr val="EAEAEA"/>
          </a:solidFill>
          <a:ln w="3810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pPr algn="ctr"/>
            <a:endParaRPr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FFE60F-D5C0-770F-458D-A38F16F2E95F}"/>
              </a:ext>
            </a:extLst>
          </p:cNvPr>
          <p:cNvSpPr txBox="1"/>
          <p:nvPr/>
        </p:nvSpPr>
        <p:spPr>
          <a:xfrm>
            <a:off x="2858027" y="4761423"/>
            <a:ext cx="54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Amasis MT Pro Black" panose="02040A04050005020304" pitchFamily="18" charset="0"/>
              </a:rPr>
              <a:t>6</a:t>
            </a:r>
            <a:endParaRPr lang="en-US" sz="2800" dirty="0">
              <a:latin typeface="Amasis MT Pro Black" panose="02040A04050005020304" pitchFamily="18" charset="0"/>
            </a:endParaRPr>
          </a:p>
        </p:txBody>
      </p:sp>
      <p:sp>
        <p:nvSpPr>
          <p:cNvPr id="34" name="Dot1">
            <a:extLst>
              <a:ext uri="{FF2B5EF4-FFF2-40B4-BE49-F238E27FC236}">
                <a16:creationId xmlns:a16="http://schemas.microsoft.com/office/drawing/2014/main" id="{3E74C1B8-A64E-E415-C997-3B747CD5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58027" y="5442266"/>
            <a:ext cx="548640" cy="548640"/>
          </a:xfrm>
          <a:prstGeom prst="ellipse">
            <a:avLst/>
          </a:prstGeom>
          <a:solidFill>
            <a:srgbClr val="EAEAEA"/>
          </a:solidFill>
          <a:ln w="3810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pPr algn="ctr"/>
            <a:endParaRPr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52127F-3F02-D03C-F210-AA2A4A482931}"/>
              </a:ext>
            </a:extLst>
          </p:cNvPr>
          <p:cNvSpPr txBox="1"/>
          <p:nvPr/>
        </p:nvSpPr>
        <p:spPr>
          <a:xfrm>
            <a:off x="2858027" y="5442266"/>
            <a:ext cx="54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Amasis MT Pro Black" panose="02040A04050005020304" pitchFamily="18" charset="0"/>
              </a:rPr>
              <a:t>7</a:t>
            </a:r>
            <a:endParaRPr lang="en-US" sz="2800" dirty="0">
              <a:latin typeface="Amasis MT Pro Black" panose="02040A040500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A425A3-D22E-3510-0439-607BB4DBACDD}"/>
              </a:ext>
            </a:extLst>
          </p:cNvPr>
          <p:cNvSpPr txBox="1"/>
          <p:nvPr/>
        </p:nvSpPr>
        <p:spPr>
          <a:xfrm>
            <a:off x="3466615" y="5452281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masis MT Pro Medium" panose="02040604050005020304" pitchFamily="18" charset="0"/>
              </a:rPr>
              <a:t>Technical Environment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05F351-C732-40F1-CE1E-F7DD02B7339A}"/>
              </a:ext>
            </a:extLst>
          </p:cNvPr>
          <p:cNvSpPr txBox="1"/>
          <p:nvPr/>
        </p:nvSpPr>
        <p:spPr>
          <a:xfrm>
            <a:off x="3466615" y="203972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masis MT Pro Medium" panose="02040604050005020304" pitchFamily="18" charset="0"/>
              </a:rPr>
              <a:t>Objectives &amp; Proposed Solution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0013A8-FD78-C937-2251-8B4D1B3A7490}"/>
              </a:ext>
            </a:extLst>
          </p:cNvPr>
          <p:cNvSpPr txBox="1"/>
          <p:nvPr/>
        </p:nvSpPr>
        <p:spPr>
          <a:xfrm>
            <a:off x="3466615" y="1357208"/>
            <a:ext cx="5486400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masis MT Pro Medium" panose="02040604050005020304" pitchFamily="18" charset="0"/>
              </a:rPr>
              <a:t>Context &amp; Problem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7DCF8B-CC9C-1124-268E-557C57862740}"/>
              </a:ext>
            </a:extLst>
          </p:cNvPr>
          <p:cNvSpPr txBox="1"/>
          <p:nvPr/>
        </p:nvSpPr>
        <p:spPr>
          <a:xfrm>
            <a:off x="3466615" y="2722232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masis MT Pro Medium" panose="02040604050005020304" pitchFamily="18" charset="0"/>
              </a:rPr>
              <a:t>Requirements Analysis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676B0A-E0C2-FC0A-D372-6217730EC8AF}"/>
              </a:ext>
            </a:extLst>
          </p:cNvPr>
          <p:cNvSpPr txBox="1"/>
          <p:nvPr/>
        </p:nvSpPr>
        <p:spPr>
          <a:xfrm>
            <a:off x="3466615" y="3404744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masis MT Pro Medium" panose="02040604050005020304" pitchFamily="18" charset="0"/>
              </a:rPr>
              <a:t>Methodology &amp; Planning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DB36E3-972F-AD02-11A8-E88F430F19B3}"/>
              </a:ext>
            </a:extLst>
          </p:cNvPr>
          <p:cNvSpPr txBox="1"/>
          <p:nvPr/>
        </p:nvSpPr>
        <p:spPr>
          <a:xfrm>
            <a:off x="3466615" y="4087256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masis MT Pro Medium" panose="02040604050005020304" pitchFamily="18" charset="0"/>
              </a:rPr>
              <a:t>Architecture &amp; Detailed Design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C06AD4-A043-AEEA-DDAF-27FB7013AB67}"/>
              </a:ext>
            </a:extLst>
          </p:cNvPr>
          <p:cNvSpPr txBox="1"/>
          <p:nvPr/>
        </p:nvSpPr>
        <p:spPr>
          <a:xfrm>
            <a:off x="3466615" y="4769768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masis MT Pro Medium" panose="02040604050005020304" pitchFamily="18" charset="0"/>
              </a:rPr>
              <a:t>ML System</a:t>
            </a:r>
          </a:p>
        </p:txBody>
      </p:sp>
      <p:sp>
        <p:nvSpPr>
          <p:cNvPr id="46" name="Dot1">
            <a:extLst>
              <a:ext uri="{FF2B5EF4-FFF2-40B4-BE49-F238E27FC236}">
                <a16:creationId xmlns:a16="http://schemas.microsoft.com/office/drawing/2014/main" id="{89C0955D-E959-4C8F-9BAE-684898DA3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58027" y="6113094"/>
            <a:ext cx="548640" cy="548640"/>
          </a:xfrm>
          <a:prstGeom prst="ellipse">
            <a:avLst/>
          </a:prstGeom>
          <a:solidFill>
            <a:srgbClr val="EAEAEA"/>
          </a:solidFill>
          <a:ln w="38100">
            <a:solidFill>
              <a:schemeClr val="accent1">
                <a:shade val="15000"/>
              </a:schemeClr>
            </a:solidFill>
          </a:ln>
        </p:spPr>
        <p:txBody>
          <a:bodyPr/>
          <a:lstStyle/>
          <a:p>
            <a:pPr algn="ctr"/>
            <a:endParaRPr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D7E7CBB-C3F8-7C66-2B04-A70BB7F3146A}"/>
              </a:ext>
            </a:extLst>
          </p:cNvPr>
          <p:cNvSpPr txBox="1"/>
          <p:nvPr/>
        </p:nvSpPr>
        <p:spPr>
          <a:xfrm>
            <a:off x="2858027" y="6113094"/>
            <a:ext cx="54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Amasis MT Pro Black" panose="02040A04050005020304" pitchFamily="18" charset="0"/>
              </a:rPr>
              <a:t>8</a:t>
            </a:r>
            <a:endParaRPr lang="en-US" sz="2800" dirty="0">
              <a:latin typeface="Amasis MT Pro Black" panose="02040A040500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07D5C5-20E7-4671-C3EF-CD46EE14B3EE}"/>
              </a:ext>
            </a:extLst>
          </p:cNvPr>
          <p:cNvSpPr txBox="1"/>
          <p:nvPr/>
        </p:nvSpPr>
        <p:spPr>
          <a:xfrm>
            <a:off x="3466615" y="6123109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masis MT Pro Medium" panose="02040604050005020304" pitchFamily="18" charset="0"/>
              </a:rPr>
              <a:t>Demo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9B4581-A15D-D87D-1A79-15AA9B208BA2}"/>
              </a:ext>
            </a:extLst>
          </p:cNvPr>
          <p:cNvSpPr txBox="1"/>
          <p:nvPr/>
        </p:nvSpPr>
        <p:spPr>
          <a:xfrm>
            <a:off x="371822" y="727055"/>
            <a:ext cx="3094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i="1" dirty="0">
                <a:latin typeface="Arial Narrow" panose="020B0606020202030204" pitchFamily="34" charset="0"/>
              </a:rPr>
              <a:t>« </a:t>
            </a:r>
            <a:r>
              <a:rPr lang="fr-FR" sz="2400" i="1" dirty="0" err="1">
                <a:latin typeface="Arial Narrow" panose="020B0606020202030204" pitchFamily="34" charset="0"/>
              </a:rPr>
              <a:t>What’s</a:t>
            </a:r>
            <a:r>
              <a:rPr lang="fr-FR" sz="2400" i="1" dirty="0">
                <a:latin typeface="Arial Narrow" panose="020B0606020202030204" pitchFamily="34" charset="0"/>
              </a:rPr>
              <a:t> the plan »</a:t>
            </a:r>
            <a:endParaRPr lang="en-US" sz="2400" i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6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26681-81CA-60AE-4FBE-46B47572B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4F98472-973E-8E99-6FD1-9D8A97EDA3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5F475D-D4AF-8F63-41FE-8AC61074A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2192000" cy="6843775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9B86825-4749-9F44-1169-45A6DFA724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834268" y="2602578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2019ABD-7881-84A2-CC8D-B0EBD3B188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21CB2D-2533-E97F-B8D7-0292D9033128}"/>
              </a:ext>
            </a:extLst>
          </p:cNvPr>
          <p:cNvSpPr txBox="1"/>
          <p:nvPr/>
        </p:nvSpPr>
        <p:spPr>
          <a:xfrm>
            <a:off x="3632200" y="2613392"/>
            <a:ext cx="4927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b="1" dirty="0">
                <a:latin typeface="Aptos Slab Black" panose="020B0004020202020204" pitchFamily="34" charset="0"/>
              </a:rPr>
              <a:t>Context</a:t>
            </a:r>
            <a:endParaRPr lang="en-US" sz="10000" dirty="0">
              <a:latin typeface="Aptos Slab Black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67D4B8-4E6C-BF18-FB1D-95B091A1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867" y="7065666"/>
            <a:ext cx="3190240" cy="4340324"/>
          </a:xfrm>
          <a:prstGeom prst="round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B6B6B6"/>
              </a:gs>
            </a:gsLst>
            <a:lin ang="540000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37A7870D-8D88-98DC-8F01-31FE587EE6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25061" y="9698774"/>
            <a:ext cx="1005840" cy="10058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E9E57F5-314B-F9C7-3481-A5160E8C988B}"/>
              </a:ext>
            </a:extLst>
          </p:cNvPr>
          <p:cNvSpPr txBox="1"/>
          <p:nvPr/>
        </p:nvSpPr>
        <p:spPr>
          <a:xfrm>
            <a:off x="1449496" y="7919256"/>
            <a:ext cx="19569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b="1" dirty="0">
                <a:latin typeface="Amasis MT Pro Medium" panose="02040604050005020304" pitchFamily="18" charset="0"/>
                <a:cs typeface="Aharoni" panose="020F0502020204030204" pitchFamily="2" charset="-79"/>
              </a:rPr>
              <a:t>27.9</a:t>
            </a:r>
            <a:br>
              <a:rPr lang="fr-FR" sz="6600" b="1" dirty="0">
                <a:latin typeface="Amasis MT Pro Medium" panose="02040604050005020304" pitchFamily="18" charset="0"/>
                <a:cs typeface="Aharoni" panose="020F0502020204030204" pitchFamily="2" charset="-79"/>
              </a:rPr>
            </a:br>
            <a:r>
              <a:rPr lang="fr-FR" sz="2400" b="1" dirty="0">
                <a:latin typeface="Amasis MT Pro Medium" panose="02040604050005020304" pitchFamily="18" charset="0"/>
                <a:cs typeface="Aharoni" panose="020F0502020204030204" pitchFamily="2" charset="-79"/>
              </a:rPr>
              <a:t>Billion DT</a:t>
            </a:r>
            <a:endParaRPr lang="en-US" sz="6600" b="1" dirty="0">
              <a:latin typeface="Amasis MT Pro Medium" panose="02040604050005020304" pitchFamily="18" charset="0"/>
              <a:cs typeface="Aharoni" panose="020F0502020204030204" pitchFamily="2" charset="-79"/>
            </a:endParaRPr>
          </a:p>
        </p:txBody>
      </p:sp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B1E19FC9-E8A7-425D-5E49-00EE3608D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867" y="7058398"/>
            <a:ext cx="3190240" cy="5491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C5C6"/>
          </a:solidFill>
          <a:ln w="25400" cap="flat"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274552 w 3190240"/>
                      <a:gd name="csY0" fmla="*/ 0 h 549103"/>
                      <a:gd name="csX1" fmla="*/ 855602 w 3190240"/>
                      <a:gd name="csY1" fmla="*/ 0 h 549103"/>
                      <a:gd name="csX2" fmla="*/ 1304595 w 3190240"/>
                      <a:gd name="csY2" fmla="*/ 0 h 549103"/>
                      <a:gd name="csX3" fmla="*/ 1780000 w 3190240"/>
                      <a:gd name="csY3" fmla="*/ 0 h 549103"/>
                      <a:gd name="csX4" fmla="*/ 2255405 w 3190240"/>
                      <a:gd name="csY4" fmla="*/ 0 h 549103"/>
                      <a:gd name="csX5" fmla="*/ 2915689 w 3190240"/>
                      <a:gd name="csY5" fmla="*/ 0 h 549103"/>
                      <a:gd name="csX6" fmla="*/ 3190241 w 3190240"/>
                      <a:gd name="csY6" fmla="*/ 274552 h 549103"/>
                      <a:gd name="csX7" fmla="*/ 3190240 w 3190240"/>
                      <a:gd name="csY7" fmla="*/ 549103 h 549103"/>
                      <a:gd name="csX8" fmla="*/ 3190240 w 3190240"/>
                      <a:gd name="csY8" fmla="*/ 549103 h 549103"/>
                      <a:gd name="csX9" fmla="*/ 2658533 w 3190240"/>
                      <a:gd name="csY9" fmla="*/ 549103 h 549103"/>
                      <a:gd name="csX10" fmla="*/ 2126827 w 3190240"/>
                      <a:gd name="csY10" fmla="*/ 549103 h 549103"/>
                      <a:gd name="csX11" fmla="*/ 1658925 w 3190240"/>
                      <a:gd name="csY11" fmla="*/ 549103 h 549103"/>
                      <a:gd name="csX12" fmla="*/ 1095316 w 3190240"/>
                      <a:gd name="csY12" fmla="*/ 549103 h 549103"/>
                      <a:gd name="csX13" fmla="*/ 627414 w 3190240"/>
                      <a:gd name="csY13" fmla="*/ 549103 h 549103"/>
                      <a:gd name="csX14" fmla="*/ 0 w 3190240"/>
                      <a:gd name="csY14" fmla="*/ 549103 h 549103"/>
                      <a:gd name="csX15" fmla="*/ 0 w 3190240"/>
                      <a:gd name="csY15" fmla="*/ 549103 h 549103"/>
                      <a:gd name="csX16" fmla="*/ 0 w 3190240"/>
                      <a:gd name="csY16" fmla="*/ 274552 h 549103"/>
                      <a:gd name="csX17" fmla="*/ 274552 w 3190240"/>
                      <a:gd name="csY17" fmla="*/ 0 h 5491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3190240" h="549103" fill="none" extrusionOk="0">
                        <a:moveTo>
                          <a:pt x="274552" y="0"/>
                        </a:moveTo>
                        <a:cubicBezTo>
                          <a:pt x="478846" y="-22366"/>
                          <a:pt x="621822" y="3376"/>
                          <a:pt x="855602" y="0"/>
                        </a:cubicBezTo>
                        <a:cubicBezTo>
                          <a:pt x="1089382" y="-3376"/>
                          <a:pt x="1140254" y="36035"/>
                          <a:pt x="1304595" y="0"/>
                        </a:cubicBezTo>
                        <a:cubicBezTo>
                          <a:pt x="1468936" y="-36035"/>
                          <a:pt x="1567076" y="35168"/>
                          <a:pt x="1780000" y="0"/>
                        </a:cubicBezTo>
                        <a:cubicBezTo>
                          <a:pt x="1992925" y="-35168"/>
                          <a:pt x="2096411" y="148"/>
                          <a:pt x="2255405" y="0"/>
                        </a:cubicBezTo>
                        <a:cubicBezTo>
                          <a:pt x="2414400" y="-148"/>
                          <a:pt x="2633995" y="15952"/>
                          <a:pt x="2915689" y="0"/>
                        </a:cubicBezTo>
                        <a:cubicBezTo>
                          <a:pt x="3069955" y="25025"/>
                          <a:pt x="3215393" y="114461"/>
                          <a:pt x="3190241" y="274552"/>
                        </a:cubicBezTo>
                        <a:cubicBezTo>
                          <a:pt x="3189681" y="350956"/>
                          <a:pt x="3197657" y="45913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95131" y="560735"/>
                          <a:pt x="2819099" y="496731"/>
                          <a:pt x="2658533" y="549103"/>
                        </a:cubicBezTo>
                        <a:cubicBezTo>
                          <a:pt x="2497967" y="601475"/>
                          <a:pt x="2248402" y="537460"/>
                          <a:pt x="2126827" y="549103"/>
                        </a:cubicBezTo>
                        <a:cubicBezTo>
                          <a:pt x="2005252" y="560746"/>
                          <a:pt x="1770291" y="538955"/>
                          <a:pt x="1658925" y="549103"/>
                        </a:cubicBezTo>
                        <a:cubicBezTo>
                          <a:pt x="1547559" y="559251"/>
                          <a:pt x="1311371" y="547825"/>
                          <a:pt x="1095316" y="549103"/>
                        </a:cubicBezTo>
                        <a:cubicBezTo>
                          <a:pt x="879261" y="550381"/>
                          <a:pt x="831984" y="493925"/>
                          <a:pt x="627414" y="549103"/>
                        </a:cubicBezTo>
                        <a:cubicBezTo>
                          <a:pt x="422844" y="604281"/>
                          <a:pt x="166004" y="538288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1299" y="467894"/>
                          <a:pt x="9634" y="363670"/>
                          <a:pt x="0" y="274552"/>
                        </a:cubicBezTo>
                        <a:cubicBezTo>
                          <a:pt x="-22120" y="114441"/>
                          <a:pt x="154514" y="-31067"/>
                          <a:pt x="274552" y="0"/>
                        </a:cubicBezTo>
                        <a:close/>
                      </a:path>
                      <a:path w="3190240" h="549103" stroke="0" extrusionOk="0">
                        <a:moveTo>
                          <a:pt x="274552" y="0"/>
                        </a:moveTo>
                        <a:cubicBezTo>
                          <a:pt x="399970" y="-22710"/>
                          <a:pt x="654668" y="2484"/>
                          <a:pt x="776368" y="0"/>
                        </a:cubicBezTo>
                        <a:cubicBezTo>
                          <a:pt x="898068" y="-2484"/>
                          <a:pt x="1014447" y="38675"/>
                          <a:pt x="1225361" y="0"/>
                        </a:cubicBezTo>
                        <a:cubicBezTo>
                          <a:pt x="1436275" y="-38675"/>
                          <a:pt x="1562490" y="1481"/>
                          <a:pt x="1806411" y="0"/>
                        </a:cubicBezTo>
                        <a:cubicBezTo>
                          <a:pt x="2050332" y="-1481"/>
                          <a:pt x="2135571" y="31241"/>
                          <a:pt x="2308227" y="0"/>
                        </a:cubicBezTo>
                        <a:cubicBezTo>
                          <a:pt x="2480883" y="-31241"/>
                          <a:pt x="2718760" y="30376"/>
                          <a:pt x="2915689" y="0"/>
                        </a:cubicBezTo>
                        <a:cubicBezTo>
                          <a:pt x="3070025" y="-10011"/>
                          <a:pt x="3167717" y="108152"/>
                          <a:pt x="3190241" y="274552"/>
                        </a:cubicBezTo>
                        <a:cubicBezTo>
                          <a:pt x="3202225" y="346567"/>
                          <a:pt x="3185783" y="46150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65458" y="595554"/>
                          <a:pt x="2853283" y="523738"/>
                          <a:pt x="2658533" y="549103"/>
                        </a:cubicBezTo>
                        <a:cubicBezTo>
                          <a:pt x="2463783" y="574468"/>
                          <a:pt x="2344165" y="513624"/>
                          <a:pt x="2222534" y="549103"/>
                        </a:cubicBezTo>
                        <a:cubicBezTo>
                          <a:pt x="2100903" y="584582"/>
                          <a:pt x="1860042" y="508330"/>
                          <a:pt x="1690827" y="549103"/>
                        </a:cubicBezTo>
                        <a:cubicBezTo>
                          <a:pt x="1521612" y="589876"/>
                          <a:pt x="1302742" y="499121"/>
                          <a:pt x="1159121" y="549103"/>
                        </a:cubicBezTo>
                        <a:cubicBezTo>
                          <a:pt x="1015500" y="599085"/>
                          <a:pt x="866131" y="516064"/>
                          <a:pt x="659316" y="549103"/>
                        </a:cubicBezTo>
                        <a:cubicBezTo>
                          <a:pt x="452502" y="582142"/>
                          <a:pt x="195622" y="517307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699" y="492953"/>
                          <a:pt x="30684" y="394117"/>
                          <a:pt x="0" y="274552"/>
                        </a:cubicBezTo>
                        <a:cubicBezTo>
                          <a:pt x="-29017" y="102900"/>
                          <a:pt x="108031" y="-1057"/>
                          <a:pt x="274552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CBB9AC-7ED0-6A57-5562-52C68B31365B}"/>
              </a:ext>
            </a:extLst>
          </p:cNvPr>
          <p:cNvSpPr txBox="1"/>
          <p:nvPr/>
        </p:nvSpPr>
        <p:spPr>
          <a:xfrm>
            <a:off x="832866" y="7038460"/>
            <a:ext cx="319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atin typeface="Arial Rounded MT Bold" panose="020F0704030504030204" pitchFamily="34" charset="0"/>
              </a:rPr>
              <a:t>Volume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7BB798-ECA2-FEDF-FA11-37139E37B829}"/>
              </a:ext>
            </a:extLst>
          </p:cNvPr>
          <p:cNvSpPr txBox="1"/>
          <p:nvPr/>
        </p:nvSpPr>
        <p:spPr>
          <a:xfrm>
            <a:off x="832866" y="10867404"/>
            <a:ext cx="319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badi ExtraLight" panose="020B0204020104020204" pitchFamily="34" charset="0"/>
              </a:rPr>
              <a:t>BCT via </a:t>
            </a:r>
            <a:r>
              <a:rPr lang="en-US" sz="1200" dirty="0" err="1">
                <a:latin typeface="Abadi ExtraLight" panose="020B0204020104020204" pitchFamily="34" charset="0"/>
              </a:rPr>
              <a:t>L'Économiste</a:t>
            </a:r>
            <a:r>
              <a:rPr lang="en-US" sz="1200" dirty="0">
                <a:latin typeface="Abadi ExtraLight" panose="020B0204020104020204" pitchFamily="34" charset="0"/>
              </a:rPr>
              <a:t> </a:t>
            </a:r>
            <a:r>
              <a:rPr lang="en-US" sz="1200" dirty="0" err="1">
                <a:latin typeface="Abadi ExtraLight" panose="020B0204020104020204" pitchFamily="34" charset="0"/>
              </a:rPr>
              <a:t>Maghrébin</a:t>
            </a:r>
            <a:r>
              <a:rPr lang="en-US" sz="1200" dirty="0">
                <a:latin typeface="Abadi ExtraLight" panose="020B0204020104020204" pitchFamily="34" charset="0"/>
              </a:rPr>
              <a:t>, 2024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9A08254-2842-3260-65B3-C6D568151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1132" y="7105542"/>
            <a:ext cx="3190240" cy="4340324"/>
          </a:xfrm>
          <a:prstGeom prst="round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B6B6B6"/>
              </a:gs>
            </a:gsLst>
            <a:lin ang="540000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623905-B133-E53F-6084-8F4A4FEA61C2}"/>
              </a:ext>
            </a:extLst>
          </p:cNvPr>
          <p:cNvSpPr txBox="1"/>
          <p:nvPr/>
        </p:nvSpPr>
        <p:spPr>
          <a:xfrm>
            <a:off x="8670100" y="7959132"/>
            <a:ext cx="26723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atin typeface="Amasis MT Pro Medium" panose="02040604050005020304" pitchFamily="18" charset="0"/>
              </a:rPr>
              <a:t>+81%</a:t>
            </a:r>
            <a:br>
              <a:rPr lang="en-US" sz="7200" b="1" dirty="0">
                <a:latin typeface="Amasis MT Pro Medium" panose="02040604050005020304" pitchFamily="18" charset="0"/>
              </a:rPr>
            </a:br>
            <a:r>
              <a:rPr lang="en-US" sz="2400" b="1" dirty="0">
                <a:latin typeface="Amasis MT Pro Medium" panose="02040604050005020304" pitchFamily="18" charset="0"/>
              </a:rPr>
              <a:t>Mobile payments</a:t>
            </a:r>
            <a:endParaRPr lang="en-US" sz="9600" b="1" dirty="0">
              <a:latin typeface="Amasis MT Pro Medium" panose="02040604050005020304" pitchFamily="18" charset="0"/>
              <a:cs typeface="Aharoni" panose="020F0502020204030204" pitchFamily="2" charset="-79"/>
            </a:endParaRPr>
          </a:p>
        </p:txBody>
      </p:sp>
      <p:sp>
        <p:nvSpPr>
          <p:cNvPr id="56" name="Rectangle: Top Corners Rounded 55">
            <a:extLst>
              <a:ext uri="{FF2B5EF4-FFF2-40B4-BE49-F238E27FC236}">
                <a16:creationId xmlns:a16="http://schemas.microsoft.com/office/drawing/2014/main" id="{F2AE324D-CC42-02EA-70C4-FFC649E66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1132" y="7098274"/>
            <a:ext cx="3190240" cy="5491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C5C6"/>
          </a:solidFill>
          <a:ln w="25400" cap="flat"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274552 w 3190240"/>
                      <a:gd name="csY0" fmla="*/ 0 h 549103"/>
                      <a:gd name="csX1" fmla="*/ 855602 w 3190240"/>
                      <a:gd name="csY1" fmla="*/ 0 h 549103"/>
                      <a:gd name="csX2" fmla="*/ 1304595 w 3190240"/>
                      <a:gd name="csY2" fmla="*/ 0 h 549103"/>
                      <a:gd name="csX3" fmla="*/ 1780000 w 3190240"/>
                      <a:gd name="csY3" fmla="*/ 0 h 549103"/>
                      <a:gd name="csX4" fmla="*/ 2255405 w 3190240"/>
                      <a:gd name="csY4" fmla="*/ 0 h 549103"/>
                      <a:gd name="csX5" fmla="*/ 2915689 w 3190240"/>
                      <a:gd name="csY5" fmla="*/ 0 h 549103"/>
                      <a:gd name="csX6" fmla="*/ 3190241 w 3190240"/>
                      <a:gd name="csY6" fmla="*/ 274552 h 549103"/>
                      <a:gd name="csX7" fmla="*/ 3190240 w 3190240"/>
                      <a:gd name="csY7" fmla="*/ 549103 h 549103"/>
                      <a:gd name="csX8" fmla="*/ 3190240 w 3190240"/>
                      <a:gd name="csY8" fmla="*/ 549103 h 549103"/>
                      <a:gd name="csX9" fmla="*/ 2658533 w 3190240"/>
                      <a:gd name="csY9" fmla="*/ 549103 h 549103"/>
                      <a:gd name="csX10" fmla="*/ 2126827 w 3190240"/>
                      <a:gd name="csY10" fmla="*/ 549103 h 549103"/>
                      <a:gd name="csX11" fmla="*/ 1658925 w 3190240"/>
                      <a:gd name="csY11" fmla="*/ 549103 h 549103"/>
                      <a:gd name="csX12" fmla="*/ 1095316 w 3190240"/>
                      <a:gd name="csY12" fmla="*/ 549103 h 549103"/>
                      <a:gd name="csX13" fmla="*/ 627414 w 3190240"/>
                      <a:gd name="csY13" fmla="*/ 549103 h 549103"/>
                      <a:gd name="csX14" fmla="*/ 0 w 3190240"/>
                      <a:gd name="csY14" fmla="*/ 549103 h 549103"/>
                      <a:gd name="csX15" fmla="*/ 0 w 3190240"/>
                      <a:gd name="csY15" fmla="*/ 549103 h 549103"/>
                      <a:gd name="csX16" fmla="*/ 0 w 3190240"/>
                      <a:gd name="csY16" fmla="*/ 274552 h 549103"/>
                      <a:gd name="csX17" fmla="*/ 274552 w 3190240"/>
                      <a:gd name="csY17" fmla="*/ 0 h 5491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3190240" h="549103" fill="none" extrusionOk="0">
                        <a:moveTo>
                          <a:pt x="274552" y="0"/>
                        </a:moveTo>
                        <a:cubicBezTo>
                          <a:pt x="478846" y="-22366"/>
                          <a:pt x="621822" y="3376"/>
                          <a:pt x="855602" y="0"/>
                        </a:cubicBezTo>
                        <a:cubicBezTo>
                          <a:pt x="1089382" y="-3376"/>
                          <a:pt x="1140254" y="36035"/>
                          <a:pt x="1304595" y="0"/>
                        </a:cubicBezTo>
                        <a:cubicBezTo>
                          <a:pt x="1468936" y="-36035"/>
                          <a:pt x="1567076" y="35168"/>
                          <a:pt x="1780000" y="0"/>
                        </a:cubicBezTo>
                        <a:cubicBezTo>
                          <a:pt x="1992925" y="-35168"/>
                          <a:pt x="2096411" y="148"/>
                          <a:pt x="2255405" y="0"/>
                        </a:cubicBezTo>
                        <a:cubicBezTo>
                          <a:pt x="2414400" y="-148"/>
                          <a:pt x="2633995" y="15952"/>
                          <a:pt x="2915689" y="0"/>
                        </a:cubicBezTo>
                        <a:cubicBezTo>
                          <a:pt x="3069955" y="25025"/>
                          <a:pt x="3215393" y="114461"/>
                          <a:pt x="3190241" y="274552"/>
                        </a:cubicBezTo>
                        <a:cubicBezTo>
                          <a:pt x="3189681" y="350956"/>
                          <a:pt x="3197657" y="45913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95131" y="560735"/>
                          <a:pt x="2819099" y="496731"/>
                          <a:pt x="2658533" y="549103"/>
                        </a:cubicBezTo>
                        <a:cubicBezTo>
                          <a:pt x="2497967" y="601475"/>
                          <a:pt x="2248402" y="537460"/>
                          <a:pt x="2126827" y="549103"/>
                        </a:cubicBezTo>
                        <a:cubicBezTo>
                          <a:pt x="2005252" y="560746"/>
                          <a:pt x="1770291" y="538955"/>
                          <a:pt x="1658925" y="549103"/>
                        </a:cubicBezTo>
                        <a:cubicBezTo>
                          <a:pt x="1547559" y="559251"/>
                          <a:pt x="1311371" y="547825"/>
                          <a:pt x="1095316" y="549103"/>
                        </a:cubicBezTo>
                        <a:cubicBezTo>
                          <a:pt x="879261" y="550381"/>
                          <a:pt x="831984" y="493925"/>
                          <a:pt x="627414" y="549103"/>
                        </a:cubicBezTo>
                        <a:cubicBezTo>
                          <a:pt x="422844" y="604281"/>
                          <a:pt x="166004" y="538288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1299" y="467894"/>
                          <a:pt x="9634" y="363670"/>
                          <a:pt x="0" y="274552"/>
                        </a:cubicBezTo>
                        <a:cubicBezTo>
                          <a:pt x="-22120" y="114441"/>
                          <a:pt x="154514" y="-31067"/>
                          <a:pt x="274552" y="0"/>
                        </a:cubicBezTo>
                        <a:close/>
                      </a:path>
                      <a:path w="3190240" h="549103" stroke="0" extrusionOk="0">
                        <a:moveTo>
                          <a:pt x="274552" y="0"/>
                        </a:moveTo>
                        <a:cubicBezTo>
                          <a:pt x="399970" y="-22710"/>
                          <a:pt x="654668" y="2484"/>
                          <a:pt x="776368" y="0"/>
                        </a:cubicBezTo>
                        <a:cubicBezTo>
                          <a:pt x="898068" y="-2484"/>
                          <a:pt x="1014447" y="38675"/>
                          <a:pt x="1225361" y="0"/>
                        </a:cubicBezTo>
                        <a:cubicBezTo>
                          <a:pt x="1436275" y="-38675"/>
                          <a:pt x="1562490" y="1481"/>
                          <a:pt x="1806411" y="0"/>
                        </a:cubicBezTo>
                        <a:cubicBezTo>
                          <a:pt x="2050332" y="-1481"/>
                          <a:pt x="2135571" y="31241"/>
                          <a:pt x="2308227" y="0"/>
                        </a:cubicBezTo>
                        <a:cubicBezTo>
                          <a:pt x="2480883" y="-31241"/>
                          <a:pt x="2718760" y="30376"/>
                          <a:pt x="2915689" y="0"/>
                        </a:cubicBezTo>
                        <a:cubicBezTo>
                          <a:pt x="3070025" y="-10011"/>
                          <a:pt x="3167717" y="108152"/>
                          <a:pt x="3190241" y="274552"/>
                        </a:cubicBezTo>
                        <a:cubicBezTo>
                          <a:pt x="3202225" y="346567"/>
                          <a:pt x="3185783" y="46150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65458" y="595554"/>
                          <a:pt x="2853283" y="523738"/>
                          <a:pt x="2658533" y="549103"/>
                        </a:cubicBezTo>
                        <a:cubicBezTo>
                          <a:pt x="2463783" y="574468"/>
                          <a:pt x="2344165" y="513624"/>
                          <a:pt x="2222534" y="549103"/>
                        </a:cubicBezTo>
                        <a:cubicBezTo>
                          <a:pt x="2100903" y="584582"/>
                          <a:pt x="1860042" y="508330"/>
                          <a:pt x="1690827" y="549103"/>
                        </a:cubicBezTo>
                        <a:cubicBezTo>
                          <a:pt x="1521612" y="589876"/>
                          <a:pt x="1302742" y="499121"/>
                          <a:pt x="1159121" y="549103"/>
                        </a:cubicBezTo>
                        <a:cubicBezTo>
                          <a:pt x="1015500" y="599085"/>
                          <a:pt x="866131" y="516064"/>
                          <a:pt x="659316" y="549103"/>
                        </a:cubicBezTo>
                        <a:cubicBezTo>
                          <a:pt x="452502" y="582142"/>
                          <a:pt x="195622" y="517307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699" y="492953"/>
                          <a:pt x="30684" y="394117"/>
                          <a:pt x="0" y="274552"/>
                        </a:cubicBezTo>
                        <a:cubicBezTo>
                          <a:pt x="-29017" y="102900"/>
                          <a:pt x="108031" y="-1057"/>
                          <a:pt x="274552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B013FD-D911-1D8B-5137-536EB3C860DF}"/>
              </a:ext>
            </a:extLst>
          </p:cNvPr>
          <p:cNvSpPr txBox="1"/>
          <p:nvPr/>
        </p:nvSpPr>
        <p:spPr>
          <a:xfrm>
            <a:off x="8411131" y="7078336"/>
            <a:ext cx="319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atin typeface="Arial Rounded MT Bold" panose="020F0704030504030204" pitchFamily="34" charset="0"/>
              </a:rPr>
              <a:t>Switch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538A32D-502F-2FAE-8128-E0F24EF1809B}"/>
              </a:ext>
            </a:extLst>
          </p:cNvPr>
          <p:cNvSpPr txBox="1"/>
          <p:nvPr/>
        </p:nvSpPr>
        <p:spPr>
          <a:xfrm>
            <a:off x="8411131" y="10907280"/>
            <a:ext cx="319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Abadi ExtraLight" panose="020B0204020104020204" pitchFamily="34" charset="0"/>
              </a:rPr>
              <a:t>Tunisie</a:t>
            </a:r>
            <a:r>
              <a:rPr lang="en-US" sz="1200" dirty="0">
                <a:latin typeface="Abadi ExtraLight" panose="020B0204020104020204" pitchFamily="34" charset="0"/>
              </a:rPr>
              <a:t> Numérique / BCT, 2025</a:t>
            </a:r>
            <a:endParaRPr lang="en-US" sz="1000" dirty="0">
              <a:latin typeface="Abadi ExtraLight" panose="020B0204020104020204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05CE58-9BAD-2A57-DE76-8F5D0CE57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0266" y="7085604"/>
            <a:ext cx="3190240" cy="4340324"/>
          </a:xfrm>
          <a:prstGeom prst="round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B6B6B6"/>
              </a:gs>
            </a:gsLst>
            <a:lin ang="540000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61C7F2-DDE8-6752-DAD2-2EB7ED2C0C72}"/>
              </a:ext>
            </a:extLst>
          </p:cNvPr>
          <p:cNvSpPr txBox="1"/>
          <p:nvPr/>
        </p:nvSpPr>
        <p:spPr>
          <a:xfrm>
            <a:off x="4482742" y="7972745"/>
            <a:ext cx="3485274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Amasis MT Pro Medium" panose="02040604050005020304" pitchFamily="18" charset="0"/>
              </a:rPr>
              <a:t>+10.6%</a:t>
            </a:r>
            <a:br>
              <a:rPr lang="fr-FR" sz="6600" b="1" dirty="0">
                <a:latin typeface="Amasis MT Pro Medium" panose="02040604050005020304" pitchFamily="18" charset="0"/>
                <a:cs typeface="Aharoni" panose="020F0502020204030204" pitchFamily="2" charset="-79"/>
              </a:rPr>
            </a:br>
            <a:r>
              <a:rPr lang="fr-FR" sz="2000" b="1" dirty="0" err="1">
                <a:latin typeface="Amasis MT Pro Medium" panose="02040604050005020304" pitchFamily="18" charset="0"/>
                <a:cs typeface="Aharoni" panose="020F0502020204030204" pitchFamily="2" charset="-79"/>
              </a:rPr>
              <a:t>Electronic</a:t>
            </a:r>
            <a:r>
              <a:rPr lang="fr-FR" sz="2000" b="1" dirty="0">
                <a:latin typeface="Amasis MT Pro Medium" panose="02040604050005020304" pitchFamily="18" charset="0"/>
                <a:cs typeface="Aharoni" panose="020F0502020204030204" pitchFamily="2" charset="-79"/>
              </a:rPr>
              <a:t> transactions</a:t>
            </a:r>
            <a:endParaRPr lang="en-US" sz="6600" b="1" dirty="0">
              <a:latin typeface="Amasis MT Pro Medium" panose="02040604050005020304" pitchFamily="18" charset="0"/>
              <a:cs typeface="Aharoni" panose="020F0502020204030204" pitchFamily="2" charset="-79"/>
            </a:endParaRPr>
          </a:p>
        </p:txBody>
      </p:sp>
      <p:sp>
        <p:nvSpPr>
          <p:cNvPr id="62" name="Rectangle: Top Corners Rounded 61">
            <a:extLst>
              <a:ext uri="{FF2B5EF4-FFF2-40B4-BE49-F238E27FC236}">
                <a16:creationId xmlns:a16="http://schemas.microsoft.com/office/drawing/2014/main" id="{EC9F0AC3-507D-F75D-E367-840E19F54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0266" y="7078336"/>
            <a:ext cx="3190240" cy="5491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C5C6"/>
          </a:solidFill>
          <a:ln w="25400" cap="flat"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274552 w 3190240"/>
                      <a:gd name="csY0" fmla="*/ 0 h 549103"/>
                      <a:gd name="csX1" fmla="*/ 855602 w 3190240"/>
                      <a:gd name="csY1" fmla="*/ 0 h 549103"/>
                      <a:gd name="csX2" fmla="*/ 1304595 w 3190240"/>
                      <a:gd name="csY2" fmla="*/ 0 h 549103"/>
                      <a:gd name="csX3" fmla="*/ 1780000 w 3190240"/>
                      <a:gd name="csY3" fmla="*/ 0 h 549103"/>
                      <a:gd name="csX4" fmla="*/ 2255405 w 3190240"/>
                      <a:gd name="csY4" fmla="*/ 0 h 549103"/>
                      <a:gd name="csX5" fmla="*/ 2915689 w 3190240"/>
                      <a:gd name="csY5" fmla="*/ 0 h 549103"/>
                      <a:gd name="csX6" fmla="*/ 3190241 w 3190240"/>
                      <a:gd name="csY6" fmla="*/ 274552 h 549103"/>
                      <a:gd name="csX7" fmla="*/ 3190240 w 3190240"/>
                      <a:gd name="csY7" fmla="*/ 549103 h 549103"/>
                      <a:gd name="csX8" fmla="*/ 3190240 w 3190240"/>
                      <a:gd name="csY8" fmla="*/ 549103 h 549103"/>
                      <a:gd name="csX9" fmla="*/ 2658533 w 3190240"/>
                      <a:gd name="csY9" fmla="*/ 549103 h 549103"/>
                      <a:gd name="csX10" fmla="*/ 2126827 w 3190240"/>
                      <a:gd name="csY10" fmla="*/ 549103 h 549103"/>
                      <a:gd name="csX11" fmla="*/ 1658925 w 3190240"/>
                      <a:gd name="csY11" fmla="*/ 549103 h 549103"/>
                      <a:gd name="csX12" fmla="*/ 1095316 w 3190240"/>
                      <a:gd name="csY12" fmla="*/ 549103 h 549103"/>
                      <a:gd name="csX13" fmla="*/ 627414 w 3190240"/>
                      <a:gd name="csY13" fmla="*/ 549103 h 549103"/>
                      <a:gd name="csX14" fmla="*/ 0 w 3190240"/>
                      <a:gd name="csY14" fmla="*/ 549103 h 549103"/>
                      <a:gd name="csX15" fmla="*/ 0 w 3190240"/>
                      <a:gd name="csY15" fmla="*/ 549103 h 549103"/>
                      <a:gd name="csX16" fmla="*/ 0 w 3190240"/>
                      <a:gd name="csY16" fmla="*/ 274552 h 549103"/>
                      <a:gd name="csX17" fmla="*/ 274552 w 3190240"/>
                      <a:gd name="csY17" fmla="*/ 0 h 5491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3190240" h="549103" fill="none" extrusionOk="0">
                        <a:moveTo>
                          <a:pt x="274552" y="0"/>
                        </a:moveTo>
                        <a:cubicBezTo>
                          <a:pt x="478846" y="-22366"/>
                          <a:pt x="621822" y="3376"/>
                          <a:pt x="855602" y="0"/>
                        </a:cubicBezTo>
                        <a:cubicBezTo>
                          <a:pt x="1089382" y="-3376"/>
                          <a:pt x="1140254" y="36035"/>
                          <a:pt x="1304595" y="0"/>
                        </a:cubicBezTo>
                        <a:cubicBezTo>
                          <a:pt x="1468936" y="-36035"/>
                          <a:pt x="1567076" y="35168"/>
                          <a:pt x="1780000" y="0"/>
                        </a:cubicBezTo>
                        <a:cubicBezTo>
                          <a:pt x="1992925" y="-35168"/>
                          <a:pt x="2096411" y="148"/>
                          <a:pt x="2255405" y="0"/>
                        </a:cubicBezTo>
                        <a:cubicBezTo>
                          <a:pt x="2414400" y="-148"/>
                          <a:pt x="2633995" y="15952"/>
                          <a:pt x="2915689" y="0"/>
                        </a:cubicBezTo>
                        <a:cubicBezTo>
                          <a:pt x="3069955" y="25025"/>
                          <a:pt x="3215393" y="114461"/>
                          <a:pt x="3190241" y="274552"/>
                        </a:cubicBezTo>
                        <a:cubicBezTo>
                          <a:pt x="3189681" y="350956"/>
                          <a:pt x="3197657" y="45913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95131" y="560735"/>
                          <a:pt x="2819099" y="496731"/>
                          <a:pt x="2658533" y="549103"/>
                        </a:cubicBezTo>
                        <a:cubicBezTo>
                          <a:pt x="2497967" y="601475"/>
                          <a:pt x="2248402" y="537460"/>
                          <a:pt x="2126827" y="549103"/>
                        </a:cubicBezTo>
                        <a:cubicBezTo>
                          <a:pt x="2005252" y="560746"/>
                          <a:pt x="1770291" y="538955"/>
                          <a:pt x="1658925" y="549103"/>
                        </a:cubicBezTo>
                        <a:cubicBezTo>
                          <a:pt x="1547559" y="559251"/>
                          <a:pt x="1311371" y="547825"/>
                          <a:pt x="1095316" y="549103"/>
                        </a:cubicBezTo>
                        <a:cubicBezTo>
                          <a:pt x="879261" y="550381"/>
                          <a:pt x="831984" y="493925"/>
                          <a:pt x="627414" y="549103"/>
                        </a:cubicBezTo>
                        <a:cubicBezTo>
                          <a:pt x="422844" y="604281"/>
                          <a:pt x="166004" y="538288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1299" y="467894"/>
                          <a:pt x="9634" y="363670"/>
                          <a:pt x="0" y="274552"/>
                        </a:cubicBezTo>
                        <a:cubicBezTo>
                          <a:pt x="-22120" y="114441"/>
                          <a:pt x="154514" y="-31067"/>
                          <a:pt x="274552" y="0"/>
                        </a:cubicBezTo>
                        <a:close/>
                      </a:path>
                      <a:path w="3190240" h="549103" stroke="0" extrusionOk="0">
                        <a:moveTo>
                          <a:pt x="274552" y="0"/>
                        </a:moveTo>
                        <a:cubicBezTo>
                          <a:pt x="399970" y="-22710"/>
                          <a:pt x="654668" y="2484"/>
                          <a:pt x="776368" y="0"/>
                        </a:cubicBezTo>
                        <a:cubicBezTo>
                          <a:pt x="898068" y="-2484"/>
                          <a:pt x="1014447" y="38675"/>
                          <a:pt x="1225361" y="0"/>
                        </a:cubicBezTo>
                        <a:cubicBezTo>
                          <a:pt x="1436275" y="-38675"/>
                          <a:pt x="1562490" y="1481"/>
                          <a:pt x="1806411" y="0"/>
                        </a:cubicBezTo>
                        <a:cubicBezTo>
                          <a:pt x="2050332" y="-1481"/>
                          <a:pt x="2135571" y="31241"/>
                          <a:pt x="2308227" y="0"/>
                        </a:cubicBezTo>
                        <a:cubicBezTo>
                          <a:pt x="2480883" y="-31241"/>
                          <a:pt x="2718760" y="30376"/>
                          <a:pt x="2915689" y="0"/>
                        </a:cubicBezTo>
                        <a:cubicBezTo>
                          <a:pt x="3070025" y="-10011"/>
                          <a:pt x="3167717" y="108152"/>
                          <a:pt x="3190241" y="274552"/>
                        </a:cubicBezTo>
                        <a:cubicBezTo>
                          <a:pt x="3202225" y="346567"/>
                          <a:pt x="3185783" y="46150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65458" y="595554"/>
                          <a:pt x="2853283" y="523738"/>
                          <a:pt x="2658533" y="549103"/>
                        </a:cubicBezTo>
                        <a:cubicBezTo>
                          <a:pt x="2463783" y="574468"/>
                          <a:pt x="2344165" y="513624"/>
                          <a:pt x="2222534" y="549103"/>
                        </a:cubicBezTo>
                        <a:cubicBezTo>
                          <a:pt x="2100903" y="584582"/>
                          <a:pt x="1860042" y="508330"/>
                          <a:pt x="1690827" y="549103"/>
                        </a:cubicBezTo>
                        <a:cubicBezTo>
                          <a:pt x="1521612" y="589876"/>
                          <a:pt x="1302742" y="499121"/>
                          <a:pt x="1159121" y="549103"/>
                        </a:cubicBezTo>
                        <a:cubicBezTo>
                          <a:pt x="1015500" y="599085"/>
                          <a:pt x="866131" y="516064"/>
                          <a:pt x="659316" y="549103"/>
                        </a:cubicBezTo>
                        <a:cubicBezTo>
                          <a:pt x="452502" y="582142"/>
                          <a:pt x="195622" y="517307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699" y="492953"/>
                          <a:pt x="30684" y="394117"/>
                          <a:pt x="0" y="274552"/>
                        </a:cubicBezTo>
                        <a:cubicBezTo>
                          <a:pt x="-29017" y="102900"/>
                          <a:pt x="108031" y="-1057"/>
                          <a:pt x="274552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410F77-62D2-13BF-AA9D-8BD846930CE5}"/>
              </a:ext>
            </a:extLst>
          </p:cNvPr>
          <p:cNvSpPr txBox="1"/>
          <p:nvPr/>
        </p:nvSpPr>
        <p:spPr>
          <a:xfrm>
            <a:off x="4630265" y="7058398"/>
            <a:ext cx="319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err="1">
                <a:latin typeface="Arial Rounded MT Bold" panose="020F0704030504030204" pitchFamily="34" charset="0"/>
              </a:rPr>
              <a:t>Growth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56BC057-44EA-AC64-2F09-F57EFAC4B69B}"/>
              </a:ext>
            </a:extLst>
          </p:cNvPr>
          <p:cNvSpPr txBox="1"/>
          <p:nvPr/>
        </p:nvSpPr>
        <p:spPr>
          <a:xfrm>
            <a:off x="4630265" y="10887342"/>
            <a:ext cx="319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badi ExtraLight" panose="020B0204020104020204" pitchFamily="34" charset="0"/>
              </a:rPr>
              <a:t>BCT via </a:t>
            </a:r>
            <a:r>
              <a:rPr lang="en-US" sz="1200" dirty="0" err="1">
                <a:latin typeface="Abadi ExtraLight" panose="020B0204020104020204" pitchFamily="34" charset="0"/>
              </a:rPr>
              <a:t>L'Économiste</a:t>
            </a:r>
            <a:r>
              <a:rPr lang="en-US" sz="1200" dirty="0">
                <a:latin typeface="Abadi ExtraLight" panose="020B0204020104020204" pitchFamily="34" charset="0"/>
              </a:rPr>
              <a:t> </a:t>
            </a:r>
            <a:r>
              <a:rPr lang="en-US" sz="1200" dirty="0" err="1">
                <a:latin typeface="Abadi ExtraLight" panose="020B0204020104020204" pitchFamily="34" charset="0"/>
              </a:rPr>
              <a:t>Maghrébin</a:t>
            </a:r>
            <a:r>
              <a:rPr lang="en-US" sz="1200" dirty="0">
                <a:latin typeface="Abadi ExtraLight" panose="020B0204020104020204" pitchFamily="34" charset="0"/>
              </a:rPr>
              <a:t>, 2024</a:t>
            </a:r>
          </a:p>
        </p:txBody>
      </p:sp>
      <p:pic>
        <p:nvPicPr>
          <p:cNvPr id="66" name="Graphic 65" descr="Smart Phone with solid fill">
            <a:extLst>
              <a:ext uri="{FF2B5EF4-FFF2-40B4-BE49-F238E27FC236}">
                <a16:creationId xmlns:a16="http://schemas.microsoft.com/office/drawing/2014/main" id="{43F1D0FD-9046-24EA-9FB9-EA6F4ED6AC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4704" y="9643583"/>
            <a:ext cx="1143000" cy="114300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87836F11-2D86-ED1F-17FD-9E87F16035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1019" y="9573579"/>
            <a:ext cx="1188720" cy="1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97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A3CA2-D485-69BA-8F9E-D94B541D6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E7DCF50-EE4C-3A0C-A579-78A11B0F6F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3B22BDA-89B5-BCA1-1C59-9B286D939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0075F2C-5BC4-6A09-88EB-1014294338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834268" y="2602578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AA3B848-DD71-404C-5F11-BF8D0460F0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69610A-55FE-A7F2-AEF0-08E40FCDFEE2}"/>
              </a:ext>
            </a:extLst>
          </p:cNvPr>
          <p:cNvSpPr txBox="1"/>
          <p:nvPr/>
        </p:nvSpPr>
        <p:spPr>
          <a:xfrm>
            <a:off x="0" y="0"/>
            <a:ext cx="3094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  </a:t>
            </a:r>
            <a:r>
              <a:rPr lang="en-US" sz="5400" b="1" dirty="0">
                <a:latin typeface="Aptos Slab Black" panose="020B0004020202020204" pitchFamily="34" charset="0"/>
              </a:rPr>
              <a:t>Context</a:t>
            </a:r>
            <a:endParaRPr lang="en-US" sz="5400" dirty="0">
              <a:latin typeface="Aptos Slab Black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DC737-5338-3B48-3400-F34FDE97611B}"/>
              </a:ext>
            </a:extLst>
          </p:cNvPr>
          <p:cNvSpPr txBox="1"/>
          <p:nvPr/>
        </p:nvSpPr>
        <p:spPr>
          <a:xfrm>
            <a:off x="371822" y="727055"/>
            <a:ext cx="3094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i="1" dirty="0">
                <a:latin typeface="Arial Narrow" panose="020B0606020202030204" pitchFamily="34" charset="0"/>
              </a:rPr>
              <a:t>« A </a:t>
            </a:r>
            <a:r>
              <a:rPr lang="fr-FR" sz="2400" i="1" dirty="0" err="1">
                <a:latin typeface="Arial Narrow" panose="020B0606020202030204" pitchFamily="34" charset="0"/>
              </a:rPr>
              <a:t>cachless</a:t>
            </a:r>
            <a:r>
              <a:rPr lang="fr-FR" sz="2400" i="1" dirty="0">
                <a:latin typeface="Arial Narrow" panose="020B0606020202030204" pitchFamily="34" charset="0"/>
              </a:rPr>
              <a:t> </a:t>
            </a:r>
            <a:r>
              <a:rPr lang="fr-FR" sz="2400" i="1" dirty="0" err="1">
                <a:latin typeface="Arial Narrow" panose="020B0606020202030204" pitchFamily="34" charset="0"/>
              </a:rPr>
              <a:t>generation</a:t>
            </a:r>
            <a:r>
              <a:rPr lang="fr-FR" sz="2400" i="1" dirty="0">
                <a:latin typeface="Arial Narrow" panose="020B0606020202030204" pitchFamily="34" charset="0"/>
              </a:rPr>
              <a:t> »</a:t>
            </a:r>
            <a:endParaRPr lang="en-US" sz="2400" i="1" dirty="0">
              <a:latin typeface="Arial Narrow" panose="020B0606020202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6DA5D0A-A0BB-F1AB-4BD7-76DE57F3E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867" y="1789728"/>
            <a:ext cx="3190240" cy="4340324"/>
          </a:xfrm>
          <a:prstGeom prst="round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B6B6B6"/>
              </a:gs>
            </a:gsLst>
            <a:lin ang="540000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D692ECD-C617-05AB-1326-84525849DC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25061" y="4422836"/>
            <a:ext cx="1005840" cy="10058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B7255BC-E700-7731-C61E-08638B9C51EA}"/>
              </a:ext>
            </a:extLst>
          </p:cNvPr>
          <p:cNvSpPr txBox="1"/>
          <p:nvPr/>
        </p:nvSpPr>
        <p:spPr>
          <a:xfrm>
            <a:off x="1449496" y="2643318"/>
            <a:ext cx="19569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b="1" dirty="0">
                <a:latin typeface="Amasis MT Pro Medium" panose="02040604050005020304" pitchFamily="18" charset="0"/>
                <a:cs typeface="Aharoni" panose="020F0502020204030204" pitchFamily="2" charset="-79"/>
              </a:rPr>
              <a:t>27.9</a:t>
            </a:r>
            <a:br>
              <a:rPr lang="fr-FR" sz="6600" b="1" dirty="0">
                <a:latin typeface="Amasis MT Pro Medium" panose="02040604050005020304" pitchFamily="18" charset="0"/>
                <a:cs typeface="Aharoni" panose="020F0502020204030204" pitchFamily="2" charset="-79"/>
              </a:rPr>
            </a:br>
            <a:r>
              <a:rPr lang="fr-FR" sz="2400" b="1" dirty="0">
                <a:latin typeface="Amasis MT Pro Medium" panose="02040604050005020304" pitchFamily="18" charset="0"/>
                <a:cs typeface="Aharoni" panose="020F0502020204030204" pitchFamily="2" charset="-79"/>
              </a:rPr>
              <a:t>Billion DT</a:t>
            </a:r>
            <a:endParaRPr lang="en-US" sz="6600" b="1" dirty="0">
              <a:latin typeface="Amasis MT Pro Medium" panose="02040604050005020304" pitchFamily="18" charset="0"/>
              <a:cs typeface="Aharoni" panose="020F0502020204030204" pitchFamily="2" charset="-79"/>
            </a:endParaRPr>
          </a:p>
        </p:txBody>
      </p:sp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BB271C11-0D2E-EA7E-EC3B-8391C7D28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867" y="1782460"/>
            <a:ext cx="3190240" cy="5491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C5C6"/>
          </a:solidFill>
          <a:ln w="25400" cap="flat"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274552 w 3190240"/>
                      <a:gd name="csY0" fmla="*/ 0 h 549103"/>
                      <a:gd name="csX1" fmla="*/ 855602 w 3190240"/>
                      <a:gd name="csY1" fmla="*/ 0 h 549103"/>
                      <a:gd name="csX2" fmla="*/ 1304595 w 3190240"/>
                      <a:gd name="csY2" fmla="*/ 0 h 549103"/>
                      <a:gd name="csX3" fmla="*/ 1780000 w 3190240"/>
                      <a:gd name="csY3" fmla="*/ 0 h 549103"/>
                      <a:gd name="csX4" fmla="*/ 2255405 w 3190240"/>
                      <a:gd name="csY4" fmla="*/ 0 h 549103"/>
                      <a:gd name="csX5" fmla="*/ 2915689 w 3190240"/>
                      <a:gd name="csY5" fmla="*/ 0 h 549103"/>
                      <a:gd name="csX6" fmla="*/ 3190241 w 3190240"/>
                      <a:gd name="csY6" fmla="*/ 274552 h 549103"/>
                      <a:gd name="csX7" fmla="*/ 3190240 w 3190240"/>
                      <a:gd name="csY7" fmla="*/ 549103 h 549103"/>
                      <a:gd name="csX8" fmla="*/ 3190240 w 3190240"/>
                      <a:gd name="csY8" fmla="*/ 549103 h 549103"/>
                      <a:gd name="csX9" fmla="*/ 2658533 w 3190240"/>
                      <a:gd name="csY9" fmla="*/ 549103 h 549103"/>
                      <a:gd name="csX10" fmla="*/ 2126827 w 3190240"/>
                      <a:gd name="csY10" fmla="*/ 549103 h 549103"/>
                      <a:gd name="csX11" fmla="*/ 1658925 w 3190240"/>
                      <a:gd name="csY11" fmla="*/ 549103 h 549103"/>
                      <a:gd name="csX12" fmla="*/ 1095316 w 3190240"/>
                      <a:gd name="csY12" fmla="*/ 549103 h 549103"/>
                      <a:gd name="csX13" fmla="*/ 627414 w 3190240"/>
                      <a:gd name="csY13" fmla="*/ 549103 h 549103"/>
                      <a:gd name="csX14" fmla="*/ 0 w 3190240"/>
                      <a:gd name="csY14" fmla="*/ 549103 h 549103"/>
                      <a:gd name="csX15" fmla="*/ 0 w 3190240"/>
                      <a:gd name="csY15" fmla="*/ 549103 h 549103"/>
                      <a:gd name="csX16" fmla="*/ 0 w 3190240"/>
                      <a:gd name="csY16" fmla="*/ 274552 h 549103"/>
                      <a:gd name="csX17" fmla="*/ 274552 w 3190240"/>
                      <a:gd name="csY17" fmla="*/ 0 h 5491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3190240" h="549103" fill="none" extrusionOk="0">
                        <a:moveTo>
                          <a:pt x="274552" y="0"/>
                        </a:moveTo>
                        <a:cubicBezTo>
                          <a:pt x="478846" y="-22366"/>
                          <a:pt x="621822" y="3376"/>
                          <a:pt x="855602" y="0"/>
                        </a:cubicBezTo>
                        <a:cubicBezTo>
                          <a:pt x="1089382" y="-3376"/>
                          <a:pt x="1140254" y="36035"/>
                          <a:pt x="1304595" y="0"/>
                        </a:cubicBezTo>
                        <a:cubicBezTo>
                          <a:pt x="1468936" y="-36035"/>
                          <a:pt x="1567076" y="35168"/>
                          <a:pt x="1780000" y="0"/>
                        </a:cubicBezTo>
                        <a:cubicBezTo>
                          <a:pt x="1992925" y="-35168"/>
                          <a:pt x="2096411" y="148"/>
                          <a:pt x="2255405" y="0"/>
                        </a:cubicBezTo>
                        <a:cubicBezTo>
                          <a:pt x="2414400" y="-148"/>
                          <a:pt x="2633995" y="15952"/>
                          <a:pt x="2915689" y="0"/>
                        </a:cubicBezTo>
                        <a:cubicBezTo>
                          <a:pt x="3069955" y="25025"/>
                          <a:pt x="3215393" y="114461"/>
                          <a:pt x="3190241" y="274552"/>
                        </a:cubicBezTo>
                        <a:cubicBezTo>
                          <a:pt x="3189681" y="350956"/>
                          <a:pt x="3197657" y="45913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95131" y="560735"/>
                          <a:pt x="2819099" y="496731"/>
                          <a:pt x="2658533" y="549103"/>
                        </a:cubicBezTo>
                        <a:cubicBezTo>
                          <a:pt x="2497967" y="601475"/>
                          <a:pt x="2248402" y="537460"/>
                          <a:pt x="2126827" y="549103"/>
                        </a:cubicBezTo>
                        <a:cubicBezTo>
                          <a:pt x="2005252" y="560746"/>
                          <a:pt x="1770291" y="538955"/>
                          <a:pt x="1658925" y="549103"/>
                        </a:cubicBezTo>
                        <a:cubicBezTo>
                          <a:pt x="1547559" y="559251"/>
                          <a:pt x="1311371" y="547825"/>
                          <a:pt x="1095316" y="549103"/>
                        </a:cubicBezTo>
                        <a:cubicBezTo>
                          <a:pt x="879261" y="550381"/>
                          <a:pt x="831984" y="493925"/>
                          <a:pt x="627414" y="549103"/>
                        </a:cubicBezTo>
                        <a:cubicBezTo>
                          <a:pt x="422844" y="604281"/>
                          <a:pt x="166004" y="538288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1299" y="467894"/>
                          <a:pt x="9634" y="363670"/>
                          <a:pt x="0" y="274552"/>
                        </a:cubicBezTo>
                        <a:cubicBezTo>
                          <a:pt x="-22120" y="114441"/>
                          <a:pt x="154514" y="-31067"/>
                          <a:pt x="274552" y="0"/>
                        </a:cubicBezTo>
                        <a:close/>
                      </a:path>
                      <a:path w="3190240" h="549103" stroke="0" extrusionOk="0">
                        <a:moveTo>
                          <a:pt x="274552" y="0"/>
                        </a:moveTo>
                        <a:cubicBezTo>
                          <a:pt x="399970" y="-22710"/>
                          <a:pt x="654668" y="2484"/>
                          <a:pt x="776368" y="0"/>
                        </a:cubicBezTo>
                        <a:cubicBezTo>
                          <a:pt x="898068" y="-2484"/>
                          <a:pt x="1014447" y="38675"/>
                          <a:pt x="1225361" y="0"/>
                        </a:cubicBezTo>
                        <a:cubicBezTo>
                          <a:pt x="1436275" y="-38675"/>
                          <a:pt x="1562490" y="1481"/>
                          <a:pt x="1806411" y="0"/>
                        </a:cubicBezTo>
                        <a:cubicBezTo>
                          <a:pt x="2050332" y="-1481"/>
                          <a:pt x="2135571" y="31241"/>
                          <a:pt x="2308227" y="0"/>
                        </a:cubicBezTo>
                        <a:cubicBezTo>
                          <a:pt x="2480883" y="-31241"/>
                          <a:pt x="2718760" y="30376"/>
                          <a:pt x="2915689" y="0"/>
                        </a:cubicBezTo>
                        <a:cubicBezTo>
                          <a:pt x="3070025" y="-10011"/>
                          <a:pt x="3167717" y="108152"/>
                          <a:pt x="3190241" y="274552"/>
                        </a:cubicBezTo>
                        <a:cubicBezTo>
                          <a:pt x="3202225" y="346567"/>
                          <a:pt x="3185783" y="46150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65458" y="595554"/>
                          <a:pt x="2853283" y="523738"/>
                          <a:pt x="2658533" y="549103"/>
                        </a:cubicBezTo>
                        <a:cubicBezTo>
                          <a:pt x="2463783" y="574468"/>
                          <a:pt x="2344165" y="513624"/>
                          <a:pt x="2222534" y="549103"/>
                        </a:cubicBezTo>
                        <a:cubicBezTo>
                          <a:pt x="2100903" y="584582"/>
                          <a:pt x="1860042" y="508330"/>
                          <a:pt x="1690827" y="549103"/>
                        </a:cubicBezTo>
                        <a:cubicBezTo>
                          <a:pt x="1521612" y="589876"/>
                          <a:pt x="1302742" y="499121"/>
                          <a:pt x="1159121" y="549103"/>
                        </a:cubicBezTo>
                        <a:cubicBezTo>
                          <a:pt x="1015500" y="599085"/>
                          <a:pt x="866131" y="516064"/>
                          <a:pt x="659316" y="549103"/>
                        </a:cubicBezTo>
                        <a:cubicBezTo>
                          <a:pt x="452502" y="582142"/>
                          <a:pt x="195622" y="517307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699" y="492953"/>
                          <a:pt x="30684" y="394117"/>
                          <a:pt x="0" y="274552"/>
                        </a:cubicBezTo>
                        <a:cubicBezTo>
                          <a:pt x="-29017" y="102900"/>
                          <a:pt x="108031" y="-1057"/>
                          <a:pt x="274552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DA562B-2D30-354C-CE43-A0191CB33313}"/>
              </a:ext>
            </a:extLst>
          </p:cNvPr>
          <p:cNvSpPr txBox="1"/>
          <p:nvPr/>
        </p:nvSpPr>
        <p:spPr>
          <a:xfrm>
            <a:off x="832866" y="1762522"/>
            <a:ext cx="319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atin typeface="Arial Rounded MT Bold" panose="020F0704030504030204" pitchFamily="34" charset="0"/>
              </a:rPr>
              <a:t>Volume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37037C5-AB37-9FA4-7D30-05FC9F80EC5D}"/>
              </a:ext>
            </a:extLst>
          </p:cNvPr>
          <p:cNvSpPr txBox="1"/>
          <p:nvPr/>
        </p:nvSpPr>
        <p:spPr>
          <a:xfrm>
            <a:off x="832866" y="5591466"/>
            <a:ext cx="319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badi ExtraLight" panose="020B0204020104020204" pitchFamily="34" charset="0"/>
              </a:rPr>
              <a:t>BCT via </a:t>
            </a:r>
            <a:r>
              <a:rPr lang="en-US" sz="1200" dirty="0" err="1">
                <a:latin typeface="Abadi ExtraLight" panose="020B0204020104020204" pitchFamily="34" charset="0"/>
              </a:rPr>
              <a:t>L'Économiste</a:t>
            </a:r>
            <a:r>
              <a:rPr lang="en-US" sz="1200" dirty="0">
                <a:latin typeface="Abadi ExtraLight" panose="020B0204020104020204" pitchFamily="34" charset="0"/>
              </a:rPr>
              <a:t> </a:t>
            </a:r>
            <a:r>
              <a:rPr lang="en-US" sz="1200" dirty="0" err="1">
                <a:latin typeface="Abadi ExtraLight" panose="020B0204020104020204" pitchFamily="34" charset="0"/>
              </a:rPr>
              <a:t>Maghrébin</a:t>
            </a:r>
            <a:r>
              <a:rPr lang="en-US" sz="1200" dirty="0">
                <a:latin typeface="Abadi ExtraLight" panose="020B0204020104020204" pitchFamily="34" charset="0"/>
              </a:rPr>
              <a:t>, 2024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3D24208-1663-155C-C99A-AA1EF5CDC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1132" y="1805462"/>
            <a:ext cx="3190240" cy="4340324"/>
          </a:xfrm>
          <a:prstGeom prst="round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B6B6B6"/>
              </a:gs>
            </a:gsLst>
            <a:lin ang="540000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DA1C39-82FB-759E-4EC6-4D9D8D5802E9}"/>
              </a:ext>
            </a:extLst>
          </p:cNvPr>
          <p:cNvSpPr txBox="1"/>
          <p:nvPr/>
        </p:nvSpPr>
        <p:spPr>
          <a:xfrm>
            <a:off x="8670100" y="2659052"/>
            <a:ext cx="26723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atin typeface="Amasis MT Pro Medium" panose="02040604050005020304" pitchFamily="18" charset="0"/>
              </a:rPr>
              <a:t>+81%</a:t>
            </a:r>
            <a:br>
              <a:rPr lang="en-US" sz="7200" b="1" dirty="0">
                <a:latin typeface="Amasis MT Pro Medium" panose="02040604050005020304" pitchFamily="18" charset="0"/>
              </a:rPr>
            </a:br>
            <a:r>
              <a:rPr lang="en-US" sz="2400" b="1" dirty="0">
                <a:latin typeface="Amasis MT Pro Medium" panose="02040604050005020304" pitchFamily="18" charset="0"/>
              </a:rPr>
              <a:t>Mobile payments</a:t>
            </a:r>
            <a:endParaRPr lang="en-US" sz="9600" b="1" dirty="0">
              <a:latin typeface="Amasis MT Pro Medium" panose="02040604050005020304" pitchFamily="18" charset="0"/>
              <a:cs typeface="Aharoni" panose="020F0502020204030204" pitchFamily="2" charset="-79"/>
            </a:endParaRP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877FD9B4-380F-A733-8E51-0B07CCA54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1132" y="1798194"/>
            <a:ext cx="3190240" cy="5491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C5C6"/>
          </a:solidFill>
          <a:ln w="25400" cap="flat"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274552 w 3190240"/>
                      <a:gd name="csY0" fmla="*/ 0 h 549103"/>
                      <a:gd name="csX1" fmla="*/ 855602 w 3190240"/>
                      <a:gd name="csY1" fmla="*/ 0 h 549103"/>
                      <a:gd name="csX2" fmla="*/ 1304595 w 3190240"/>
                      <a:gd name="csY2" fmla="*/ 0 h 549103"/>
                      <a:gd name="csX3" fmla="*/ 1780000 w 3190240"/>
                      <a:gd name="csY3" fmla="*/ 0 h 549103"/>
                      <a:gd name="csX4" fmla="*/ 2255405 w 3190240"/>
                      <a:gd name="csY4" fmla="*/ 0 h 549103"/>
                      <a:gd name="csX5" fmla="*/ 2915689 w 3190240"/>
                      <a:gd name="csY5" fmla="*/ 0 h 549103"/>
                      <a:gd name="csX6" fmla="*/ 3190241 w 3190240"/>
                      <a:gd name="csY6" fmla="*/ 274552 h 549103"/>
                      <a:gd name="csX7" fmla="*/ 3190240 w 3190240"/>
                      <a:gd name="csY7" fmla="*/ 549103 h 549103"/>
                      <a:gd name="csX8" fmla="*/ 3190240 w 3190240"/>
                      <a:gd name="csY8" fmla="*/ 549103 h 549103"/>
                      <a:gd name="csX9" fmla="*/ 2658533 w 3190240"/>
                      <a:gd name="csY9" fmla="*/ 549103 h 549103"/>
                      <a:gd name="csX10" fmla="*/ 2126827 w 3190240"/>
                      <a:gd name="csY10" fmla="*/ 549103 h 549103"/>
                      <a:gd name="csX11" fmla="*/ 1658925 w 3190240"/>
                      <a:gd name="csY11" fmla="*/ 549103 h 549103"/>
                      <a:gd name="csX12" fmla="*/ 1095316 w 3190240"/>
                      <a:gd name="csY12" fmla="*/ 549103 h 549103"/>
                      <a:gd name="csX13" fmla="*/ 627414 w 3190240"/>
                      <a:gd name="csY13" fmla="*/ 549103 h 549103"/>
                      <a:gd name="csX14" fmla="*/ 0 w 3190240"/>
                      <a:gd name="csY14" fmla="*/ 549103 h 549103"/>
                      <a:gd name="csX15" fmla="*/ 0 w 3190240"/>
                      <a:gd name="csY15" fmla="*/ 549103 h 549103"/>
                      <a:gd name="csX16" fmla="*/ 0 w 3190240"/>
                      <a:gd name="csY16" fmla="*/ 274552 h 549103"/>
                      <a:gd name="csX17" fmla="*/ 274552 w 3190240"/>
                      <a:gd name="csY17" fmla="*/ 0 h 5491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3190240" h="549103" fill="none" extrusionOk="0">
                        <a:moveTo>
                          <a:pt x="274552" y="0"/>
                        </a:moveTo>
                        <a:cubicBezTo>
                          <a:pt x="478846" y="-22366"/>
                          <a:pt x="621822" y="3376"/>
                          <a:pt x="855602" y="0"/>
                        </a:cubicBezTo>
                        <a:cubicBezTo>
                          <a:pt x="1089382" y="-3376"/>
                          <a:pt x="1140254" y="36035"/>
                          <a:pt x="1304595" y="0"/>
                        </a:cubicBezTo>
                        <a:cubicBezTo>
                          <a:pt x="1468936" y="-36035"/>
                          <a:pt x="1567076" y="35168"/>
                          <a:pt x="1780000" y="0"/>
                        </a:cubicBezTo>
                        <a:cubicBezTo>
                          <a:pt x="1992925" y="-35168"/>
                          <a:pt x="2096411" y="148"/>
                          <a:pt x="2255405" y="0"/>
                        </a:cubicBezTo>
                        <a:cubicBezTo>
                          <a:pt x="2414400" y="-148"/>
                          <a:pt x="2633995" y="15952"/>
                          <a:pt x="2915689" y="0"/>
                        </a:cubicBezTo>
                        <a:cubicBezTo>
                          <a:pt x="3069955" y="25025"/>
                          <a:pt x="3215393" y="114461"/>
                          <a:pt x="3190241" y="274552"/>
                        </a:cubicBezTo>
                        <a:cubicBezTo>
                          <a:pt x="3189681" y="350956"/>
                          <a:pt x="3197657" y="45913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95131" y="560735"/>
                          <a:pt x="2819099" y="496731"/>
                          <a:pt x="2658533" y="549103"/>
                        </a:cubicBezTo>
                        <a:cubicBezTo>
                          <a:pt x="2497967" y="601475"/>
                          <a:pt x="2248402" y="537460"/>
                          <a:pt x="2126827" y="549103"/>
                        </a:cubicBezTo>
                        <a:cubicBezTo>
                          <a:pt x="2005252" y="560746"/>
                          <a:pt x="1770291" y="538955"/>
                          <a:pt x="1658925" y="549103"/>
                        </a:cubicBezTo>
                        <a:cubicBezTo>
                          <a:pt x="1547559" y="559251"/>
                          <a:pt x="1311371" y="547825"/>
                          <a:pt x="1095316" y="549103"/>
                        </a:cubicBezTo>
                        <a:cubicBezTo>
                          <a:pt x="879261" y="550381"/>
                          <a:pt x="831984" y="493925"/>
                          <a:pt x="627414" y="549103"/>
                        </a:cubicBezTo>
                        <a:cubicBezTo>
                          <a:pt x="422844" y="604281"/>
                          <a:pt x="166004" y="538288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1299" y="467894"/>
                          <a:pt x="9634" y="363670"/>
                          <a:pt x="0" y="274552"/>
                        </a:cubicBezTo>
                        <a:cubicBezTo>
                          <a:pt x="-22120" y="114441"/>
                          <a:pt x="154514" y="-31067"/>
                          <a:pt x="274552" y="0"/>
                        </a:cubicBezTo>
                        <a:close/>
                      </a:path>
                      <a:path w="3190240" h="549103" stroke="0" extrusionOk="0">
                        <a:moveTo>
                          <a:pt x="274552" y="0"/>
                        </a:moveTo>
                        <a:cubicBezTo>
                          <a:pt x="399970" y="-22710"/>
                          <a:pt x="654668" y="2484"/>
                          <a:pt x="776368" y="0"/>
                        </a:cubicBezTo>
                        <a:cubicBezTo>
                          <a:pt x="898068" y="-2484"/>
                          <a:pt x="1014447" y="38675"/>
                          <a:pt x="1225361" y="0"/>
                        </a:cubicBezTo>
                        <a:cubicBezTo>
                          <a:pt x="1436275" y="-38675"/>
                          <a:pt x="1562490" y="1481"/>
                          <a:pt x="1806411" y="0"/>
                        </a:cubicBezTo>
                        <a:cubicBezTo>
                          <a:pt x="2050332" y="-1481"/>
                          <a:pt x="2135571" y="31241"/>
                          <a:pt x="2308227" y="0"/>
                        </a:cubicBezTo>
                        <a:cubicBezTo>
                          <a:pt x="2480883" y="-31241"/>
                          <a:pt x="2718760" y="30376"/>
                          <a:pt x="2915689" y="0"/>
                        </a:cubicBezTo>
                        <a:cubicBezTo>
                          <a:pt x="3070025" y="-10011"/>
                          <a:pt x="3167717" y="108152"/>
                          <a:pt x="3190241" y="274552"/>
                        </a:cubicBezTo>
                        <a:cubicBezTo>
                          <a:pt x="3202225" y="346567"/>
                          <a:pt x="3185783" y="46150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65458" y="595554"/>
                          <a:pt x="2853283" y="523738"/>
                          <a:pt x="2658533" y="549103"/>
                        </a:cubicBezTo>
                        <a:cubicBezTo>
                          <a:pt x="2463783" y="574468"/>
                          <a:pt x="2344165" y="513624"/>
                          <a:pt x="2222534" y="549103"/>
                        </a:cubicBezTo>
                        <a:cubicBezTo>
                          <a:pt x="2100903" y="584582"/>
                          <a:pt x="1860042" y="508330"/>
                          <a:pt x="1690827" y="549103"/>
                        </a:cubicBezTo>
                        <a:cubicBezTo>
                          <a:pt x="1521612" y="589876"/>
                          <a:pt x="1302742" y="499121"/>
                          <a:pt x="1159121" y="549103"/>
                        </a:cubicBezTo>
                        <a:cubicBezTo>
                          <a:pt x="1015500" y="599085"/>
                          <a:pt x="866131" y="516064"/>
                          <a:pt x="659316" y="549103"/>
                        </a:cubicBezTo>
                        <a:cubicBezTo>
                          <a:pt x="452502" y="582142"/>
                          <a:pt x="195622" y="517307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699" y="492953"/>
                          <a:pt x="30684" y="394117"/>
                          <a:pt x="0" y="274552"/>
                        </a:cubicBezTo>
                        <a:cubicBezTo>
                          <a:pt x="-29017" y="102900"/>
                          <a:pt x="108031" y="-1057"/>
                          <a:pt x="274552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4F44BB-5EB8-09F0-9457-9BF2A7CE961A}"/>
              </a:ext>
            </a:extLst>
          </p:cNvPr>
          <p:cNvSpPr txBox="1"/>
          <p:nvPr/>
        </p:nvSpPr>
        <p:spPr>
          <a:xfrm>
            <a:off x="8411131" y="1778256"/>
            <a:ext cx="319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atin typeface="Arial Rounded MT Bold" panose="020F0704030504030204" pitchFamily="34" charset="0"/>
              </a:rPr>
              <a:t>Switch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309BDB-E3F8-3890-21F6-F5D76E5B6514}"/>
              </a:ext>
            </a:extLst>
          </p:cNvPr>
          <p:cNvSpPr txBox="1"/>
          <p:nvPr/>
        </p:nvSpPr>
        <p:spPr>
          <a:xfrm>
            <a:off x="8411131" y="5607200"/>
            <a:ext cx="319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Abadi ExtraLight" panose="020B0204020104020204" pitchFamily="34" charset="0"/>
              </a:rPr>
              <a:t>Tunisie</a:t>
            </a:r>
            <a:r>
              <a:rPr lang="en-US" sz="1200" dirty="0">
                <a:latin typeface="Abadi ExtraLight" panose="020B0204020104020204" pitchFamily="34" charset="0"/>
              </a:rPr>
              <a:t> Numérique / BCT, 2025</a:t>
            </a:r>
            <a:endParaRPr lang="en-US" sz="1000" dirty="0">
              <a:latin typeface="Abadi ExtraLight" panose="020B0204020104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7BC375F-E68D-2B89-9C6B-ADDACB54B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0266" y="1816934"/>
            <a:ext cx="3190240" cy="4340324"/>
          </a:xfrm>
          <a:prstGeom prst="round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B6B6B6"/>
              </a:gs>
            </a:gsLst>
            <a:lin ang="540000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41F688-133E-9A8F-411B-5DEB95693EAC}"/>
              </a:ext>
            </a:extLst>
          </p:cNvPr>
          <p:cNvSpPr txBox="1"/>
          <p:nvPr/>
        </p:nvSpPr>
        <p:spPr>
          <a:xfrm>
            <a:off x="4482742" y="2704075"/>
            <a:ext cx="3485274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Amasis MT Pro Medium" panose="02040604050005020304" pitchFamily="18" charset="0"/>
              </a:rPr>
              <a:t>+10.6%</a:t>
            </a:r>
            <a:br>
              <a:rPr lang="fr-FR" sz="6600" b="1" dirty="0">
                <a:latin typeface="Amasis MT Pro Medium" panose="02040604050005020304" pitchFamily="18" charset="0"/>
                <a:cs typeface="Aharoni" panose="020F0502020204030204" pitchFamily="2" charset="-79"/>
              </a:rPr>
            </a:br>
            <a:r>
              <a:rPr lang="fr-FR" sz="2000" b="1" dirty="0" err="1">
                <a:latin typeface="Amasis MT Pro Medium" panose="02040604050005020304" pitchFamily="18" charset="0"/>
                <a:cs typeface="Aharoni" panose="020F0502020204030204" pitchFamily="2" charset="-79"/>
              </a:rPr>
              <a:t>Electronic</a:t>
            </a:r>
            <a:r>
              <a:rPr lang="fr-FR" sz="2000" b="1" dirty="0">
                <a:latin typeface="Amasis MT Pro Medium" panose="02040604050005020304" pitchFamily="18" charset="0"/>
                <a:cs typeface="Aharoni" panose="020F0502020204030204" pitchFamily="2" charset="-79"/>
              </a:rPr>
              <a:t> transactions</a:t>
            </a:r>
            <a:endParaRPr lang="en-US" sz="6600" b="1" dirty="0">
              <a:latin typeface="Amasis MT Pro Medium" panose="02040604050005020304" pitchFamily="18" charset="0"/>
              <a:cs typeface="Aharoni" panose="020F0502020204030204" pitchFamily="2" charset="-79"/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6EF4D35D-A6B2-77AB-EA18-69A296382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30266" y="1809666"/>
            <a:ext cx="3190240" cy="5491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C5C6"/>
          </a:solidFill>
          <a:ln w="25400" cap="flat"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274552 w 3190240"/>
                      <a:gd name="csY0" fmla="*/ 0 h 549103"/>
                      <a:gd name="csX1" fmla="*/ 855602 w 3190240"/>
                      <a:gd name="csY1" fmla="*/ 0 h 549103"/>
                      <a:gd name="csX2" fmla="*/ 1304595 w 3190240"/>
                      <a:gd name="csY2" fmla="*/ 0 h 549103"/>
                      <a:gd name="csX3" fmla="*/ 1780000 w 3190240"/>
                      <a:gd name="csY3" fmla="*/ 0 h 549103"/>
                      <a:gd name="csX4" fmla="*/ 2255405 w 3190240"/>
                      <a:gd name="csY4" fmla="*/ 0 h 549103"/>
                      <a:gd name="csX5" fmla="*/ 2915689 w 3190240"/>
                      <a:gd name="csY5" fmla="*/ 0 h 549103"/>
                      <a:gd name="csX6" fmla="*/ 3190241 w 3190240"/>
                      <a:gd name="csY6" fmla="*/ 274552 h 549103"/>
                      <a:gd name="csX7" fmla="*/ 3190240 w 3190240"/>
                      <a:gd name="csY7" fmla="*/ 549103 h 549103"/>
                      <a:gd name="csX8" fmla="*/ 3190240 w 3190240"/>
                      <a:gd name="csY8" fmla="*/ 549103 h 549103"/>
                      <a:gd name="csX9" fmla="*/ 2658533 w 3190240"/>
                      <a:gd name="csY9" fmla="*/ 549103 h 549103"/>
                      <a:gd name="csX10" fmla="*/ 2126827 w 3190240"/>
                      <a:gd name="csY10" fmla="*/ 549103 h 549103"/>
                      <a:gd name="csX11" fmla="*/ 1658925 w 3190240"/>
                      <a:gd name="csY11" fmla="*/ 549103 h 549103"/>
                      <a:gd name="csX12" fmla="*/ 1095316 w 3190240"/>
                      <a:gd name="csY12" fmla="*/ 549103 h 549103"/>
                      <a:gd name="csX13" fmla="*/ 627414 w 3190240"/>
                      <a:gd name="csY13" fmla="*/ 549103 h 549103"/>
                      <a:gd name="csX14" fmla="*/ 0 w 3190240"/>
                      <a:gd name="csY14" fmla="*/ 549103 h 549103"/>
                      <a:gd name="csX15" fmla="*/ 0 w 3190240"/>
                      <a:gd name="csY15" fmla="*/ 549103 h 549103"/>
                      <a:gd name="csX16" fmla="*/ 0 w 3190240"/>
                      <a:gd name="csY16" fmla="*/ 274552 h 549103"/>
                      <a:gd name="csX17" fmla="*/ 274552 w 3190240"/>
                      <a:gd name="csY17" fmla="*/ 0 h 5491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3190240" h="549103" fill="none" extrusionOk="0">
                        <a:moveTo>
                          <a:pt x="274552" y="0"/>
                        </a:moveTo>
                        <a:cubicBezTo>
                          <a:pt x="478846" y="-22366"/>
                          <a:pt x="621822" y="3376"/>
                          <a:pt x="855602" y="0"/>
                        </a:cubicBezTo>
                        <a:cubicBezTo>
                          <a:pt x="1089382" y="-3376"/>
                          <a:pt x="1140254" y="36035"/>
                          <a:pt x="1304595" y="0"/>
                        </a:cubicBezTo>
                        <a:cubicBezTo>
                          <a:pt x="1468936" y="-36035"/>
                          <a:pt x="1567076" y="35168"/>
                          <a:pt x="1780000" y="0"/>
                        </a:cubicBezTo>
                        <a:cubicBezTo>
                          <a:pt x="1992925" y="-35168"/>
                          <a:pt x="2096411" y="148"/>
                          <a:pt x="2255405" y="0"/>
                        </a:cubicBezTo>
                        <a:cubicBezTo>
                          <a:pt x="2414400" y="-148"/>
                          <a:pt x="2633995" y="15952"/>
                          <a:pt x="2915689" y="0"/>
                        </a:cubicBezTo>
                        <a:cubicBezTo>
                          <a:pt x="3069955" y="25025"/>
                          <a:pt x="3215393" y="114461"/>
                          <a:pt x="3190241" y="274552"/>
                        </a:cubicBezTo>
                        <a:cubicBezTo>
                          <a:pt x="3189681" y="350956"/>
                          <a:pt x="3197657" y="45913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95131" y="560735"/>
                          <a:pt x="2819099" y="496731"/>
                          <a:pt x="2658533" y="549103"/>
                        </a:cubicBezTo>
                        <a:cubicBezTo>
                          <a:pt x="2497967" y="601475"/>
                          <a:pt x="2248402" y="537460"/>
                          <a:pt x="2126827" y="549103"/>
                        </a:cubicBezTo>
                        <a:cubicBezTo>
                          <a:pt x="2005252" y="560746"/>
                          <a:pt x="1770291" y="538955"/>
                          <a:pt x="1658925" y="549103"/>
                        </a:cubicBezTo>
                        <a:cubicBezTo>
                          <a:pt x="1547559" y="559251"/>
                          <a:pt x="1311371" y="547825"/>
                          <a:pt x="1095316" y="549103"/>
                        </a:cubicBezTo>
                        <a:cubicBezTo>
                          <a:pt x="879261" y="550381"/>
                          <a:pt x="831984" y="493925"/>
                          <a:pt x="627414" y="549103"/>
                        </a:cubicBezTo>
                        <a:cubicBezTo>
                          <a:pt x="422844" y="604281"/>
                          <a:pt x="166004" y="538288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1299" y="467894"/>
                          <a:pt x="9634" y="363670"/>
                          <a:pt x="0" y="274552"/>
                        </a:cubicBezTo>
                        <a:cubicBezTo>
                          <a:pt x="-22120" y="114441"/>
                          <a:pt x="154514" y="-31067"/>
                          <a:pt x="274552" y="0"/>
                        </a:cubicBezTo>
                        <a:close/>
                      </a:path>
                      <a:path w="3190240" h="549103" stroke="0" extrusionOk="0">
                        <a:moveTo>
                          <a:pt x="274552" y="0"/>
                        </a:moveTo>
                        <a:cubicBezTo>
                          <a:pt x="399970" y="-22710"/>
                          <a:pt x="654668" y="2484"/>
                          <a:pt x="776368" y="0"/>
                        </a:cubicBezTo>
                        <a:cubicBezTo>
                          <a:pt x="898068" y="-2484"/>
                          <a:pt x="1014447" y="38675"/>
                          <a:pt x="1225361" y="0"/>
                        </a:cubicBezTo>
                        <a:cubicBezTo>
                          <a:pt x="1436275" y="-38675"/>
                          <a:pt x="1562490" y="1481"/>
                          <a:pt x="1806411" y="0"/>
                        </a:cubicBezTo>
                        <a:cubicBezTo>
                          <a:pt x="2050332" y="-1481"/>
                          <a:pt x="2135571" y="31241"/>
                          <a:pt x="2308227" y="0"/>
                        </a:cubicBezTo>
                        <a:cubicBezTo>
                          <a:pt x="2480883" y="-31241"/>
                          <a:pt x="2718760" y="30376"/>
                          <a:pt x="2915689" y="0"/>
                        </a:cubicBezTo>
                        <a:cubicBezTo>
                          <a:pt x="3070025" y="-10011"/>
                          <a:pt x="3167717" y="108152"/>
                          <a:pt x="3190241" y="274552"/>
                        </a:cubicBezTo>
                        <a:cubicBezTo>
                          <a:pt x="3202225" y="346567"/>
                          <a:pt x="3185783" y="46150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65458" y="595554"/>
                          <a:pt x="2853283" y="523738"/>
                          <a:pt x="2658533" y="549103"/>
                        </a:cubicBezTo>
                        <a:cubicBezTo>
                          <a:pt x="2463783" y="574468"/>
                          <a:pt x="2344165" y="513624"/>
                          <a:pt x="2222534" y="549103"/>
                        </a:cubicBezTo>
                        <a:cubicBezTo>
                          <a:pt x="2100903" y="584582"/>
                          <a:pt x="1860042" y="508330"/>
                          <a:pt x="1690827" y="549103"/>
                        </a:cubicBezTo>
                        <a:cubicBezTo>
                          <a:pt x="1521612" y="589876"/>
                          <a:pt x="1302742" y="499121"/>
                          <a:pt x="1159121" y="549103"/>
                        </a:cubicBezTo>
                        <a:cubicBezTo>
                          <a:pt x="1015500" y="599085"/>
                          <a:pt x="866131" y="516064"/>
                          <a:pt x="659316" y="549103"/>
                        </a:cubicBezTo>
                        <a:cubicBezTo>
                          <a:pt x="452502" y="582142"/>
                          <a:pt x="195622" y="517307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699" y="492953"/>
                          <a:pt x="30684" y="394117"/>
                          <a:pt x="0" y="274552"/>
                        </a:cubicBezTo>
                        <a:cubicBezTo>
                          <a:pt x="-29017" y="102900"/>
                          <a:pt x="108031" y="-1057"/>
                          <a:pt x="274552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1046DB-C8E9-91E5-1C30-1C93734FFC4E}"/>
              </a:ext>
            </a:extLst>
          </p:cNvPr>
          <p:cNvSpPr txBox="1"/>
          <p:nvPr/>
        </p:nvSpPr>
        <p:spPr>
          <a:xfrm>
            <a:off x="4630265" y="1789728"/>
            <a:ext cx="319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err="1">
                <a:latin typeface="Arial Rounded MT Bold" panose="020F0704030504030204" pitchFamily="34" charset="0"/>
              </a:rPr>
              <a:t>Growth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645CBD-9885-5C90-0170-05A70A72AED8}"/>
              </a:ext>
            </a:extLst>
          </p:cNvPr>
          <p:cNvSpPr txBox="1"/>
          <p:nvPr/>
        </p:nvSpPr>
        <p:spPr>
          <a:xfrm>
            <a:off x="4630265" y="5618672"/>
            <a:ext cx="319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badi ExtraLight" panose="020B0204020104020204" pitchFamily="34" charset="0"/>
              </a:rPr>
              <a:t>BCT via </a:t>
            </a:r>
            <a:r>
              <a:rPr lang="en-US" sz="1200" dirty="0" err="1">
                <a:latin typeface="Abadi ExtraLight" panose="020B0204020104020204" pitchFamily="34" charset="0"/>
              </a:rPr>
              <a:t>L'Économiste</a:t>
            </a:r>
            <a:r>
              <a:rPr lang="en-US" sz="1200" dirty="0">
                <a:latin typeface="Abadi ExtraLight" panose="020B0204020104020204" pitchFamily="34" charset="0"/>
              </a:rPr>
              <a:t> </a:t>
            </a:r>
            <a:r>
              <a:rPr lang="en-US" sz="1200" dirty="0" err="1">
                <a:latin typeface="Abadi ExtraLight" panose="020B0204020104020204" pitchFamily="34" charset="0"/>
              </a:rPr>
              <a:t>Maghrébin</a:t>
            </a:r>
            <a:r>
              <a:rPr lang="en-US" sz="1200" dirty="0">
                <a:latin typeface="Abadi ExtraLight" panose="020B0204020104020204" pitchFamily="34" charset="0"/>
              </a:rPr>
              <a:t>, 2024</a:t>
            </a:r>
          </a:p>
        </p:txBody>
      </p:sp>
      <p:pic>
        <p:nvPicPr>
          <p:cNvPr id="28" name="Graphic 27" descr="Smart Phone with solid fill">
            <a:extLst>
              <a:ext uri="{FF2B5EF4-FFF2-40B4-BE49-F238E27FC236}">
                <a16:creationId xmlns:a16="http://schemas.microsoft.com/office/drawing/2014/main" id="{BB974D9F-3C47-E937-A7FE-5D643B8B4C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4704" y="4343503"/>
            <a:ext cx="1143000" cy="11430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B3948B0D-992E-09D7-2852-AE99EFD0D0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1019" y="4304909"/>
            <a:ext cx="1188720" cy="1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29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21C2E-D742-27A4-5D57-1A5C2A7F2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C96701C5-FE6D-8312-FCD7-78E5CA726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4FCD18-D3EF-6EFD-B6A3-1EC1657CC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E7D537B-5049-1C81-C645-FF42D55634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834268" y="2602578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C439617-274E-AA74-C133-F830892F36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BF63CE-3EEB-33FA-1A53-C2C9BB9126FA}"/>
              </a:ext>
            </a:extLst>
          </p:cNvPr>
          <p:cNvSpPr txBox="1"/>
          <p:nvPr/>
        </p:nvSpPr>
        <p:spPr>
          <a:xfrm>
            <a:off x="2250880" y="2613392"/>
            <a:ext cx="76902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b="1" dirty="0">
                <a:latin typeface="Aptos Slab Black" panose="020B0004020202020204" pitchFamily="34" charset="0"/>
              </a:rPr>
              <a:t>Problematic</a:t>
            </a:r>
            <a:endParaRPr lang="en-US" sz="10000" dirty="0">
              <a:latin typeface="Aptos Slab Black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99173CD-78DD-9691-19A9-16A797141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867" y="7299429"/>
            <a:ext cx="3190240" cy="4340324"/>
          </a:xfrm>
          <a:prstGeom prst="round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B6B6B6"/>
              </a:gs>
            </a:gsLst>
            <a:lin ang="540000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438A8-2B0D-5A4E-A1B4-419114EED2F8}"/>
              </a:ext>
            </a:extLst>
          </p:cNvPr>
          <p:cNvSpPr txBox="1"/>
          <p:nvPr/>
        </p:nvSpPr>
        <p:spPr>
          <a:xfrm>
            <a:off x="832867" y="8161967"/>
            <a:ext cx="3190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b="1" dirty="0">
                <a:latin typeface="Amasis MT Pro Medium" panose="02040604050005020304" pitchFamily="18" charset="0"/>
                <a:cs typeface="Aharoni" panose="020F0502020204030204" pitchFamily="2" charset="-79"/>
              </a:rPr>
              <a:t>+400</a:t>
            </a:r>
            <a:br>
              <a:rPr lang="fr-FR" sz="6600" b="1" dirty="0">
                <a:latin typeface="Amasis MT Pro Medium" panose="02040604050005020304" pitchFamily="18" charset="0"/>
                <a:cs typeface="Aharoni" panose="020F0502020204030204" pitchFamily="2" charset="-79"/>
              </a:rPr>
            </a:br>
            <a:r>
              <a:rPr lang="fr-FR" sz="2400" b="1" dirty="0">
                <a:latin typeface="Amasis MT Pro Medium" panose="02040604050005020304" pitchFamily="18" charset="0"/>
                <a:cs typeface="Aharoni" panose="020F0502020204030204" pitchFamily="2" charset="-79"/>
              </a:rPr>
              <a:t>Billion $</a:t>
            </a:r>
            <a:endParaRPr lang="en-US" sz="6000" b="1" dirty="0">
              <a:latin typeface="Amasis MT Pro Medium" panose="02040604050005020304" pitchFamily="18" charset="0"/>
              <a:cs typeface="Aharoni" panose="020F0502020204030204" pitchFamily="2" charset="-79"/>
            </a:endParaRPr>
          </a:p>
        </p:txBody>
      </p:sp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2E0CD404-5E7E-0141-6454-D809ABC25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867" y="7292161"/>
            <a:ext cx="3190240" cy="5491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C5C6"/>
          </a:solidFill>
          <a:ln w="25400" cap="flat"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274552 w 3190240"/>
                      <a:gd name="csY0" fmla="*/ 0 h 549103"/>
                      <a:gd name="csX1" fmla="*/ 855602 w 3190240"/>
                      <a:gd name="csY1" fmla="*/ 0 h 549103"/>
                      <a:gd name="csX2" fmla="*/ 1304595 w 3190240"/>
                      <a:gd name="csY2" fmla="*/ 0 h 549103"/>
                      <a:gd name="csX3" fmla="*/ 1780000 w 3190240"/>
                      <a:gd name="csY3" fmla="*/ 0 h 549103"/>
                      <a:gd name="csX4" fmla="*/ 2255405 w 3190240"/>
                      <a:gd name="csY4" fmla="*/ 0 h 549103"/>
                      <a:gd name="csX5" fmla="*/ 2915689 w 3190240"/>
                      <a:gd name="csY5" fmla="*/ 0 h 549103"/>
                      <a:gd name="csX6" fmla="*/ 3190241 w 3190240"/>
                      <a:gd name="csY6" fmla="*/ 274552 h 549103"/>
                      <a:gd name="csX7" fmla="*/ 3190240 w 3190240"/>
                      <a:gd name="csY7" fmla="*/ 549103 h 549103"/>
                      <a:gd name="csX8" fmla="*/ 3190240 w 3190240"/>
                      <a:gd name="csY8" fmla="*/ 549103 h 549103"/>
                      <a:gd name="csX9" fmla="*/ 2658533 w 3190240"/>
                      <a:gd name="csY9" fmla="*/ 549103 h 549103"/>
                      <a:gd name="csX10" fmla="*/ 2126827 w 3190240"/>
                      <a:gd name="csY10" fmla="*/ 549103 h 549103"/>
                      <a:gd name="csX11" fmla="*/ 1658925 w 3190240"/>
                      <a:gd name="csY11" fmla="*/ 549103 h 549103"/>
                      <a:gd name="csX12" fmla="*/ 1095316 w 3190240"/>
                      <a:gd name="csY12" fmla="*/ 549103 h 549103"/>
                      <a:gd name="csX13" fmla="*/ 627414 w 3190240"/>
                      <a:gd name="csY13" fmla="*/ 549103 h 549103"/>
                      <a:gd name="csX14" fmla="*/ 0 w 3190240"/>
                      <a:gd name="csY14" fmla="*/ 549103 h 549103"/>
                      <a:gd name="csX15" fmla="*/ 0 w 3190240"/>
                      <a:gd name="csY15" fmla="*/ 549103 h 549103"/>
                      <a:gd name="csX16" fmla="*/ 0 w 3190240"/>
                      <a:gd name="csY16" fmla="*/ 274552 h 549103"/>
                      <a:gd name="csX17" fmla="*/ 274552 w 3190240"/>
                      <a:gd name="csY17" fmla="*/ 0 h 5491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3190240" h="549103" fill="none" extrusionOk="0">
                        <a:moveTo>
                          <a:pt x="274552" y="0"/>
                        </a:moveTo>
                        <a:cubicBezTo>
                          <a:pt x="478846" y="-22366"/>
                          <a:pt x="621822" y="3376"/>
                          <a:pt x="855602" y="0"/>
                        </a:cubicBezTo>
                        <a:cubicBezTo>
                          <a:pt x="1089382" y="-3376"/>
                          <a:pt x="1140254" y="36035"/>
                          <a:pt x="1304595" y="0"/>
                        </a:cubicBezTo>
                        <a:cubicBezTo>
                          <a:pt x="1468936" y="-36035"/>
                          <a:pt x="1567076" y="35168"/>
                          <a:pt x="1780000" y="0"/>
                        </a:cubicBezTo>
                        <a:cubicBezTo>
                          <a:pt x="1992925" y="-35168"/>
                          <a:pt x="2096411" y="148"/>
                          <a:pt x="2255405" y="0"/>
                        </a:cubicBezTo>
                        <a:cubicBezTo>
                          <a:pt x="2414400" y="-148"/>
                          <a:pt x="2633995" y="15952"/>
                          <a:pt x="2915689" y="0"/>
                        </a:cubicBezTo>
                        <a:cubicBezTo>
                          <a:pt x="3069955" y="25025"/>
                          <a:pt x="3215393" y="114461"/>
                          <a:pt x="3190241" y="274552"/>
                        </a:cubicBezTo>
                        <a:cubicBezTo>
                          <a:pt x="3189681" y="350956"/>
                          <a:pt x="3197657" y="45913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95131" y="560735"/>
                          <a:pt x="2819099" y="496731"/>
                          <a:pt x="2658533" y="549103"/>
                        </a:cubicBezTo>
                        <a:cubicBezTo>
                          <a:pt x="2497967" y="601475"/>
                          <a:pt x="2248402" y="537460"/>
                          <a:pt x="2126827" y="549103"/>
                        </a:cubicBezTo>
                        <a:cubicBezTo>
                          <a:pt x="2005252" y="560746"/>
                          <a:pt x="1770291" y="538955"/>
                          <a:pt x="1658925" y="549103"/>
                        </a:cubicBezTo>
                        <a:cubicBezTo>
                          <a:pt x="1547559" y="559251"/>
                          <a:pt x="1311371" y="547825"/>
                          <a:pt x="1095316" y="549103"/>
                        </a:cubicBezTo>
                        <a:cubicBezTo>
                          <a:pt x="879261" y="550381"/>
                          <a:pt x="831984" y="493925"/>
                          <a:pt x="627414" y="549103"/>
                        </a:cubicBezTo>
                        <a:cubicBezTo>
                          <a:pt x="422844" y="604281"/>
                          <a:pt x="166004" y="538288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1299" y="467894"/>
                          <a:pt x="9634" y="363670"/>
                          <a:pt x="0" y="274552"/>
                        </a:cubicBezTo>
                        <a:cubicBezTo>
                          <a:pt x="-22120" y="114441"/>
                          <a:pt x="154514" y="-31067"/>
                          <a:pt x="274552" y="0"/>
                        </a:cubicBezTo>
                        <a:close/>
                      </a:path>
                      <a:path w="3190240" h="549103" stroke="0" extrusionOk="0">
                        <a:moveTo>
                          <a:pt x="274552" y="0"/>
                        </a:moveTo>
                        <a:cubicBezTo>
                          <a:pt x="399970" y="-22710"/>
                          <a:pt x="654668" y="2484"/>
                          <a:pt x="776368" y="0"/>
                        </a:cubicBezTo>
                        <a:cubicBezTo>
                          <a:pt x="898068" y="-2484"/>
                          <a:pt x="1014447" y="38675"/>
                          <a:pt x="1225361" y="0"/>
                        </a:cubicBezTo>
                        <a:cubicBezTo>
                          <a:pt x="1436275" y="-38675"/>
                          <a:pt x="1562490" y="1481"/>
                          <a:pt x="1806411" y="0"/>
                        </a:cubicBezTo>
                        <a:cubicBezTo>
                          <a:pt x="2050332" y="-1481"/>
                          <a:pt x="2135571" y="31241"/>
                          <a:pt x="2308227" y="0"/>
                        </a:cubicBezTo>
                        <a:cubicBezTo>
                          <a:pt x="2480883" y="-31241"/>
                          <a:pt x="2718760" y="30376"/>
                          <a:pt x="2915689" y="0"/>
                        </a:cubicBezTo>
                        <a:cubicBezTo>
                          <a:pt x="3070025" y="-10011"/>
                          <a:pt x="3167717" y="108152"/>
                          <a:pt x="3190241" y="274552"/>
                        </a:cubicBezTo>
                        <a:cubicBezTo>
                          <a:pt x="3202225" y="346567"/>
                          <a:pt x="3185783" y="46150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65458" y="595554"/>
                          <a:pt x="2853283" y="523738"/>
                          <a:pt x="2658533" y="549103"/>
                        </a:cubicBezTo>
                        <a:cubicBezTo>
                          <a:pt x="2463783" y="574468"/>
                          <a:pt x="2344165" y="513624"/>
                          <a:pt x="2222534" y="549103"/>
                        </a:cubicBezTo>
                        <a:cubicBezTo>
                          <a:pt x="2100903" y="584582"/>
                          <a:pt x="1860042" y="508330"/>
                          <a:pt x="1690827" y="549103"/>
                        </a:cubicBezTo>
                        <a:cubicBezTo>
                          <a:pt x="1521612" y="589876"/>
                          <a:pt x="1302742" y="499121"/>
                          <a:pt x="1159121" y="549103"/>
                        </a:cubicBezTo>
                        <a:cubicBezTo>
                          <a:pt x="1015500" y="599085"/>
                          <a:pt x="866131" y="516064"/>
                          <a:pt x="659316" y="549103"/>
                        </a:cubicBezTo>
                        <a:cubicBezTo>
                          <a:pt x="452502" y="582142"/>
                          <a:pt x="195622" y="517307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699" y="492953"/>
                          <a:pt x="30684" y="394117"/>
                          <a:pt x="0" y="274552"/>
                        </a:cubicBezTo>
                        <a:cubicBezTo>
                          <a:pt x="-29017" y="102900"/>
                          <a:pt x="108031" y="-1057"/>
                          <a:pt x="274552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518DA3-BBCE-9AFA-DF32-FC794445B240}"/>
              </a:ext>
            </a:extLst>
          </p:cNvPr>
          <p:cNvSpPr txBox="1"/>
          <p:nvPr/>
        </p:nvSpPr>
        <p:spPr>
          <a:xfrm>
            <a:off x="832866" y="7272223"/>
            <a:ext cx="319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atin typeface="Arial Rounded MT Bold" panose="020F0704030504030204" pitchFamily="34" charset="0"/>
              </a:rPr>
              <a:t>Cost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9878D4-A65A-F2AC-0626-6E33D9EB8FDF}"/>
              </a:ext>
            </a:extLst>
          </p:cNvPr>
          <p:cNvSpPr txBox="1"/>
          <p:nvPr/>
        </p:nvSpPr>
        <p:spPr>
          <a:xfrm>
            <a:off x="832866" y="11101167"/>
            <a:ext cx="319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Abadi ExtraLight" panose="020B0204020104020204" pitchFamily="34" charset="0"/>
              </a:rPr>
              <a:t>Veriff</a:t>
            </a:r>
            <a:r>
              <a:rPr lang="en-US" sz="1200" dirty="0">
                <a:latin typeface="Abadi ExtraLight" panose="020B0204020104020204" pitchFamily="34" charset="0"/>
              </a:rPr>
              <a:t> / TechRadar, Fraud Report 2026</a:t>
            </a:r>
            <a:endParaRPr lang="en-US" sz="1000" dirty="0">
              <a:latin typeface="Abadi ExtraLight" panose="020B0204020104020204" pitchFamily="34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B6691F9-3300-8BA1-760B-B16303278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0001" y="7272223"/>
            <a:ext cx="3190240" cy="4340324"/>
          </a:xfrm>
          <a:prstGeom prst="round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B6B6B6"/>
              </a:gs>
            </a:gsLst>
            <a:lin ang="540000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ADAC51B-0169-02AD-D808-ADB3065F46F3}"/>
              </a:ext>
            </a:extLst>
          </p:cNvPr>
          <p:cNvSpPr txBox="1"/>
          <p:nvPr/>
        </p:nvSpPr>
        <p:spPr>
          <a:xfrm>
            <a:off x="4500000" y="8158861"/>
            <a:ext cx="31902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masis MT Pro Medium" panose="02040604050005020304" pitchFamily="18" charset="0"/>
              </a:rPr>
              <a:t>+3000%</a:t>
            </a:r>
            <a:br>
              <a:rPr lang="en-US" sz="6000" b="1" dirty="0">
                <a:latin typeface="Amasis MT Pro Medium" panose="02040604050005020304" pitchFamily="18" charset="0"/>
              </a:rPr>
            </a:br>
            <a:r>
              <a:rPr lang="en-US" sz="2400" b="1" dirty="0">
                <a:latin typeface="Amasis MT Pro Medium" panose="02040604050005020304" pitchFamily="18" charset="0"/>
              </a:rPr>
              <a:t>Deepfake Incidents</a:t>
            </a:r>
            <a:endParaRPr lang="en-US" sz="9600" b="1" dirty="0">
              <a:latin typeface="Amasis MT Pro Medium" panose="02040604050005020304" pitchFamily="18" charset="0"/>
              <a:cs typeface="Aharoni" panose="020F0502020204030204" pitchFamily="2" charset="-79"/>
            </a:endParaRPr>
          </a:p>
        </p:txBody>
      </p:sp>
      <p:sp>
        <p:nvSpPr>
          <p:cNvPr id="56" name="Rectangle: Top Corners Rounded 55">
            <a:extLst>
              <a:ext uri="{FF2B5EF4-FFF2-40B4-BE49-F238E27FC236}">
                <a16:creationId xmlns:a16="http://schemas.microsoft.com/office/drawing/2014/main" id="{986A4F6A-B258-E232-AB6E-FFB235C64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0001" y="7264955"/>
            <a:ext cx="3190240" cy="5491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C5C6"/>
          </a:solidFill>
          <a:ln w="25400" cap="flat"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274552 w 3190240"/>
                      <a:gd name="csY0" fmla="*/ 0 h 549103"/>
                      <a:gd name="csX1" fmla="*/ 855602 w 3190240"/>
                      <a:gd name="csY1" fmla="*/ 0 h 549103"/>
                      <a:gd name="csX2" fmla="*/ 1304595 w 3190240"/>
                      <a:gd name="csY2" fmla="*/ 0 h 549103"/>
                      <a:gd name="csX3" fmla="*/ 1780000 w 3190240"/>
                      <a:gd name="csY3" fmla="*/ 0 h 549103"/>
                      <a:gd name="csX4" fmla="*/ 2255405 w 3190240"/>
                      <a:gd name="csY4" fmla="*/ 0 h 549103"/>
                      <a:gd name="csX5" fmla="*/ 2915689 w 3190240"/>
                      <a:gd name="csY5" fmla="*/ 0 h 549103"/>
                      <a:gd name="csX6" fmla="*/ 3190241 w 3190240"/>
                      <a:gd name="csY6" fmla="*/ 274552 h 549103"/>
                      <a:gd name="csX7" fmla="*/ 3190240 w 3190240"/>
                      <a:gd name="csY7" fmla="*/ 549103 h 549103"/>
                      <a:gd name="csX8" fmla="*/ 3190240 w 3190240"/>
                      <a:gd name="csY8" fmla="*/ 549103 h 549103"/>
                      <a:gd name="csX9" fmla="*/ 2658533 w 3190240"/>
                      <a:gd name="csY9" fmla="*/ 549103 h 549103"/>
                      <a:gd name="csX10" fmla="*/ 2126827 w 3190240"/>
                      <a:gd name="csY10" fmla="*/ 549103 h 549103"/>
                      <a:gd name="csX11" fmla="*/ 1658925 w 3190240"/>
                      <a:gd name="csY11" fmla="*/ 549103 h 549103"/>
                      <a:gd name="csX12" fmla="*/ 1095316 w 3190240"/>
                      <a:gd name="csY12" fmla="*/ 549103 h 549103"/>
                      <a:gd name="csX13" fmla="*/ 627414 w 3190240"/>
                      <a:gd name="csY13" fmla="*/ 549103 h 549103"/>
                      <a:gd name="csX14" fmla="*/ 0 w 3190240"/>
                      <a:gd name="csY14" fmla="*/ 549103 h 549103"/>
                      <a:gd name="csX15" fmla="*/ 0 w 3190240"/>
                      <a:gd name="csY15" fmla="*/ 549103 h 549103"/>
                      <a:gd name="csX16" fmla="*/ 0 w 3190240"/>
                      <a:gd name="csY16" fmla="*/ 274552 h 549103"/>
                      <a:gd name="csX17" fmla="*/ 274552 w 3190240"/>
                      <a:gd name="csY17" fmla="*/ 0 h 5491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3190240" h="549103" fill="none" extrusionOk="0">
                        <a:moveTo>
                          <a:pt x="274552" y="0"/>
                        </a:moveTo>
                        <a:cubicBezTo>
                          <a:pt x="478846" y="-22366"/>
                          <a:pt x="621822" y="3376"/>
                          <a:pt x="855602" y="0"/>
                        </a:cubicBezTo>
                        <a:cubicBezTo>
                          <a:pt x="1089382" y="-3376"/>
                          <a:pt x="1140254" y="36035"/>
                          <a:pt x="1304595" y="0"/>
                        </a:cubicBezTo>
                        <a:cubicBezTo>
                          <a:pt x="1468936" y="-36035"/>
                          <a:pt x="1567076" y="35168"/>
                          <a:pt x="1780000" y="0"/>
                        </a:cubicBezTo>
                        <a:cubicBezTo>
                          <a:pt x="1992925" y="-35168"/>
                          <a:pt x="2096411" y="148"/>
                          <a:pt x="2255405" y="0"/>
                        </a:cubicBezTo>
                        <a:cubicBezTo>
                          <a:pt x="2414400" y="-148"/>
                          <a:pt x="2633995" y="15952"/>
                          <a:pt x="2915689" y="0"/>
                        </a:cubicBezTo>
                        <a:cubicBezTo>
                          <a:pt x="3069955" y="25025"/>
                          <a:pt x="3215393" y="114461"/>
                          <a:pt x="3190241" y="274552"/>
                        </a:cubicBezTo>
                        <a:cubicBezTo>
                          <a:pt x="3189681" y="350956"/>
                          <a:pt x="3197657" y="45913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95131" y="560735"/>
                          <a:pt x="2819099" y="496731"/>
                          <a:pt x="2658533" y="549103"/>
                        </a:cubicBezTo>
                        <a:cubicBezTo>
                          <a:pt x="2497967" y="601475"/>
                          <a:pt x="2248402" y="537460"/>
                          <a:pt x="2126827" y="549103"/>
                        </a:cubicBezTo>
                        <a:cubicBezTo>
                          <a:pt x="2005252" y="560746"/>
                          <a:pt x="1770291" y="538955"/>
                          <a:pt x="1658925" y="549103"/>
                        </a:cubicBezTo>
                        <a:cubicBezTo>
                          <a:pt x="1547559" y="559251"/>
                          <a:pt x="1311371" y="547825"/>
                          <a:pt x="1095316" y="549103"/>
                        </a:cubicBezTo>
                        <a:cubicBezTo>
                          <a:pt x="879261" y="550381"/>
                          <a:pt x="831984" y="493925"/>
                          <a:pt x="627414" y="549103"/>
                        </a:cubicBezTo>
                        <a:cubicBezTo>
                          <a:pt x="422844" y="604281"/>
                          <a:pt x="166004" y="538288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1299" y="467894"/>
                          <a:pt x="9634" y="363670"/>
                          <a:pt x="0" y="274552"/>
                        </a:cubicBezTo>
                        <a:cubicBezTo>
                          <a:pt x="-22120" y="114441"/>
                          <a:pt x="154514" y="-31067"/>
                          <a:pt x="274552" y="0"/>
                        </a:cubicBezTo>
                        <a:close/>
                      </a:path>
                      <a:path w="3190240" h="549103" stroke="0" extrusionOk="0">
                        <a:moveTo>
                          <a:pt x="274552" y="0"/>
                        </a:moveTo>
                        <a:cubicBezTo>
                          <a:pt x="399970" y="-22710"/>
                          <a:pt x="654668" y="2484"/>
                          <a:pt x="776368" y="0"/>
                        </a:cubicBezTo>
                        <a:cubicBezTo>
                          <a:pt x="898068" y="-2484"/>
                          <a:pt x="1014447" y="38675"/>
                          <a:pt x="1225361" y="0"/>
                        </a:cubicBezTo>
                        <a:cubicBezTo>
                          <a:pt x="1436275" y="-38675"/>
                          <a:pt x="1562490" y="1481"/>
                          <a:pt x="1806411" y="0"/>
                        </a:cubicBezTo>
                        <a:cubicBezTo>
                          <a:pt x="2050332" y="-1481"/>
                          <a:pt x="2135571" y="31241"/>
                          <a:pt x="2308227" y="0"/>
                        </a:cubicBezTo>
                        <a:cubicBezTo>
                          <a:pt x="2480883" y="-31241"/>
                          <a:pt x="2718760" y="30376"/>
                          <a:pt x="2915689" y="0"/>
                        </a:cubicBezTo>
                        <a:cubicBezTo>
                          <a:pt x="3070025" y="-10011"/>
                          <a:pt x="3167717" y="108152"/>
                          <a:pt x="3190241" y="274552"/>
                        </a:cubicBezTo>
                        <a:cubicBezTo>
                          <a:pt x="3202225" y="346567"/>
                          <a:pt x="3185783" y="46150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65458" y="595554"/>
                          <a:pt x="2853283" y="523738"/>
                          <a:pt x="2658533" y="549103"/>
                        </a:cubicBezTo>
                        <a:cubicBezTo>
                          <a:pt x="2463783" y="574468"/>
                          <a:pt x="2344165" y="513624"/>
                          <a:pt x="2222534" y="549103"/>
                        </a:cubicBezTo>
                        <a:cubicBezTo>
                          <a:pt x="2100903" y="584582"/>
                          <a:pt x="1860042" y="508330"/>
                          <a:pt x="1690827" y="549103"/>
                        </a:cubicBezTo>
                        <a:cubicBezTo>
                          <a:pt x="1521612" y="589876"/>
                          <a:pt x="1302742" y="499121"/>
                          <a:pt x="1159121" y="549103"/>
                        </a:cubicBezTo>
                        <a:cubicBezTo>
                          <a:pt x="1015500" y="599085"/>
                          <a:pt x="866131" y="516064"/>
                          <a:pt x="659316" y="549103"/>
                        </a:cubicBezTo>
                        <a:cubicBezTo>
                          <a:pt x="452502" y="582142"/>
                          <a:pt x="195622" y="517307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699" y="492953"/>
                          <a:pt x="30684" y="394117"/>
                          <a:pt x="0" y="274552"/>
                        </a:cubicBezTo>
                        <a:cubicBezTo>
                          <a:pt x="-29017" y="102900"/>
                          <a:pt x="108031" y="-1057"/>
                          <a:pt x="274552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28E2C9-81EE-B8A1-F688-4067D72DB154}"/>
              </a:ext>
            </a:extLst>
          </p:cNvPr>
          <p:cNvSpPr txBox="1"/>
          <p:nvPr/>
        </p:nvSpPr>
        <p:spPr>
          <a:xfrm>
            <a:off x="4500000" y="7245017"/>
            <a:ext cx="319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atin typeface="Arial Rounded MT Bold" panose="020F0704030504030204" pitchFamily="34" charset="0"/>
              </a:rPr>
              <a:t>Spike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BE6150-1F98-7891-5E47-A1CE56C347C1}"/>
              </a:ext>
            </a:extLst>
          </p:cNvPr>
          <p:cNvSpPr txBox="1"/>
          <p:nvPr/>
        </p:nvSpPr>
        <p:spPr>
          <a:xfrm>
            <a:off x="4500000" y="11073961"/>
            <a:ext cx="319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badi ExtraLight" panose="020B0204020104020204" pitchFamily="34" charset="0"/>
              </a:rPr>
              <a:t>VentureBeat / Deloitte, 2024</a:t>
            </a:r>
            <a:endParaRPr lang="en-US" sz="1000" dirty="0">
              <a:latin typeface="Abadi ExtraLight" panose="020B0204020104020204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2F3B64D-EFA4-8411-28C2-5905C53B1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67134" y="7272223"/>
            <a:ext cx="3190240" cy="4340324"/>
          </a:xfrm>
          <a:prstGeom prst="round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B6B6B6"/>
              </a:gs>
            </a:gsLst>
            <a:lin ang="540000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27E4684-DE5F-98C3-6C23-71239E290250}"/>
              </a:ext>
            </a:extLst>
          </p:cNvPr>
          <p:cNvSpPr txBox="1"/>
          <p:nvPr/>
        </p:nvSpPr>
        <p:spPr>
          <a:xfrm>
            <a:off x="8019610" y="8159364"/>
            <a:ext cx="34852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atin typeface="Amasis MT Pro Medium" panose="02040604050005020304" pitchFamily="18" charset="0"/>
              </a:rPr>
              <a:t>$40 B </a:t>
            </a:r>
          </a:p>
          <a:p>
            <a:pPr algn="ctr"/>
            <a:r>
              <a:rPr lang="en-US" sz="2400" b="1" dirty="0">
                <a:latin typeface="Amasis MT Pro Medium" panose="02040604050005020304" pitchFamily="18" charset="0"/>
              </a:rPr>
              <a:t>by 2027</a:t>
            </a:r>
            <a:endParaRPr lang="en-US" sz="2400" b="1" dirty="0">
              <a:latin typeface="Amasis MT Pro Medium" panose="02040604050005020304" pitchFamily="18" charset="0"/>
              <a:cs typeface="Aharoni" panose="020F0502020204030204" pitchFamily="2" charset="-79"/>
            </a:endParaRPr>
          </a:p>
        </p:txBody>
      </p:sp>
      <p:sp>
        <p:nvSpPr>
          <p:cNvPr id="62" name="Rectangle: Top Corners Rounded 61">
            <a:extLst>
              <a:ext uri="{FF2B5EF4-FFF2-40B4-BE49-F238E27FC236}">
                <a16:creationId xmlns:a16="http://schemas.microsoft.com/office/drawing/2014/main" id="{80897FF6-6432-7F01-0097-0B61749F0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67134" y="7264955"/>
            <a:ext cx="3190240" cy="5491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C5C6"/>
          </a:solidFill>
          <a:ln w="25400" cap="flat"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274552 w 3190240"/>
                      <a:gd name="csY0" fmla="*/ 0 h 549103"/>
                      <a:gd name="csX1" fmla="*/ 855602 w 3190240"/>
                      <a:gd name="csY1" fmla="*/ 0 h 549103"/>
                      <a:gd name="csX2" fmla="*/ 1304595 w 3190240"/>
                      <a:gd name="csY2" fmla="*/ 0 h 549103"/>
                      <a:gd name="csX3" fmla="*/ 1780000 w 3190240"/>
                      <a:gd name="csY3" fmla="*/ 0 h 549103"/>
                      <a:gd name="csX4" fmla="*/ 2255405 w 3190240"/>
                      <a:gd name="csY4" fmla="*/ 0 h 549103"/>
                      <a:gd name="csX5" fmla="*/ 2915689 w 3190240"/>
                      <a:gd name="csY5" fmla="*/ 0 h 549103"/>
                      <a:gd name="csX6" fmla="*/ 3190241 w 3190240"/>
                      <a:gd name="csY6" fmla="*/ 274552 h 549103"/>
                      <a:gd name="csX7" fmla="*/ 3190240 w 3190240"/>
                      <a:gd name="csY7" fmla="*/ 549103 h 549103"/>
                      <a:gd name="csX8" fmla="*/ 3190240 w 3190240"/>
                      <a:gd name="csY8" fmla="*/ 549103 h 549103"/>
                      <a:gd name="csX9" fmla="*/ 2658533 w 3190240"/>
                      <a:gd name="csY9" fmla="*/ 549103 h 549103"/>
                      <a:gd name="csX10" fmla="*/ 2126827 w 3190240"/>
                      <a:gd name="csY10" fmla="*/ 549103 h 549103"/>
                      <a:gd name="csX11" fmla="*/ 1658925 w 3190240"/>
                      <a:gd name="csY11" fmla="*/ 549103 h 549103"/>
                      <a:gd name="csX12" fmla="*/ 1095316 w 3190240"/>
                      <a:gd name="csY12" fmla="*/ 549103 h 549103"/>
                      <a:gd name="csX13" fmla="*/ 627414 w 3190240"/>
                      <a:gd name="csY13" fmla="*/ 549103 h 549103"/>
                      <a:gd name="csX14" fmla="*/ 0 w 3190240"/>
                      <a:gd name="csY14" fmla="*/ 549103 h 549103"/>
                      <a:gd name="csX15" fmla="*/ 0 w 3190240"/>
                      <a:gd name="csY15" fmla="*/ 549103 h 549103"/>
                      <a:gd name="csX16" fmla="*/ 0 w 3190240"/>
                      <a:gd name="csY16" fmla="*/ 274552 h 549103"/>
                      <a:gd name="csX17" fmla="*/ 274552 w 3190240"/>
                      <a:gd name="csY17" fmla="*/ 0 h 5491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3190240" h="549103" fill="none" extrusionOk="0">
                        <a:moveTo>
                          <a:pt x="274552" y="0"/>
                        </a:moveTo>
                        <a:cubicBezTo>
                          <a:pt x="478846" y="-22366"/>
                          <a:pt x="621822" y="3376"/>
                          <a:pt x="855602" y="0"/>
                        </a:cubicBezTo>
                        <a:cubicBezTo>
                          <a:pt x="1089382" y="-3376"/>
                          <a:pt x="1140254" y="36035"/>
                          <a:pt x="1304595" y="0"/>
                        </a:cubicBezTo>
                        <a:cubicBezTo>
                          <a:pt x="1468936" y="-36035"/>
                          <a:pt x="1567076" y="35168"/>
                          <a:pt x="1780000" y="0"/>
                        </a:cubicBezTo>
                        <a:cubicBezTo>
                          <a:pt x="1992925" y="-35168"/>
                          <a:pt x="2096411" y="148"/>
                          <a:pt x="2255405" y="0"/>
                        </a:cubicBezTo>
                        <a:cubicBezTo>
                          <a:pt x="2414400" y="-148"/>
                          <a:pt x="2633995" y="15952"/>
                          <a:pt x="2915689" y="0"/>
                        </a:cubicBezTo>
                        <a:cubicBezTo>
                          <a:pt x="3069955" y="25025"/>
                          <a:pt x="3215393" y="114461"/>
                          <a:pt x="3190241" y="274552"/>
                        </a:cubicBezTo>
                        <a:cubicBezTo>
                          <a:pt x="3189681" y="350956"/>
                          <a:pt x="3197657" y="45913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95131" y="560735"/>
                          <a:pt x="2819099" y="496731"/>
                          <a:pt x="2658533" y="549103"/>
                        </a:cubicBezTo>
                        <a:cubicBezTo>
                          <a:pt x="2497967" y="601475"/>
                          <a:pt x="2248402" y="537460"/>
                          <a:pt x="2126827" y="549103"/>
                        </a:cubicBezTo>
                        <a:cubicBezTo>
                          <a:pt x="2005252" y="560746"/>
                          <a:pt x="1770291" y="538955"/>
                          <a:pt x="1658925" y="549103"/>
                        </a:cubicBezTo>
                        <a:cubicBezTo>
                          <a:pt x="1547559" y="559251"/>
                          <a:pt x="1311371" y="547825"/>
                          <a:pt x="1095316" y="549103"/>
                        </a:cubicBezTo>
                        <a:cubicBezTo>
                          <a:pt x="879261" y="550381"/>
                          <a:pt x="831984" y="493925"/>
                          <a:pt x="627414" y="549103"/>
                        </a:cubicBezTo>
                        <a:cubicBezTo>
                          <a:pt x="422844" y="604281"/>
                          <a:pt x="166004" y="538288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1299" y="467894"/>
                          <a:pt x="9634" y="363670"/>
                          <a:pt x="0" y="274552"/>
                        </a:cubicBezTo>
                        <a:cubicBezTo>
                          <a:pt x="-22120" y="114441"/>
                          <a:pt x="154514" y="-31067"/>
                          <a:pt x="274552" y="0"/>
                        </a:cubicBezTo>
                        <a:close/>
                      </a:path>
                      <a:path w="3190240" h="549103" stroke="0" extrusionOk="0">
                        <a:moveTo>
                          <a:pt x="274552" y="0"/>
                        </a:moveTo>
                        <a:cubicBezTo>
                          <a:pt x="399970" y="-22710"/>
                          <a:pt x="654668" y="2484"/>
                          <a:pt x="776368" y="0"/>
                        </a:cubicBezTo>
                        <a:cubicBezTo>
                          <a:pt x="898068" y="-2484"/>
                          <a:pt x="1014447" y="38675"/>
                          <a:pt x="1225361" y="0"/>
                        </a:cubicBezTo>
                        <a:cubicBezTo>
                          <a:pt x="1436275" y="-38675"/>
                          <a:pt x="1562490" y="1481"/>
                          <a:pt x="1806411" y="0"/>
                        </a:cubicBezTo>
                        <a:cubicBezTo>
                          <a:pt x="2050332" y="-1481"/>
                          <a:pt x="2135571" y="31241"/>
                          <a:pt x="2308227" y="0"/>
                        </a:cubicBezTo>
                        <a:cubicBezTo>
                          <a:pt x="2480883" y="-31241"/>
                          <a:pt x="2718760" y="30376"/>
                          <a:pt x="2915689" y="0"/>
                        </a:cubicBezTo>
                        <a:cubicBezTo>
                          <a:pt x="3070025" y="-10011"/>
                          <a:pt x="3167717" y="108152"/>
                          <a:pt x="3190241" y="274552"/>
                        </a:cubicBezTo>
                        <a:cubicBezTo>
                          <a:pt x="3202225" y="346567"/>
                          <a:pt x="3185783" y="46150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65458" y="595554"/>
                          <a:pt x="2853283" y="523738"/>
                          <a:pt x="2658533" y="549103"/>
                        </a:cubicBezTo>
                        <a:cubicBezTo>
                          <a:pt x="2463783" y="574468"/>
                          <a:pt x="2344165" y="513624"/>
                          <a:pt x="2222534" y="549103"/>
                        </a:cubicBezTo>
                        <a:cubicBezTo>
                          <a:pt x="2100903" y="584582"/>
                          <a:pt x="1860042" y="508330"/>
                          <a:pt x="1690827" y="549103"/>
                        </a:cubicBezTo>
                        <a:cubicBezTo>
                          <a:pt x="1521612" y="589876"/>
                          <a:pt x="1302742" y="499121"/>
                          <a:pt x="1159121" y="549103"/>
                        </a:cubicBezTo>
                        <a:cubicBezTo>
                          <a:pt x="1015500" y="599085"/>
                          <a:pt x="866131" y="516064"/>
                          <a:pt x="659316" y="549103"/>
                        </a:cubicBezTo>
                        <a:cubicBezTo>
                          <a:pt x="452502" y="582142"/>
                          <a:pt x="195622" y="517307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699" y="492953"/>
                          <a:pt x="30684" y="394117"/>
                          <a:pt x="0" y="274552"/>
                        </a:cubicBezTo>
                        <a:cubicBezTo>
                          <a:pt x="-29017" y="102900"/>
                          <a:pt x="108031" y="-1057"/>
                          <a:pt x="274552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08EB62-81EC-47D2-A5E8-AC7EF6C3073A}"/>
              </a:ext>
            </a:extLst>
          </p:cNvPr>
          <p:cNvSpPr txBox="1"/>
          <p:nvPr/>
        </p:nvSpPr>
        <p:spPr>
          <a:xfrm>
            <a:off x="8167133" y="7245017"/>
            <a:ext cx="319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atin typeface="Arial Rounded MT Bold" panose="020F0704030504030204" pitchFamily="34" charset="0"/>
              </a:rPr>
              <a:t>Expectation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6EBCFB6-2399-FEAC-1D49-5673363A87E8}"/>
              </a:ext>
            </a:extLst>
          </p:cNvPr>
          <p:cNvSpPr txBox="1"/>
          <p:nvPr/>
        </p:nvSpPr>
        <p:spPr>
          <a:xfrm>
            <a:off x="8167133" y="11073961"/>
            <a:ext cx="319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badi ExtraLight" panose="020B0204020104020204" pitchFamily="34" charset="0"/>
              </a:rPr>
              <a:t>Deloitte Center for Financial Services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707FC20-8599-F5D3-4A86-579D545263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7887" y="9717420"/>
            <a:ext cx="1188720" cy="11887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1E0A38-D0B2-0373-DB88-3B97F6B0E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919" y="9844039"/>
            <a:ext cx="1097280" cy="10972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63B1502-2CB2-0912-70A4-5227C272B0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7084" y="9744626"/>
            <a:ext cx="1188720" cy="1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082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07A87-A136-1997-C8B6-69C757913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5C8EBF1-4AB5-894B-F25C-26A38652C2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1BC15E-B67F-3B29-1230-C50CF96B9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3823AA7-1468-907E-E989-E02E1C2404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834268" y="2602578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8C31853-899E-373C-7E8C-F2CEF9BBBA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5102F8-8AA4-9795-F1B0-D9BBF685EE89}"/>
              </a:ext>
            </a:extLst>
          </p:cNvPr>
          <p:cNvSpPr txBox="1"/>
          <p:nvPr/>
        </p:nvSpPr>
        <p:spPr>
          <a:xfrm>
            <a:off x="0" y="0"/>
            <a:ext cx="4582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Aptos Slab Black" panose="020B0004020202020204" pitchFamily="34" charset="0"/>
              </a:rPr>
              <a:t>  Problematic</a:t>
            </a:r>
            <a:endParaRPr lang="en-US" sz="5400" dirty="0">
              <a:latin typeface="Aptos Slab Black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031AE6-7688-BA8C-C3AC-618292FF691C}"/>
              </a:ext>
            </a:extLst>
          </p:cNvPr>
          <p:cNvSpPr txBox="1"/>
          <p:nvPr/>
        </p:nvSpPr>
        <p:spPr>
          <a:xfrm>
            <a:off x="371820" y="727055"/>
            <a:ext cx="4451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i="1" dirty="0">
                <a:latin typeface="Arial Narrow" panose="020B0606020202030204" pitchFamily="34" charset="0"/>
              </a:rPr>
              <a:t>« </a:t>
            </a:r>
            <a:r>
              <a:rPr lang="en-US" sz="2400" i="1" dirty="0">
                <a:latin typeface="Arial Narrow" panose="020B0606020202030204" pitchFamily="34" charset="0"/>
              </a:rPr>
              <a:t>Progress, Followed by Danger </a:t>
            </a:r>
            <a:r>
              <a:rPr lang="fr-FR" sz="2400" i="1" dirty="0">
                <a:latin typeface="Arial Narrow" panose="020B0606020202030204" pitchFamily="34" charset="0"/>
              </a:rPr>
              <a:t>»</a:t>
            </a:r>
            <a:endParaRPr lang="en-US" sz="2400" i="1" dirty="0">
              <a:latin typeface="Arial Narrow" panose="020B0606020202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B12E571-6DD4-231B-9125-34F9539A5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867" y="1789728"/>
            <a:ext cx="3190240" cy="4340324"/>
          </a:xfrm>
          <a:prstGeom prst="round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B6B6B6"/>
              </a:gs>
            </a:gsLst>
            <a:lin ang="540000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DA6382-1CAA-D83C-C7AF-A2DE918B5D3C}"/>
              </a:ext>
            </a:extLst>
          </p:cNvPr>
          <p:cNvSpPr txBox="1"/>
          <p:nvPr/>
        </p:nvSpPr>
        <p:spPr>
          <a:xfrm>
            <a:off x="832867" y="2652266"/>
            <a:ext cx="3190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b="1" dirty="0">
                <a:latin typeface="Amasis MT Pro Medium" panose="02040604050005020304" pitchFamily="18" charset="0"/>
                <a:cs typeface="Aharoni" panose="020F0502020204030204" pitchFamily="2" charset="-79"/>
              </a:rPr>
              <a:t>+400</a:t>
            </a:r>
            <a:br>
              <a:rPr lang="fr-FR" sz="6600" b="1" dirty="0">
                <a:latin typeface="Amasis MT Pro Medium" panose="02040604050005020304" pitchFamily="18" charset="0"/>
                <a:cs typeface="Aharoni" panose="020F0502020204030204" pitchFamily="2" charset="-79"/>
              </a:rPr>
            </a:br>
            <a:r>
              <a:rPr lang="fr-FR" sz="2400" b="1" dirty="0">
                <a:latin typeface="Amasis MT Pro Medium" panose="02040604050005020304" pitchFamily="18" charset="0"/>
                <a:cs typeface="Aharoni" panose="020F0502020204030204" pitchFamily="2" charset="-79"/>
              </a:rPr>
              <a:t>Billion $</a:t>
            </a:r>
            <a:endParaRPr lang="en-US" sz="6000" b="1" dirty="0">
              <a:latin typeface="Amasis MT Pro Medium" panose="02040604050005020304" pitchFamily="18" charset="0"/>
              <a:cs typeface="Aharoni" panose="020F0502020204030204" pitchFamily="2" charset="-79"/>
            </a:endParaRPr>
          </a:p>
        </p:txBody>
      </p:sp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286B7B2F-A918-55BA-AB2F-A0C79CFCD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867" y="1782460"/>
            <a:ext cx="3190240" cy="5491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C5C6"/>
          </a:solidFill>
          <a:ln w="25400" cap="flat"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274552 w 3190240"/>
                      <a:gd name="csY0" fmla="*/ 0 h 549103"/>
                      <a:gd name="csX1" fmla="*/ 855602 w 3190240"/>
                      <a:gd name="csY1" fmla="*/ 0 h 549103"/>
                      <a:gd name="csX2" fmla="*/ 1304595 w 3190240"/>
                      <a:gd name="csY2" fmla="*/ 0 h 549103"/>
                      <a:gd name="csX3" fmla="*/ 1780000 w 3190240"/>
                      <a:gd name="csY3" fmla="*/ 0 h 549103"/>
                      <a:gd name="csX4" fmla="*/ 2255405 w 3190240"/>
                      <a:gd name="csY4" fmla="*/ 0 h 549103"/>
                      <a:gd name="csX5" fmla="*/ 2915689 w 3190240"/>
                      <a:gd name="csY5" fmla="*/ 0 h 549103"/>
                      <a:gd name="csX6" fmla="*/ 3190241 w 3190240"/>
                      <a:gd name="csY6" fmla="*/ 274552 h 549103"/>
                      <a:gd name="csX7" fmla="*/ 3190240 w 3190240"/>
                      <a:gd name="csY7" fmla="*/ 549103 h 549103"/>
                      <a:gd name="csX8" fmla="*/ 3190240 w 3190240"/>
                      <a:gd name="csY8" fmla="*/ 549103 h 549103"/>
                      <a:gd name="csX9" fmla="*/ 2658533 w 3190240"/>
                      <a:gd name="csY9" fmla="*/ 549103 h 549103"/>
                      <a:gd name="csX10" fmla="*/ 2126827 w 3190240"/>
                      <a:gd name="csY10" fmla="*/ 549103 h 549103"/>
                      <a:gd name="csX11" fmla="*/ 1658925 w 3190240"/>
                      <a:gd name="csY11" fmla="*/ 549103 h 549103"/>
                      <a:gd name="csX12" fmla="*/ 1095316 w 3190240"/>
                      <a:gd name="csY12" fmla="*/ 549103 h 549103"/>
                      <a:gd name="csX13" fmla="*/ 627414 w 3190240"/>
                      <a:gd name="csY13" fmla="*/ 549103 h 549103"/>
                      <a:gd name="csX14" fmla="*/ 0 w 3190240"/>
                      <a:gd name="csY14" fmla="*/ 549103 h 549103"/>
                      <a:gd name="csX15" fmla="*/ 0 w 3190240"/>
                      <a:gd name="csY15" fmla="*/ 549103 h 549103"/>
                      <a:gd name="csX16" fmla="*/ 0 w 3190240"/>
                      <a:gd name="csY16" fmla="*/ 274552 h 549103"/>
                      <a:gd name="csX17" fmla="*/ 274552 w 3190240"/>
                      <a:gd name="csY17" fmla="*/ 0 h 5491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3190240" h="549103" fill="none" extrusionOk="0">
                        <a:moveTo>
                          <a:pt x="274552" y="0"/>
                        </a:moveTo>
                        <a:cubicBezTo>
                          <a:pt x="478846" y="-22366"/>
                          <a:pt x="621822" y="3376"/>
                          <a:pt x="855602" y="0"/>
                        </a:cubicBezTo>
                        <a:cubicBezTo>
                          <a:pt x="1089382" y="-3376"/>
                          <a:pt x="1140254" y="36035"/>
                          <a:pt x="1304595" y="0"/>
                        </a:cubicBezTo>
                        <a:cubicBezTo>
                          <a:pt x="1468936" y="-36035"/>
                          <a:pt x="1567076" y="35168"/>
                          <a:pt x="1780000" y="0"/>
                        </a:cubicBezTo>
                        <a:cubicBezTo>
                          <a:pt x="1992925" y="-35168"/>
                          <a:pt x="2096411" y="148"/>
                          <a:pt x="2255405" y="0"/>
                        </a:cubicBezTo>
                        <a:cubicBezTo>
                          <a:pt x="2414400" y="-148"/>
                          <a:pt x="2633995" y="15952"/>
                          <a:pt x="2915689" y="0"/>
                        </a:cubicBezTo>
                        <a:cubicBezTo>
                          <a:pt x="3069955" y="25025"/>
                          <a:pt x="3215393" y="114461"/>
                          <a:pt x="3190241" y="274552"/>
                        </a:cubicBezTo>
                        <a:cubicBezTo>
                          <a:pt x="3189681" y="350956"/>
                          <a:pt x="3197657" y="45913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95131" y="560735"/>
                          <a:pt x="2819099" y="496731"/>
                          <a:pt x="2658533" y="549103"/>
                        </a:cubicBezTo>
                        <a:cubicBezTo>
                          <a:pt x="2497967" y="601475"/>
                          <a:pt x="2248402" y="537460"/>
                          <a:pt x="2126827" y="549103"/>
                        </a:cubicBezTo>
                        <a:cubicBezTo>
                          <a:pt x="2005252" y="560746"/>
                          <a:pt x="1770291" y="538955"/>
                          <a:pt x="1658925" y="549103"/>
                        </a:cubicBezTo>
                        <a:cubicBezTo>
                          <a:pt x="1547559" y="559251"/>
                          <a:pt x="1311371" y="547825"/>
                          <a:pt x="1095316" y="549103"/>
                        </a:cubicBezTo>
                        <a:cubicBezTo>
                          <a:pt x="879261" y="550381"/>
                          <a:pt x="831984" y="493925"/>
                          <a:pt x="627414" y="549103"/>
                        </a:cubicBezTo>
                        <a:cubicBezTo>
                          <a:pt x="422844" y="604281"/>
                          <a:pt x="166004" y="538288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1299" y="467894"/>
                          <a:pt x="9634" y="363670"/>
                          <a:pt x="0" y="274552"/>
                        </a:cubicBezTo>
                        <a:cubicBezTo>
                          <a:pt x="-22120" y="114441"/>
                          <a:pt x="154514" y="-31067"/>
                          <a:pt x="274552" y="0"/>
                        </a:cubicBezTo>
                        <a:close/>
                      </a:path>
                      <a:path w="3190240" h="549103" stroke="0" extrusionOk="0">
                        <a:moveTo>
                          <a:pt x="274552" y="0"/>
                        </a:moveTo>
                        <a:cubicBezTo>
                          <a:pt x="399970" y="-22710"/>
                          <a:pt x="654668" y="2484"/>
                          <a:pt x="776368" y="0"/>
                        </a:cubicBezTo>
                        <a:cubicBezTo>
                          <a:pt x="898068" y="-2484"/>
                          <a:pt x="1014447" y="38675"/>
                          <a:pt x="1225361" y="0"/>
                        </a:cubicBezTo>
                        <a:cubicBezTo>
                          <a:pt x="1436275" y="-38675"/>
                          <a:pt x="1562490" y="1481"/>
                          <a:pt x="1806411" y="0"/>
                        </a:cubicBezTo>
                        <a:cubicBezTo>
                          <a:pt x="2050332" y="-1481"/>
                          <a:pt x="2135571" y="31241"/>
                          <a:pt x="2308227" y="0"/>
                        </a:cubicBezTo>
                        <a:cubicBezTo>
                          <a:pt x="2480883" y="-31241"/>
                          <a:pt x="2718760" y="30376"/>
                          <a:pt x="2915689" y="0"/>
                        </a:cubicBezTo>
                        <a:cubicBezTo>
                          <a:pt x="3070025" y="-10011"/>
                          <a:pt x="3167717" y="108152"/>
                          <a:pt x="3190241" y="274552"/>
                        </a:cubicBezTo>
                        <a:cubicBezTo>
                          <a:pt x="3202225" y="346567"/>
                          <a:pt x="3185783" y="46150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65458" y="595554"/>
                          <a:pt x="2853283" y="523738"/>
                          <a:pt x="2658533" y="549103"/>
                        </a:cubicBezTo>
                        <a:cubicBezTo>
                          <a:pt x="2463783" y="574468"/>
                          <a:pt x="2344165" y="513624"/>
                          <a:pt x="2222534" y="549103"/>
                        </a:cubicBezTo>
                        <a:cubicBezTo>
                          <a:pt x="2100903" y="584582"/>
                          <a:pt x="1860042" y="508330"/>
                          <a:pt x="1690827" y="549103"/>
                        </a:cubicBezTo>
                        <a:cubicBezTo>
                          <a:pt x="1521612" y="589876"/>
                          <a:pt x="1302742" y="499121"/>
                          <a:pt x="1159121" y="549103"/>
                        </a:cubicBezTo>
                        <a:cubicBezTo>
                          <a:pt x="1015500" y="599085"/>
                          <a:pt x="866131" y="516064"/>
                          <a:pt x="659316" y="549103"/>
                        </a:cubicBezTo>
                        <a:cubicBezTo>
                          <a:pt x="452502" y="582142"/>
                          <a:pt x="195622" y="517307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699" y="492953"/>
                          <a:pt x="30684" y="394117"/>
                          <a:pt x="0" y="274552"/>
                        </a:cubicBezTo>
                        <a:cubicBezTo>
                          <a:pt x="-29017" y="102900"/>
                          <a:pt x="108031" y="-1057"/>
                          <a:pt x="274552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CE445A-0776-FCAE-F64A-C9EBBBBAB6FB}"/>
              </a:ext>
            </a:extLst>
          </p:cNvPr>
          <p:cNvSpPr txBox="1"/>
          <p:nvPr/>
        </p:nvSpPr>
        <p:spPr>
          <a:xfrm>
            <a:off x="832866" y="1762522"/>
            <a:ext cx="319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atin typeface="Arial Rounded MT Bold" panose="020F0704030504030204" pitchFamily="34" charset="0"/>
              </a:rPr>
              <a:t>Cost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9F4E3E0-21DB-19B1-C084-BF704084660B}"/>
              </a:ext>
            </a:extLst>
          </p:cNvPr>
          <p:cNvSpPr txBox="1"/>
          <p:nvPr/>
        </p:nvSpPr>
        <p:spPr>
          <a:xfrm>
            <a:off x="832866" y="5591466"/>
            <a:ext cx="319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latin typeface="Abadi ExtraLight" panose="020B0204020104020204" pitchFamily="34" charset="0"/>
              </a:rPr>
              <a:t>Veriff</a:t>
            </a:r>
            <a:r>
              <a:rPr lang="en-US" sz="1200" dirty="0">
                <a:latin typeface="Abadi ExtraLight" panose="020B0204020104020204" pitchFamily="34" charset="0"/>
              </a:rPr>
              <a:t> / TechRadar, Fraud Report 2026</a:t>
            </a:r>
            <a:endParaRPr lang="en-US" sz="1000" dirty="0">
              <a:latin typeface="Abadi ExtraLight" panose="020B0204020104020204" pitchFamily="34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8EF53F3-FC52-3991-EF83-F965DC99D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0001" y="1816215"/>
            <a:ext cx="3190240" cy="4340324"/>
          </a:xfrm>
          <a:prstGeom prst="round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B6B6B6"/>
              </a:gs>
            </a:gsLst>
            <a:lin ang="540000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F0204A-3AC1-C33E-47C1-809D1454135D}"/>
              </a:ext>
            </a:extLst>
          </p:cNvPr>
          <p:cNvSpPr txBox="1"/>
          <p:nvPr/>
        </p:nvSpPr>
        <p:spPr>
          <a:xfrm>
            <a:off x="4500000" y="2702853"/>
            <a:ext cx="31902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masis MT Pro Medium" panose="02040604050005020304" pitchFamily="18" charset="0"/>
              </a:rPr>
              <a:t>+3000%</a:t>
            </a:r>
            <a:br>
              <a:rPr lang="en-US" sz="6000" b="1" dirty="0">
                <a:latin typeface="Amasis MT Pro Medium" panose="02040604050005020304" pitchFamily="18" charset="0"/>
              </a:rPr>
            </a:br>
            <a:r>
              <a:rPr lang="en-US" sz="2400" b="1" dirty="0">
                <a:latin typeface="Amasis MT Pro Medium" panose="02040604050005020304" pitchFamily="18" charset="0"/>
              </a:rPr>
              <a:t>Deepfake Incidents</a:t>
            </a:r>
            <a:endParaRPr lang="en-US" sz="9600" b="1" dirty="0">
              <a:latin typeface="Amasis MT Pro Medium" panose="02040604050005020304" pitchFamily="18" charset="0"/>
              <a:cs typeface="Aharoni" panose="020F0502020204030204" pitchFamily="2" charset="-79"/>
            </a:endParaRPr>
          </a:p>
        </p:txBody>
      </p:sp>
      <p:sp>
        <p:nvSpPr>
          <p:cNvPr id="56" name="Rectangle: Top Corners Rounded 55">
            <a:extLst>
              <a:ext uri="{FF2B5EF4-FFF2-40B4-BE49-F238E27FC236}">
                <a16:creationId xmlns:a16="http://schemas.microsoft.com/office/drawing/2014/main" id="{629B25B9-D0A1-9587-4A10-65C7DCC41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0001" y="1808947"/>
            <a:ext cx="3190240" cy="5491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C5C6"/>
          </a:solidFill>
          <a:ln w="25400" cap="flat"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274552 w 3190240"/>
                      <a:gd name="csY0" fmla="*/ 0 h 549103"/>
                      <a:gd name="csX1" fmla="*/ 855602 w 3190240"/>
                      <a:gd name="csY1" fmla="*/ 0 h 549103"/>
                      <a:gd name="csX2" fmla="*/ 1304595 w 3190240"/>
                      <a:gd name="csY2" fmla="*/ 0 h 549103"/>
                      <a:gd name="csX3" fmla="*/ 1780000 w 3190240"/>
                      <a:gd name="csY3" fmla="*/ 0 h 549103"/>
                      <a:gd name="csX4" fmla="*/ 2255405 w 3190240"/>
                      <a:gd name="csY4" fmla="*/ 0 h 549103"/>
                      <a:gd name="csX5" fmla="*/ 2915689 w 3190240"/>
                      <a:gd name="csY5" fmla="*/ 0 h 549103"/>
                      <a:gd name="csX6" fmla="*/ 3190241 w 3190240"/>
                      <a:gd name="csY6" fmla="*/ 274552 h 549103"/>
                      <a:gd name="csX7" fmla="*/ 3190240 w 3190240"/>
                      <a:gd name="csY7" fmla="*/ 549103 h 549103"/>
                      <a:gd name="csX8" fmla="*/ 3190240 w 3190240"/>
                      <a:gd name="csY8" fmla="*/ 549103 h 549103"/>
                      <a:gd name="csX9" fmla="*/ 2658533 w 3190240"/>
                      <a:gd name="csY9" fmla="*/ 549103 h 549103"/>
                      <a:gd name="csX10" fmla="*/ 2126827 w 3190240"/>
                      <a:gd name="csY10" fmla="*/ 549103 h 549103"/>
                      <a:gd name="csX11" fmla="*/ 1658925 w 3190240"/>
                      <a:gd name="csY11" fmla="*/ 549103 h 549103"/>
                      <a:gd name="csX12" fmla="*/ 1095316 w 3190240"/>
                      <a:gd name="csY12" fmla="*/ 549103 h 549103"/>
                      <a:gd name="csX13" fmla="*/ 627414 w 3190240"/>
                      <a:gd name="csY13" fmla="*/ 549103 h 549103"/>
                      <a:gd name="csX14" fmla="*/ 0 w 3190240"/>
                      <a:gd name="csY14" fmla="*/ 549103 h 549103"/>
                      <a:gd name="csX15" fmla="*/ 0 w 3190240"/>
                      <a:gd name="csY15" fmla="*/ 549103 h 549103"/>
                      <a:gd name="csX16" fmla="*/ 0 w 3190240"/>
                      <a:gd name="csY16" fmla="*/ 274552 h 549103"/>
                      <a:gd name="csX17" fmla="*/ 274552 w 3190240"/>
                      <a:gd name="csY17" fmla="*/ 0 h 5491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3190240" h="549103" fill="none" extrusionOk="0">
                        <a:moveTo>
                          <a:pt x="274552" y="0"/>
                        </a:moveTo>
                        <a:cubicBezTo>
                          <a:pt x="478846" y="-22366"/>
                          <a:pt x="621822" y="3376"/>
                          <a:pt x="855602" y="0"/>
                        </a:cubicBezTo>
                        <a:cubicBezTo>
                          <a:pt x="1089382" y="-3376"/>
                          <a:pt x="1140254" y="36035"/>
                          <a:pt x="1304595" y="0"/>
                        </a:cubicBezTo>
                        <a:cubicBezTo>
                          <a:pt x="1468936" y="-36035"/>
                          <a:pt x="1567076" y="35168"/>
                          <a:pt x="1780000" y="0"/>
                        </a:cubicBezTo>
                        <a:cubicBezTo>
                          <a:pt x="1992925" y="-35168"/>
                          <a:pt x="2096411" y="148"/>
                          <a:pt x="2255405" y="0"/>
                        </a:cubicBezTo>
                        <a:cubicBezTo>
                          <a:pt x="2414400" y="-148"/>
                          <a:pt x="2633995" y="15952"/>
                          <a:pt x="2915689" y="0"/>
                        </a:cubicBezTo>
                        <a:cubicBezTo>
                          <a:pt x="3069955" y="25025"/>
                          <a:pt x="3215393" y="114461"/>
                          <a:pt x="3190241" y="274552"/>
                        </a:cubicBezTo>
                        <a:cubicBezTo>
                          <a:pt x="3189681" y="350956"/>
                          <a:pt x="3197657" y="45913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95131" y="560735"/>
                          <a:pt x="2819099" y="496731"/>
                          <a:pt x="2658533" y="549103"/>
                        </a:cubicBezTo>
                        <a:cubicBezTo>
                          <a:pt x="2497967" y="601475"/>
                          <a:pt x="2248402" y="537460"/>
                          <a:pt x="2126827" y="549103"/>
                        </a:cubicBezTo>
                        <a:cubicBezTo>
                          <a:pt x="2005252" y="560746"/>
                          <a:pt x="1770291" y="538955"/>
                          <a:pt x="1658925" y="549103"/>
                        </a:cubicBezTo>
                        <a:cubicBezTo>
                          <a:pt x="1547559" y="559251"/>
                          <a:pt x="1311371" y="547825"/>
                          <a:pt x="1095316" y="549103"/>
                        </a:cubicBezTo>
                        <a:cubicBezTo>
                          <a:pt x="879261" y="550381"/>
                          <a:pt x="831984" y="493925"/>
                          <a:pt x="627414" y="549103"/>
                        </a:cubicBezTo>
                        <a:cubicBezTo>
                          <a:pt x="422844" y="604281"/>
                          <a:pt x="166004" y="538288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1299" y="467894"/>
                          <a:pt x="9634" y="363670"/>
                          <a:pt x="0" y="274552"/>
                        </a:cubicBezTo>
                        <a:cubicBezTo>
                          <a:pt x="-22120" y="114441"/>
                          <a:pt x="154514" y="-31067"/>
                          <a:pt x="274552" y="0"/>
                        </a:cubicBezTo>
                        <a:close/>
                      </a:path>
                      <a:path w="3190240" h="549103" stroke="0" extrusionOk="0">
                        <a:moveTo>
                          <a:pt x="274552" y="0"/>
                        </a:moveTo>
                        <a:cubicBezTo>
                          <a:pt x="399970" y="-22710"/>
                          <a:pt x="654668" y="2484"/>
                          <a:pt x="776368" y="0"/>
                        </a:cubicBezTo>
                        <a:cubicBezTo>
                          <a:pt x="898068" y="-2484"/>
                          <a:pt x="1014447" y="38675"/>
                          <a:pt x="1225361" y="0"/>
                        </a:cubicBezTo>
                        <a:cubicBezTo>
                          <a:pt x="1436275" y="-38675"/>
                          <a:pt x="1562490" y="1481"/>
                          <a:pt x="1806411" y="0"/>
                        </a:cubicBezTo>
                        <a:cubicBezTo>
                          <a:pt x="2050332" y="-1481"/>
                          <a:pt x="2135571" y="31241"/>
                          <a:pt x="2308227" y="0"/>
                        </a:cubicBezTo>
                        <a:cubicBezTo>
                          <a:pt x="2480883" y="-31241"/>
                          <a:pt x="2718760" y="30376"/>
                          <a:pt x="2915689" y="0"/>
                        </a:cubicBezTo>
                        <a:cubicBezTo>
                          <a:pt x="3070025" y="-10011"/>
                          <a:pt x="3167717" y="108152"/>
                          <a:pt x="3190241" y="274552"/>
                        </a:cubicBezTo>
                        <a:cubicBezTo>
                          <a:pt x="3202225" y="346567"/>
                          <a:pt x="3185783" y="46150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65458" y="595554"/>
                          <a:pt x="2853283" y="523738"/>
                          <a:pt x="2658533" y="549103"/>
                        </a:cubicBezTo>
                        <a:cubicBezTo>
                          <a:pt x="2463783" y="574468"/>
                          <a:pt x="2344165" y="513624"/>
                          <a:pt x="2222534" y="549103"/>
                        </a:cubicBezTo>
                        <a:cubicBezTo>
                          <a:pt x="2100903" y="584582"/>
                          <a:pt x="1860042" y="508330"/>
                          <a:pt x="1690827" y="549103"/>
                        </a:cubicBezTo>
                        <a:cubicBezTo>
                          <a:pt x="1521612" y="589876"/>
                          <a:pt x="1302742" y="499121"/>
                          <a:pt x="1159121" y="549103"/>
                        </a:cubicBezTo>
                        <a:cubicBezTo>
                          <a:pt x="1015500" y="599085"/>
                          <a:pt x="866131" y="516064"/>
                          <a:pt x="659316" y="549103"/>
                        </a:cubicBezTo>
                        <a:cubicBezTo>
                          <a:pt x="452502" y="582142"/>
                          <a:pt x="195622" y="517307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699" y="492953"/>
                          <a:pt x="30684" y="394117"/>
                          <a:pt x="0" y="274552"/>
                        </a:cubicBezTo>
                        <a:cubicBezTo>
                          <a:pt x="-29017" y="102900"/>
                          <a:pt x="108031" y="-1057"/>
                          <a:pt x="274552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34DF12-DC71-A9EE-95D0-75052A41A404}"/>
              </a:ext>
            </a:extLst>
          </p:cNvPr>
          <p:cNvSpPr txBox="1"/>
          <p:nvPr/>
        </p:nvSpPr>
        <p:spPr>
          <a:xfrm>
            <a:off x="4500000" y="1789009"/>
            <a:ext cx="319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atin typeface="Arial Rounded MT Bold" panose="020F0704030504030204" pitchFamily="34" charset="0"/>
              </a:rPr>
              <a:t>Spike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FF3A1E-4AC0-D568-83EC-F51292F1E16C}"/>
              </a:ext>
            </a:extLst>
          </p:cNvPr>
          <p:cNvSpPr txBox="1"/>
          <p:nvPr/>
        </p:nvSpPr>
        <p:spPr>
          <a:xfrm>
            <a:off x="4500000" y="5617953"/>
            <a:ext cx="319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badi ExtraLight" panose="020B0204020104020204" pitchFamily="34" charset="0"/>
              </a:rPr>
              <a:t>VentureBeat / Deloitte, 2024</a:t>
            </a:r>
            <a:endParaRPr lang="en-US" sz="1000" dirty="0">
              <a:latin typeface="Abadi ExtraLight" panose="020B0204020104020204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8A47219-3BD1-0B72-2279-C24970670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67134" y="1843421"/>
            <a:ext cx="3190240" cy="4340324"/>
          </a:xfrm>
          <a:prstGeom prst="round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B6B6B6"/>
              </a:gs>
            </a:gsLst>
            <a:lin ang="540000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91CABA-70E9-7C93-3D34-D99B003C7C75}"/>
              </a:ext>
            </a:extLst>
          </p:cNvPr>
          <p:cNvSpPr txBox="1"/>
          <p:nvPr/>
        </p:nvSpPr>
        <p:spPr>
          <a:xfrm>
            <a:off x="8167133" y="2730562"/>
            <a:ext cx="3190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latin typeface="Amasis MT Pro Medium" panose="02040604050005020304" pitchFamily="18" charset="0"/>
              </a:rPr>
              <a:t>40 B$ </a:t>
            </a:r>
          </a:p>
          <a:p>
            <a:pPr algn="ctr"/>
            <a:r>
              <a:rPr lang="en-US" sz="2400" b="1" dirty="0">
                <a:latin typeface="Amasis MT Pro Medium" panose="02040604050005020304" pitchFamily="18" charset="0"/>
              </a:rPr>
              <a:t>by 2027</a:t>
            </a:r>
            <a:endParaRPr lang="en-US" sz="2400" b="1" dirty="0">
              <a:latin typeface="Amasis MT Pro Medium" panose="02040604050005020304" pitchFamily="18" charset="0"/>
              <a:cs typeface="Aharoni" panose="020F0502020204030204" pitchFamily="2" charset="-79"/>
            </a:endParaRPr>
          </a:p>
        </p:txBody>
      </p:sp>
      <p:sp>
        <p:nvSpPr>
          <p:cNvPr id="62" name="Rectangle: Top Corners Rounded 61">
            <a:extLst>
              <a:ext uri="{FF2B5EF4-FFF2-40B4-BE49-F238E27FC236}">
                <a16:creationId xmlns:a16="http://schemas.microsoft.com/office/drawing/2014/main" id="{94E2A990-5C90-E6EA-89F1-419B44681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67134" y="1836153"/>
            <a:ext cx="3190240" cy="5491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C5C6"/>
          </a:solidFill>
          <a:ln w="25400" cap="flat"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274552 w 3190240"/>
                      <a:gd name="csY0" fmla="*/ 0 h 549103"/>
                      <a:gd name="csX1" fmla="*/ 855602 w 3190240"/>
                      <a:gd name="csY1" fmla="*/ 0 h 549103"/>
                      <a:gd name="csX2" fmla="*/ 1304595 w 3190240"/>
                      <a:gd name="csY2" fmla="*/ 0 h 549103"/>
                      <a:gd name="csX3" fmla="*/ 1780000 w 3190240"/>
                      <a:gd name="csY3" fmla="*/ 0 h 549103"/>
                      <a:gd name="csX4" fmla="*/ 2255405 w 3190240"/>
                      <a:gd name="csY4" fmla="*/ 0 h 549103"/>
                      <a:gd name="csX5" fmla="*/ 2915689 w 3190240"/>
                      <a:gd name="csY5" fmla="*/ 0 h 549103"/>
                      <a:gd name="csX6" fmla="*/ 3190241 w 3190240"/>
                      <a:gd name="csY6" fmla="*/ 274552 h 549103"/>
                      <a:gd name="csX7" fmla="*/ 3190240 w 3190240"/>
                      <a:gd name="csY7" fmla="*/ 549103 h 549103"/>
                      <a:gd name="csX8" fmla="*/ 3190240 w 3190240"/>
                      <a:gd name="csY8" fmla="*/ 549103 h 549103"/>
                      <a:gd name="csX9" fmla="*/ 2658533 w 3190240"/>
                      <a:gd name="csY9" fmla="*/ 549103 h 549103"/>
                      <a:gd name="csX10" fmla="*/ 2126827 w 3190240"/>
                      <a:gd name="csY10" fmla="*/ 549103 h 549103"/>
                      <a:gd name="csX11" fmla="*/ 1658925 w 3190240"/>
                      <a:gd name="csY11" fmla="*/ 549103 h 549103"/>
                      <a:gd name="csX12" fmla="*/ 1095316 w 3190240"/>
                      <a:gd name="csY12" fmla="*/ 549103 h 549103"/>
                      <a:gd name="csX13" fmla="*/ 627414 w 3190240"/>
                      <a:gd name="csY13" fmla="*/ 549103 h 549103"/>
                      <a:gd name="csX14" fmla="*/ 0 w 3190240"/>
                      <a:gd name="csY14" fmla="*/ 549103 h 549103"/>
                      <a:gd name="csX15" fmla="*/ 0 w 3190240"/>
                      <a:gd name="csY15" fmla="*/ 549103 h 549103"/>
                      <a:gd name="csX16" fmla="*/ 0 w 3190240"/>
                      <a:gd name="csY16" fmla="*/ 274552 h 549103"/>
                      <a:gd name="csX17" fmla="*/ 274552 w 3190240"/>
                      <a:gd name="csY17" fmla="*/ 0 h 5491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3190240" h="549103" fill="none" extrusionOk="0">
                        <a:moveTo>
                          <a:pt x="274552" y="0"/>
                        </a:moveTo>
                        <a:cubicBezTo>
                          <a:pt x="478846" y="-22366"/>
                          <a:pt x="621822" y="3376"/>
                          <a:pt x="855602" y="0"/>
                        </a:cubicBezTo>
                        <a:cubicBezTo>
                          <a:pt x="1089382" y="-3376"/>
                          <a:pt x="1140254" y="36035"/>
                          <a:pt x="1304595" y="0"/>
                        </a:cubicBezTo>
                        <a:cubicBezTo>
                          <a:pt x="1468936" y="-36035"/>
                          <a:pt x="1567076" y="35168"/>
                          <a:pt x="1780000" y="0"/>
                        </a:cubicBezTo>
                        <a:cubicBezTo>
                          <a:pt x="1992925" y="-35168"/>
                          <a:pt x="2096411" y="148"/>
                          <a:pt x="2255405" y="0"/>
                        </a:cubicBezTo>
                        <a:cubicBezTo>
                          <a:pt x="2414400" y="-148"/>
                          <a:pt x="2633995" y="15952"/>
                          <a:pt x="2915689" y="0"/>
                        </a:cubicBezTo>
                        <a:cubicBezTo>
                          <a:pt x="3069955" y="25025"/>
                          <a:pt x="3215393" y="114461"/>
                          <a:pt x="3190241" y="274552"/>
                        </a:cubicBezTo>
                        <a:cubicBezTo>
                          <a:pt x="3189681" y="350956"/>
                          <a:pt x="3197657" y="45913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95131" y="560735"/>
                          <a:pt x="2819099" y="496731"/>
                          <a:pt x="2658533" y="549103"/>
                        </a:cubicBezTo>
                        <a:cubicBezTo>
                          <a:pt x="2497967" y="601475"/>
                          <a:pt x="2248402" y="537460"/>
                          <a:pt x="2126827" y="549103"/>
                        </a:cubicBezTo>
                        <a:cubicBezTo>
                          <a:pt x="2005252" y="560746"/>
                          <a:pt x="1770291" y="538955"/>
                          <a:pt x="1658925" y="549103"/>
                        </a:cubicBezTo>
                        <a:cubicBezTo>
                          <a:pt x="1547559" y="559251"/>
                          <a:pt x="1311371" y="547825"/>
                          <a:pt x="1095316" y="549103"/>
                        </a:cubicBezTo>
                        <a:cubicBezTo>
                          <a:pt x="879261" y="550381"/>
                          <a:pt x="831984" y="493925"/>
                          <a:pt x="627414" y="549103"/>
                        </a:cubicBezTo>
                        <a:cubicBezTo>
                          <a:pt x="422844" y="604281"/>
                          <a:pt x="166004" y="538288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1299" y="467894"/>
                          <a:pt x="9634" y="363670"/>
                          <a:pt x="0" y="274552"/>
                        </a:cubicBezTo>
                        <a:cubicBezTo>
                          <a:pt x="-22120" y="114441"/>
                          <a:pt x="154514" y="-31067"/>
                          <a:pt x="274552" y="0"/>
                        </a:cubicBezTo>
                        <a:close/>
                      </a:path>
                      <a:path w="3190240" h="549103" stroke="0" extrusionOk="0">
                        <a:moveTo>
                          <a:pt x="274552" y="0"/>
                        </a:moveTo>
                        <a:cubicBezTo>
                          <a:pt x="399970" y="-22710"/>
                          <a:pt x="654668" y="2484"/>
                          <a:pt x="776368" y="0"/>
                        </a:cubicBezTo>
                        <a:cubicBezTo>
                          <a:pt x="898068" y="-2484"/>
                          <a:pt x="1014447" y="38675"/>
                          <a:pt x="1225361" y="0"/>
                        </a:cubicBezTo>
                        <a:cubicBezTo>
                          <a:pt x="1436275" y="-38675"/>
                          <a:pt x="1562490" y="1481"/>
                          <a:pt x="1806411" y="0"/>
                        </a:cubicBezTo>
                        <a:cubicBezTo>
                          <a:pt x="2050332" y="-1481"/>
                          <a:pt x="2135571" y="31241"/>
                          <a:pt x="2308227" y="0"/>
                        </a:cubicBezTo>
                        <a:cubicBezTo>
                          <a:pt x="2480883" y="-31241"/>
                          <a:pt x="2718760" y="30376"/>
                          <a:pt x="2915689" y="0"/>
                        </a:cubicBezTo>
                        <a:cubicBezTo>
                          <a:pt x="3070025" y="-10011"/>
                          <a:pt x="3167717" y="108152"/>
                          <a:pt x="3190241" y="274552"/>
                        </a:cubicBezTo>
                        <a:cubicBezTo>
                          <a:pt x="3202225" y="346567"/>
                          <a:pt x="3185783" y="46150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65458" y="595554"/>
                          <a:pt x="2853283" y="523738"/>
                          <a:pt x="2658533" y="549103"/>
                        </a:cubicBezTo>
                        <a:cubicBezTo>
                          <a:pt x="2463783" y="574468"/>
                          <a:pt x="2344165" y="513624"/>
                          <a:pt x="2222534" y="549103"/>
                        </a:cubicBezTo>
                        <a:cubicBezTo>
                          <a:pt x="2100903" y="584582"/>
                          <a:pt x="1860042" y="508330"/>
                          <a:pt x="1690827" y="549103"/>
                        </a:cubicBezTo>
                        <a:cubicBezTo>
                          <a:pt x="1521612" y="589876"/>
                          <a:pt x="1302742" y="499121"/>
                          <a:pt x="1159121" y="549103"/>
                        </a:cubicBezTo>
                        <a:cubicBezTo>
                          <a:pt x="1015500" y="599085"/>
                          <a:pt x="866131" y="516064"/>
                          <a:pt x="659316" y="549103"/>
                        </a:cubicBezTo>
                        <a:cubicBezTo>
                          <a:pt x="452502" y="582142"/>
                          <a:pt x="195622" y="517307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699" y="492953"/>
                          <a:pt x="30684" y="394117"/>
                          <a:pt x="0" y="274552"/>
                        </a:cubicBezTo>
                        <a:cubicBezTo>
                          <a:pt x="-29017" y="102900"/>
                          <a:pt x="108031" y="-1057"/>
                          <a:pt x="274552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76EBE4-7289-15D6-D7D7-194C7F8AA6C6}"/>
              </a:ext>
            </a:extLst>
          </p:cNvPr>
          <p:cNvSpPr txBox="1"/>
          <p:nvPr/>
        </p:nvSpPr>
        <p:spPr>
          <a:xfrm>
            <a:off x="8167133" y="1816215"/>
            <a:ext cx="319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atin typeface="Arial Rounded MT Bold" panose="020F0704030504030204" pitchFamily="34" charset="0"/>
              </a:rPr>
              <a:t>Expectation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B45F148-7481-8809-E153-8DA73BB67ABE}"/>
              </a:ext>
            </a:extLst>
          </p:cNvPr>
          <p:cNvSpPr txBox="1"/>
          <p:nvPr/>
        </p:nvSpPr>
        <p:spPr>
          <a:xfrm>
            <a:off x="8167133" y="5645159"/>
            <a:ext cx="319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badi ExtraLight" panose="020B0204020104020204" pitchFamily="34" charset="0"/>
              </a:rPr>
              <a:t>Deloitte Center for Financial Services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AAE8C0A-4E3F-F2D6-D520-1F0D53A583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7887" y="4288618"/>
            <a:ext cx="1188720" cy="11887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EF9BB9-9564-E9E2-916E-5BE1613EFB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919" y="4334338"/>
            <a:ext cx="1097280" cy="10972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CD5647-5A49-E5E4-B7C6-AA0DF24834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7084" y="4288618"/>
            <a:ext cx="1188720" cy="118872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948F918-2556-42D8-4918-766F8101C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5348868" y="1546662"/>
            <a:ext cx="5029200" cy="4854140"/>
          </a:xfrm>
          <a:prstGeom prst="roundRect">
            <a:avLst>
              <a:gd name="adj" fmla="val 6309"/>
            </a:avLst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B6B6B6"/>
              </a:gs>
            </a:gsLst>
            <a:lin ang="540000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20FF679F-C1DE-50A2-3506-90B4367DA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5348868" y="1539394"/>
            <a:ext cx="5029199" cy="5491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C5C6"/>
          </a:solidFill>
          <a:ln w="25400" cap="flat"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274552 w 3190240"/>
                      <a:gd name="csY0" fmla="*/ 0 h 549103"/>
                      <a:gd name="csX1" fmla="*/ 855602 w 3190240"/>
                      <a:gd name="csY1" fmla="*/ 0 h 549103"/>
                      <a:gd name="csX2" fmla="*/ 1304595 w 3190240"/>
                      <a:gd name="csY2" fmla="*/ 0 h 549103"/>
                      <a:gd name="csX3" fmla="*/ 1780000 w 3190240"/>
                      <a:gd name="csY3" fmla="*/ 0 h 549103"/>
                      <a:gd name="csX4" fmla="*/ 2255405 w 3190240"/>
                      <a:gd name="csY4" fmla="*/ 0 h 549103"/>
                      <a:gd name="csX5" fmla="*/ 2915689 w 3190240"/>
                      <a:gd name="csY5" fmla="*/ 0 h 549103"/>
                      <a:gd name="csX6" fmla="*/ 3190241 w 3190240"/>
                      <a:gd name="csY6" fmla="*/ 274552 h 549103"/>
                      <a:gd name="csX7" fmla="*/ 3190240 w 3190240"/>
                      <a:gd name="csY7" fmla="*/ 549103 h 549103"/>
                      <a:gd name="csX8" fmla="*/ 3190240 w 3190240"/>
                      <a:gd name="csY8" fmla="*/ 549103 h 549103"/>
                      <a:gd name="csX9" fmla="*/ 2658533 w 3190240"/>
                      <a:gd name="csY9" fmla="*/ 549103 h 549103"/>
                      <a:gd name="csX10" fmla="*/ 2126827 w 3190240"/>
                      <a:gd name="csY10" fmla="*/ 549103 h 549103"/>
                      <a:gd name="csX11" fmla="*/ 1658925 w 3190240"/>
                      <a:gd name="csY11" fmla="*/ 549103 h 549103"/>
                      <a:gd name="csX12" fmla="*/ 1095316 w 3190240"/>
                      <a:gd name="csY12" fmla="*/ 549103 h 549103"/>
                      <a:gd name="csX13" fmla="*/ 627414 w 3190240"/>
                      <a:gd name="csY13" fmla="*/ 549103 h 549103"/>
                      <a:gd name="csX14" fmla="*/ 0 w 3190240"/>
                      <a:gd name="csY14" fmla="*/ 549103 h 549103"/>
                      <a:gd name="csX15" fmla="*/ 0 w 3190240"/>
                      <a:gd name="csY15" fmla="*/ 549103 h 549103"/>
                      <a:gd name="csX16" fmla="*/ 0 w 3190240"/>
                      <a:gd name="csY16" fmla="*/ 274552 h 549103"/>
                      <a:gd name="csX17" fmla="*/ 274552 w 3190240"/>
                      <a:gd name="csY17" fmla="*/ 0 h 5491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3190240" h="549103" fill="none" extrusionOk="0">
                        <a:moveTo>
                          <a:pt x="274552" y="0"/>
                        </a:moveTo>
                        <a:cubicBezTo>
                          <a:pt x="478846" y="-22366"/>
                          <a:pt x="621822" y="3376"/>
                          <a:pt x="855602" y="0"/>
                        </a:cubicBezTo>
                        <a:cubicBezTo>
                          <a:pt x="1089382" y="-3376"/>
                          <a:pt x="1140254" y="36035"/>
                          <a:pt x="1304595" y="0"/>
                        </a:cubicBezTo>
                        <a:cubicBezTo>
                          <a:pt x="1468936" y="-36035"/>
                          <a:pt x="1567076" y="35168"/>
                          <a:pt x="1780000" y="0"/>
                        </a:cubicBezTo>
                        <a:cubicBezTo>
                          <a:pt x="1992925" y="-35168"/>
                          <a:pt x="2096411" y="148"/>
                          <a:pt x="2255405" y="0"/>
                        </a:cubicBezTo>
                        <a:cubicBezTo>
                          <a:pt x="2414400" y="-148"/>
                          <a:pt x="2633995" y="15952"/>
                          <a:pt x="2915689" y="0"/>
                        </a:cubicBezTo>
                        <a:cubicBezTo>
                          <a:pt x="3069955" y="25025"/>
                          <a:pt x="3215393" y="114461"/>
                          <a:pt x="3190241" y="274552"/>
                        </a:cubicBezTo>
                        <a:cubicBezTo>
                          <a:pt x="3189681" y="350956"/>
                          <a:pt x="3197657" y="45913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95131" y="560735"/>
                          <a:pt x="2819099" y="496731"/>
                          <a:pt x="2658533" y="549103"/>
                        </a:cubicBezTo>
                        <a:cubicBezTo>
                          <a:pt x="2497967" y="601475"/>
                          <a:pt x="2248402" y="537460"/>
                          <a:pt x="2126827" y="549103"/>
                        </a:cubicBezTo>
                        <a:cubicBezTo>
                          <a:pt x="2005252" y="560746"/>
                          <a:pt x="1770291" y="538955"/>
                          <a:pt x="1658925" y="549103"/>
                        </a:cubicBezTo>
                        <a:cubicBezTo>
                          <a:pt x="1547559" y="559251"/>
                          <a:pt x="1311371" y="547825"/>
                          <a:pt x="1095316" y="549103"/>
                        </a:cubicBezTo>
                        <a:cubicBezTo>
                          <a:pt x="879261" y="550381"/>
                          <a:pt x="831984" y="493925"/>
                          <a:pt x="627414" y="549103"/>
                        </a:cubicBezTo>
                        <a:cubicBezTo>
                          <a:pt x="422844" y="604281"/>
                          <a:pt x="166004" y="538288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1299" y="467894"/>
                          <a:pt x="9634" y="363670"/>
                          <a:pt x="0" y="274552"/>
                        </a:cubicBezTo>
                        <a:cubicBezTo>
                          <a:pt x="-22120" y="114441"/>
                          <a:pt x="154514" y="-31067"/>
                          <a:pt x="274552" y="0"/>
                        </a:cubicBezTo>
                        <a:close/>
                      </a:path>
                      <a:path w="3190240" h="549103" stroke="0" extrusionOk="0">
                        <a:moveTo>
                          <a:pt x="274552" y="0"/>
                        </a:moveTo>
                        <a:cubicBezTo>
                          <a:pt x="399970" y="-22710"/>
                          <a:pt x="654668" y="2484"/>
                          <a:pt x="776368" y="0"/>
                        </a:cubicBezTo>
                        <a:cubicBezTo>
                          <a:pt x="898068" y="-2484"/>
                          <a:pt x="1014447" y="38675"/>
                          <a:pt x="1225361" y="0"/>
                        </a:cubicBezTo>
                        <a:cubicBezTo>
                          <a:pt x="1436275" y="-38675"/>
                          <a:pt x="1562490" y="1481"/>
                          <a:pt x="1806411" y="0"/>
                        </a:cubicBezTo>
                        <a:cubicBezTo>
                          <a:pt x="2050332" y="-1481"/>
                          <a:pt x="2135571" y="31241"/>
                          <a:pt x="2308227" y="0"/>
                        </a:cubicBezTo>
                        <a:cubicBezTo>
                          <a:pt x="2480883" y="-31241"/>
                          <a:pt x="2718760" y="30376"/>
                          <a:pt x="2915689" y="0"/>
                        </a:cubicBezTo>
                        <a:cubicBezTo>
                          <a:pt x="3070025" y="-10011"/>
                          <a:pt x="3167717" y="108152"/>
                          <a:pt x="3190241" y="274552"/>
                        </a:cubicBezTo>
                        <a:cubicBezTo>
                          <a:pt x="3202225" y="346567"/>
                          <a:pt x="3185783" y="46150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65458" y="595554"/>
                          <a:pt x="2853283" y="523738"/>
                          <a:pt x="2658533" y="549103"/>
                        </a:cubicBezTo>
                        <a:cubicBezTo>
                          <a:pt x="2463783" y="574468"/>
                          <a:pt x="2344165" y="513624"/>
                          <a:pt x="2222534" y="549103"/>
                        </a:cubicBezTo>
                        <a:cubicBezTo>
                          <a:pt x="2100903" y="584582"/>
                          <a:pt x="1860042" y="508330"/>
                          <a:pt x="1690827" y="549103"/>
                        </a:cubicBezTo>
                        <a:cubicBezTo>
                          <a:pt x="1521612" y="589876"/>
                          <a:pt x="1302742" y="499121"/>
                          <a:pt x="1159121" y="549103"/>
                        </a:cubicBezTo>
                        <a:cubicBezTo>
                          <a:pt x="1015500" y="599085"/>
                          <a:pt x="866131" y="516064"/>
                          <a:pt x="659316" y="549103"/>
                        </a:cubicBezTo>
                        <a:cubicBezTo>
                          <a:pt x="452502" y="582142"/>
                          <a:pt x="195622" y="517307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699" y="492953"/>
                          <a:pt x="30684" y="394117"/>
                          <a:pt x="0" y="274552"/>
                        </a:cubicBezTo>
                        <a:cubicBezTo>
                          <a:pt x="-29017" y="102900"/>
                          <a:pt x="108031" y="-1057"/>
                          <a:pt x="274552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A49667-3894-3C1F-C6A9-1AF11DF38AAF}"/>
              </a:ext>
            </a:extLst>
          </p:cNvPr>
          <p:cNvSpPr txBox="1"/>
          <p:nvPr/>
        </p:nvSpPr>
        <p:spPr>
          <a:xfrm>
            <a:off x="-5348868" y="1519456"/>
            <a:ext cx="50291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atin typeface="Arial Rounded MT Bold" panose="020F0704030504030204" pitchFamily="34" charset="0"/>
              </a:rPr>
              <a:t>Fragmentation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626798F-4F10-4DC7-B0A6-9A61D2BDF9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5153595" y="3541130"/>
            <a:ext cx="865204" cy="86520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F19F41D-36B5-88B8-0161-486FA7940D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816141" y="5400618"/>
            <a:ext cx="865204" cy="86520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B7FAF0A-E692-A7CB-BE15-83173623E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300844" y="3541130"/>
            <a:ext cx="865204" cy="865204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EB39C34-FC54-4AC4-4CD7-9907895964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3266870" y="2171281"/>
            <a:ext cx="865204" cy="865204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AD98C52-B42F-6846-D90F-2EEC35817D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4719668" y="5364984"/>
            <a:ext cx="865204" cy="865204"/>
          </a:xfrm>
          <a:prstGeom prst="rect">
            <a:avLst/>
          </a:prstGeom>
        </p:spPr>
      </p:pic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35406779-27CA-F0CF-5332-04F693E94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605240" y="3326141"/>
            <a:ext cx="1540441" cy="370742"/>
          </a:xfrm>
          <a:prstGeom prst="wedgeRoundRectCallout">
            <a:avLst>
              <a:gd name="adj1" fmla="val -948"/>
              <a:gd name="adj2" fmla="val 156745"/>
              <a:gd name="adj3" fmla="val 16667"/>
            </a:avLst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1C51DF-C12D-874D-DF13-C5B5604DBA71}"/>
              </a:ext>
            </a:extLst>
          </p:cNvPr>
          <p:cNvSpPr txBox="1"/>
          <p:nvPr/>
        </p:nvSpPr>
        <p:spPr>
          <a:xfrm>
            <a:off x="-3617562" y="3296773"/>
            <a:ext cx="15527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******** </a:t>
            </a:r>
            <a:r>
              <a:rPr lang="fr-FR" sz="2000" b="1" dirty="0">
                <a:latin typeface="Aptos Slab Black" panose="020B0004020202020204" pitchFamily="34" charset="0"/>
                <a:ea typeface="Batang" panose="02030600000101010101" pitchFamily="18" charset="-127"/>
              </a:rPr>
              <a:t>?</a:t>
            </a:r>
            <a:endParaRPr lang="en-US" sz="2000" b="1" dirty="0">
              <a:latin typeface="Aptos Slab Black" panose="020B0004020202020204" pitchFamily="34" charset="0"/>
              <a:ea typeface="Batang" panose="02030600000101010101" pitchFamily="18" charset="-127"/>
            </a:endParaRP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C48FF0AD-D544-9884-96FE-FC1A80204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3808780" y="3415490"/>
            <a:ext cx="1939761" cy="2648986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DE7E3D4-C6BE-FE55-8B3E-205A1FE1B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509335" y="1600354"/>
            <a:ext cx="5027438" cy="4800447"/>
          </a:xfrm>
          <a:prstGeom prst="roundRect">
            <a:avLst>
              <a:gd name="adj" fmla="val 5899"/>
            </a:avLst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B6B6B6"/>
              </a:gs>
            </a:gsLst>
            <a:lin ang="540000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D39E72F6-F4EA-8D44-1540-5EF6E0112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509335" y="1593087"/>
            <a:ext cx="5027438" cy="5491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C5C6"/>
          </a:solidFill>
          <a:ln w="25400" cap="flat"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274552 w 3190240"/>
                      <a:gd name="csY0" fmla="*/ 0 h 549103"/>
                      <a:gd name="csX1" fmla="*/ 855602 w 3190240"/>
                      <a:gd name="csY1" fmla="*/ 0 h 549103"/>
                      <a:gd name="csX2" fmla="*/ 1304595 w 3190240"/>
                      <a:gd name="csY2" fmla="*/ 0 h 549103"/>
                      <a:gd name="csX3" fmla="*/ 1780000 w 3190240"/>
                      <a:gd name="csY3" fmla="*/ 0 h 549103"/>
                      <a:gd name="csX4" fmla="*/ 2255405 w 3190240"/>
                      <a:gd name="csY4" fmla="*/ 0 h 549103"/>
                      <a:gd name="csX5" fmla="*/ 2915689 w 3190240"/>
                      <a:gd name="csY5" fmla="*/ 0 h 549103"/>
                      <a:gd name="csX6" fmla="*/ 3190241 w 3190240"/>
                      <a:gd name="csY6" fmla="*/ 274552 h 549103"/>
                      <a:gd name="csX7" fmla="*/ 3190240 w 3190240"/>
                      <a:gd name="csY7" fmla="*/ 549103 h 549103"/>
                      <a:gd name="csX8" fmla="*/ 3190240 w 3190240"/>
                      <a:gd name="csY8" fmla="*/ 549103 h 549103"/>
                      <a:gd name="csX9" fmla="*/ 2658533 w 3190240"/>
                      <a:gd name="csY9" fmla="*/ 549103 h 549103"/>
                      <a:gd name="csX10" fmla="*/ 2126827 w 3190240"/>
                      <a:gd name="csY10" fmla="*/ 549103 h 549103"/>
                      <a:gd name="csX11" fmla="*/ 1658925 w 3190240"/>
                      <a:gd name="csY11" fmla="*/ 549103 h 549103"/>
                      <a:gd name="csX12" fmla="*/ 1095316 w 3190240"/>
                      <a:gd name="csY12" fmla="*/ 549103 h 549103"/>
                      <a:gd name="csX13" fmla="*/ 627414 w 3190240"/>
                      <a:gd name="csY13" fmla="*/ 549103 h 549103"/>
                      <a:gd name="csX14" fmla="*/ 0 w 3190240"/>
                      <a:gd name="csY14" fmla="*/ 549103 h 549103"/>
                      <a:gd name="csX15" fmla="*/ 0 w 3190240"/>
                      <a:gd name="csY15" fmla="*/ 549103 h 549103"/>
                      <a:gd name="csX16" fmla="*/ 0 w 3190240"/>
                      <a:gd name="csY16" fmla="*/ 274552 h 549103"/>
                      <a:gd name="csX17" fmla="*/ 274552 w 3190240"/>
                      <a:gd name="csY17" fmla="*/ 0 h 5491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3190240" h="549103" fill="none" extrusionOk="0">
                        <a:moveTo>
                          <a:pt x="274552" y="0"/>
                        </a:moveTo>
                        <a:cubicBezTo>
                          <a:pt x="478846" y="-22366"/>
                          <a:pt x="621822" y="3376"/>
                          <a:pt x="855602" y="0"/>
                        </a:cubicBezTo>
                        <a:cubicBezTo>
                          <a:pt x="1089382" y="-3376"/>
                          <a:pt x="1140254" y="36035"/>
                          <a:pt x="1304595" y="0"/>
                        </a:cubicBezTo>
                        <a:cubicBezTo>
                          <a:pt x="1468936" y="-36035"/>
                          <a:pt x="1567076" y="35168"/>
                          <a:pt x="1780000" y="0"/>
                        </a:cubicBezTo>
                        <a:cubicBezTo>
                          <a:pt x="1992925" y="-35168"/>
                          <a:pt x="2096411" y="148"/>
                          <a:pt x="2255405" y="0"/>
                        </a:cubicBezTo>
                        <a:cubicBezTo>
                          <a:pt x="2414400" y="-148"/>
                          <a:pt x="2633995" y="15952"/>
                          <a:pt x="2915689" y="0"/>
                        </a:cubicBezTo>
                        <a:cubicBezTo>
                          <a:pt x="3069955" y="25025"/>
                          <a:pt x="3215393" y="114461"/>
                          <a:pt x="3190241" y="274552"/>
                        </a:cubicBezTo>
                        <a:cubicBezTo>
                          <a:pt x="3189681" y="350956"/>
                          <a:pt x="3197657" y="45913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95131" y="560735"/>
                          <a:pt x="2819099" y="496731"/>
                          <a:pt x="2658533" y="549103"/>
                        </a:cubicBezTo>
                        <a:cubicBezTo>
                          <a:pt x="2497967" y="601475"/>
                          <a:pt x="2248402" y="537460"/>
                          <a:pt x="2126827" y="549103"/>
                        </a:cubicBezTo>
                        <a:cubicBezTo>
                          <a:pt x="2005252" y="560746"/>
                          <a:pt x="1770291" y="538955"/>
                          <a:pt x="1658925" y="549103"/>
                        </a:cubicBezTo>
                        <a:cubicBezTo>
                          <a:pt x="1547559" y="559251"/>
                          <a:pt x="1311371" y="547825"/>
                          <a:pt x="1095316" y="549103"/>
                        </a:cubicBezTo>
                        <a:cubicBezTo>
                          <a:pt x="879261" y="550381"/>
                          <a:pt x="831984" y="493925"/>
                          <a:pt x="627414" y="549103"/>
                        </a:cubicBezTo>
                        <a:cubicBezTo>
                          <a:pt x="422844" y="604281"/>
                          <a:pt x="166004" y="538288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1299" y="467894"/>
                          <a:pt x="9634" y="363670"/>
                          <a:pt x="0" y="274552"/>
                        </a:cubicBezTo>
                        <a:cubicBezTo>
                          <a:pt x="-22120" y="114441"/>
                          <a:pt x="154514" y="-31067"/>
                          <a:pt x="274552" y="0"/>
                        </a:cubicBezTo>
                        <a:close/>
                      </a:path>
                      <a:path w="3190240" h="549103" stroke="0" extrusionOk="0">
                        <a:moveTo>
                          <a:pt x="274552" y="0"/>
                        </a:moveTo>
                        <a:cubicBezTo>
                          <a:pt x="399970" y="-22710"/>
                          <a:pt x="654668" y="2484"/>
                          <a:pt x="776368" y="0"/>
                        </a:cubicBezTo>
                        <a:cubicBezTo>
                          <a:pt x="898068" y="-2484"/>
                          <a:pt x="1014447" y="38675"/>
                          <a:pt x="1225361" y="0"/>
                        </a:cubicBezTo>
                        <a:cubicBezTo>
                          <a:pt x="1436275" y="-38675"/>
                          <a:pt x="1562490" y="1481"/>
                          <a:pt x="1806411" y="0"/>
                        </a:cubicBezTo>
                        <a:cubicBezTo>
                          <a:pt x="2050332" y="-1481"/>
                          <a:pt x="2135571" y="31241"/>
                          <a:pt x="2308227" y="0"/>
                        </a:cubicBezTo>
                        <a:cubicBezTo>
                          <a:pt x="2480883" y="-31241"/>
                          <a:pt x="2718760" y="30376"/>
                          <a:pt x="2915689" y="0"/>
                        </a:cubicBezTo>
                        <a:cubicBezTo>
                          <a:pt x="3070025" y="-10011"/>
                          <a:pt x="3167717" y="108152"/>
                          <a:pt x="3190241" y="274552"/>
                        </a:cubicBezTo>
                        <a:cubicBezTo>
                          <a:pt x="3202225" y="346567"/>
                          <a:pt x="3185783" y="46150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65458" y="595554"/>
                          <a:pt x="2853283" y="523738"/>
                          <a:pt x="2658533" y="549103"/>
                        </a:cubicBezTo>
                        <a:cubicBezTo>
                          <a:pt x="2463783" y="574468"/>
                          <a:pt x="2344165" y="513624"/>
                          <a:pt x="2222534" y="549103"/>
                        </a:cubicBezTo>
                        <a:cubicBezTo>
                          <a:pt x="2100903" y="584582"/>
                          <a:pt x="1860042" y="508330"/>
                          <a:pt x="1690827" y="549103"/>
                        </a:cubicBezTo>
                        <a:cubicBezTo>
                          <a:pt x="1521612" y="589876"/>
                          <a:pt x="1302742" y="499121"/>
                          <a:pt x="1159121" y="549103"/>
                        </a:cubicBezTo>
                        <a:cubicBezTo>
                          <a:pt x="1015500" y="599085"/>
                          <a:pt x="866131" y="516064"/>
                          <a:pt x="659316" y="549103"/>
                        </a:cubicBezTo>
                        <a:cubicBezTo>
                          <a:pt x="452502" y="582142"/>
                          <a:pt x="195622" y="517307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699" y="492953"/>
                          <a:pt x="30684" y="394117"/>
                          <a:pt x="0" y="274552"/>
                        </a:cubicBezTo>
                        <a:cubicBezTo>
                          <a:pt x="-29017" y="102900"/>
                          <a:pt x="108031" y="-1057"/>
                          <a:pt x="274552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64ED12-5A9C-9272-F852-5804C42E2403}"/>
              </a:ext>
            </a:extLst>
          </p:cNvPr>
          <p:cNvSpPr txBox="1"/>
          <p:nvPr/>
        </p:nvSpPr>
        <p:spPr>
          <a:xfrm>
            <a:off x="12509334" y="1573149"/>
            <a:ext cx="5027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atin typeface="Arial Rounded MT Bold" panose="020F0704030504030204" pitchFamily="34" charset="0"/>
              </a:rPr>
              <a:t>No </a:t>
            </a:r>
            <a:r>
              <a:rPr lang="fr-FR" sz="3200" b="1" dirty="0" err="1">
                <a:latin typeface="Arial Rounded MT Bold" panose="020F0704030504030204" pitchFamily="34" charset="0"/>
              </a:rPr>
              <a:t>Unified</a:t>
            </a:r>
            <a:r>
              <a:rPr lang="fr-FR" sz="3200" b="1" dirty="0">
                <a:latin typeface="Arial Rounded MT Bold" panose="020F0704030504030204" pitchFamily="34" charset="0"/>
              </a:rPr>
              <a:t> View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1E9624A-637F-F67E-0402-BD2E850BFA0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0455" y="2408657"/>
            <a:ext cx="731520" cy="73152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774E9C4-6B91-73BC-F912-B5F73A09C407}"/>
              </a:ext>
            </a:extLst>
          </p:cNvPr>
          <p:cNvSpPr txBox="1"/>
          <p:nvPr/>
        </p:nvSpPr>
        <p:spPr>
          <a:xfrm>
            <a:off x="14200061" y="5797586"/>
            <a:ext cx="16459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?????  $</a:t>
            </a:r>
            <a:endParaRPr lang="en-US" sz="3200" b="1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02798CD-CC18-8852-BAA9-BF46B9BE048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6160" y="2317217"/>
            <a:ext cx="637467" cy="9144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3A7BA2B-FF78-1437-E273-3BBA3A95B5D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7812" y="2408657"/>
            <a:ext cx="780248" cy="78024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09649E9-24E5-7431-2EBF-481A2F04158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3516" y="2408657"/>
            <a:ext cx="755583" cy="731520"/>
          </a:xfrm>
          <a:prstGeom prst="rect">
            <a:avLst/>
          </a:prstGeom>
        </p:spPr>
      </p:pic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005F4EF-4D0E-2BCB-1A59-D83263E6F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2530" y="3482350"/>
            <a:ext cx="2717456" cy="2364690"/>
          </a:xfrm>
          <a:custGeom>
            <a:avLst/>
            <a:gdLst>
              <a:gd name="csX0" fmla="*/ 2494625 w 2717456"/>
              <a:gd name="csY0" fmla="*/ 138835 h 2364690"/>
              <a:gd name="csX1" fmla="*/ 2716412 w 2717456"/>
              <a:gd name="csY1" fmla="*/ 555084 h 2364690"/>
              <a:gd name="csX2" fmla="*/ 2567254 w 2717456"/>
              <a:gd name="csY2" fmla="*/ 1027042 h 2364690"/>
              <a:gd name="csX3" fmla="*/ 2524391 w 2717456"/>
              <a:gd name="csY3" fmla="*/ 1069309 h 2364690"/>
              <a:gd name="csX4" fmla="*/ 2504374 w 2717456"/>
              <a:gd name="csY4" fmla="*/ 1088545 h 2364690"/>
              <a:gd name="csX5" fmla="*/ 2362466 w 2717456"/>
              <a:gd name="csY5" fmla="*/ 1174084 h 2364690"/>
              <a:gd name="csX6" fmla="*/ 2362466 w 2717456"/>
              <a:gd name="csY6" fmla="*/ 2269459 h 2364690"/>
              <a:gd name="csX7" fmla="*/ 2448191 w 2717456"/>
              <a:gd name="csY7" fmla="*/ 2269459 h 2364690"/>
              <a:gd name="csX8" fmla="*/ 2457716 w 2717456"/>
              <a:gd name="csY8" fmla="*/ 2364709 h 2364690"/>
              <a:gd name="csX9" fmla="*/ 266 w 2717456"/>
              <a:gd name="csY9" fmla="*/ 2364709 h 2364690"/>
              <a:gd name="csX10" fmla="*/ 266 w 2717456"/>
              <a:gd name="csY10" fmla="*/ 2269459 h 2364690"/>
              <a:gd name="csX11" fmla="*/ 85991 w 2717456"/>
              <a:gd name="csY11" fmla="*/ 2269459 h 2364690"/>
              <a:gd name="csX12" fmla="*/ 85911 w 2717456"/>
              <a:gd name="csY12" fmla="*/ 2246615 h 2364690"/>
              <a:gd name="csX13" fmla="*/ 84510 w 2717456"/>
              <a:gd name="csY13" fmla="*/ 1695921 h 2364690"/>
              <a:gd name="csX14" fmla="*/ 83835 w 2717456"/>
              <a:gd name="csY14" fmla="*/ 1429608 h 2364690"/>
              <a:gd name="csX15" fmla="*/ 83302 w 2717456"/>
              <a:gd name="csY15" fmla="*/ 1197447 h 2364690"/>
              <a:gd name="csX16" fmla="*/ 82970 w 2717456"/>
              <a:gd name="csY16" fmla="*/ 1074559 h 2364690"/>
              <a:gd name="csX17" fmla="*/ 82759 w 2717456"/>
              <a:gd name="csY17" fmla="*/ 958791 h 2364690"/>
              <a:gd name="csX18" fmla="*/ 82585 w 2717456"/>
              <a:gd name="csY18" fmla="*/ 916402 h 2364690"/>
              <a:gd name="csX19" fmla="*/ 137188 w 2717456"/>
              <a:gd name="csY19" fmla="*/ 690690 h 2364690"/>
              <a:gd name="csX20" fmla="*/ 162191 w 2717456"/>
              <a:gd name="csY20" fmla="*/ 669259 h 2364690"/>
              <a:gd name="csX21" fmla="*/ 185408 w 2717456"/>
              <a:gd name="csY21" fmla="*/ 648423 h 2364690"/>
              <a:gd name="csX22" fmla="*/ 385373 w 2717456"/>
              <a:gd name="csY22" fmla="*/ 609946 h 2364690"/>
              <a:gd name="csX23" fmla="*/ 421433 w 2717456"/>
              <a:gd name="csY23" fmla="*/ 609938 h 2364690"/>
              <a:gd name="csX24" fmla="*/ 518953 w 2717456"/>
              <a:gd name="csY24" fmla="*/ 610177 h 2364690"/>
              <a:gd name="csX25" fmla="*/ 621006 w 2717456"/>
              <a:gd name="csY25" fmla="*/ 610330 h 2364690"/>
              <a:gd name="csX26" fmla="*/ 814092 w 2717456"/>
              <a:gd name="csY26" fmla="*/ 610737 h 2364690"/>
              <a:gd name="csX27" fmla="*/ 1033985 w 2717456"/>
              <a:gd name="csY27" fmla="*/ 611150 h 2364690"/>
              <a:gd name="csX28" fmla="*/ 1486166 w 2717456"/>
              <a:gd name="csY28" fmla="*/ 612109 h 2364690"/>
              <a:gd name="csX29" fmla="*/ 1485932 w 2717456"/>
              <a:gd name="csY29" fmla="*/ 590383 h 2364690"/>
              <a:gd name="csX30" fmla="*/ 1485750 w 2717456"/>
              <a:gd name="csY30" fmla="*/ 561844 h 2364690"/>
              <a:gd name="csX31" fmla="*/ 1485516 w 2717456"/>
              <a:gd name="csY31" fmla="*/ 533571 h 2364690"/>
              <a:gd name="csX32" fmla="*/ 1686228 w 2717456"/>
              <a:gd name="csY32" fmla="*/ 151932 h 2364690"/>
              <a:gd name="csX33" fmla="*/ 2494625 w 2717456"/>
              <a:gd name="csY33" fmla="*/ 138835 h 2364690"/>
              <a:gd name="csX34" fmla="*/ 1726672 w 2717456"/>
              <a:gd name="csY34" fmla="*/ 251945 h 2364690"/>
              <a:gd name="csX35" fmla="*/ 1581416 w 2717456"/>
              <a:gd name="csY35" fmla="*/ 564484 h 2364690"/>
              <a:gd name="csX36" fmla="*/ 1579593 w 2717456"/>
              <a:gd name="csY36" fmla="*/ 585841 h 2364690"/>
              <a:gd name="csX37" fmla="*/ 1599275 w 2717456"/>
              <a:gd name="csY37" fmla="*/ 750817 h 2364690"/>
              <a:gd name="csX38" fmla="*/ 1604287 w 2717456"/>
              <a:gd name="csY38" fmla="*/ 771108 h 2364690"/>
              <a:gd name="csX39" fmla="*/ 1638566 w 2717456"/>
              <a:gd name="csY39" fmla="*/ 840709 h 2364690"/>
              <a:gd name="csX40" fmla="*/ 1676666 w 2717456"/>
              <a:gd name="csY40" fmla="*/ 764509 h 2364690"/>
              <a:gd name="csX41" fmla="*/ 1962416 w 2717456"/>
              <a:gd name="csY41" fmla="*/ 669259 h 2364690"/>
              <a:gd name="csX42" fmla="*/ 1950584 w 2717456"/>
              <a:gd name="csY42" fmla="*/ 654264 h 2364690"/>
              <a:gd name="csX43" fmla="*/ 1935032 w 2717456"/>
              <a:gd name="csY43" fmla="*/ 634135 h 2364690"/>
              <a:gd name="csX44" fmla="*/ 1919628 w 2717456"/>
              <a:gd name="csY44" fmla="*/ 614378 h 2364690"/>
              <a:gd name="csX45" fmla="*/ 1882644 w 2717456"/>
              <a:gd name="csY45" fmla="*/ 447207 h 2364690"/>
              <a:gd name="csX46" fmla="*/ 1881937 w 2717456"/>
              <a:gd name="csY46" fmla="*/ 420883 h 2364690"/>
              <a:gd name="csX47" fmla="*/ 1915177 w 2717456"/>
              <a:gd name="csY47" fmla="*/ 285089 h 2364690"/>
              <a:gd name="csX48" fmla="*/ 1933841 w 2717456"/>
              <a:gd name="csY48" fmla="*/ 240634 h 2364690"/>
              <a:gd name="csX49" fmla="*/ 1971941 w 2717456"/>
              <a:gd name="csY49" fmla="*/ 221584 h 2364690"/>
              <a:gd name="csX50" fmla="*/ 1991400 w 2717456"/>
              <a:gd name="csY50" fmla="*/ 211389 h 2364690"/>
              <a:gd name="csX51" fmla="*/ 2165492 w 2717456"/>
              <a:gd name="csY51" fmla="*/ 189437 h 2364690"/>
              <a:gd name="csX52" fmla="*/ 2295791 w 2717456"/>
              <a:gd name="csY52" fmla="*/ 297784 h 2364690"/>
              <a:gd name="csX53" fmla="*/ 2305167 w 2717456"/>
              <a:gd name="csY53" fmla="*/ 567572 h 2364690"/>
              <a:gd name="csX54" fmla="*/ 2238641 w 2717456"/>
              <a:gd name="csY54" fmla="*/ 669259 h 2364690"/>
              <a:gd name="csX55" fmla="*/ 2258417 w 2717456"/>
              <a:gd name="csY55" fmla="*/ 674321 h 2364690"/>
              <a:gd name="csX56" fmla="*/ 2348179 w 2717456"/>
              <a:gd name="csY56" fmla="*/ 698429 h 2364690"/>
              <a:gd name="csX57" fmla="*/ 2379284 w 2717456"/>
              <a:gd name="csY57" fmla="*/ 706373 h 2364690"/>
              <a:gd name="csX58" fmla="*/ 2572016 w 2717456"/>
              <a:gd name="csY58" fmla="*/ 840709 h 2364690"/>
              <a:gd name="csX59" fmla="*/ 2589875 w 2717456"/>
              <a:gd name="csY59" fmla="*/ 443040 h 2364690"/>
              <a:gd name="csX60" fmla="*/ 2505341 w 2717456"/>
              <a:gd name="csY60" fmla="*/ 297784 h 2364690"/>
              <a:gd name="csX61" fmla="*/ 2490570 w 2717456"/>
              <a:gd name="csY61" fmla="*/ 277990 h 2364690"/>
              <a:gd name="csX62" fmla="*/ 2142275 w 2717456"/>
              <a:gd name="csY62" fmla="*/ 100586 h 2364690"/>
              <a:gd name="csX63" fmla="*/ 1726672 w 2717456"/>
              <a:gd name="csY63" fmla="*/ 251945 h 2364690"/>
              <a:gd name="csX64" fmla="*/ 1990991 w 2717456"/>
              <a:gd name="csY64" fmla="*/ 335884 h 2364690"/>
              <a:gd name="csX65" fmla="*/ 1977038 w 2717456"/>
              <a:gd name="csY65" fmla="*/ 518049 h 2364690"/>
              <a:gd name="csX66" fmla="*/ 2038616 w 2717456"/>
              <a:gd name="csY66" fmla="*/ 602584 h 2364690"/>
              <a:gd name="csX67" fmla="*/ 2057666 w 2717456"/>
              <a:gd name="csY67" fmla="*/ 602584 h 2364690"/>
              <a:gd name="csX68" fmla="*/ 2055992 w 2717456"/>
              <a:gd name="csY68" fmla="*/ 619997 h 2364690"/>
              <a:gd name="csX69" fmla="*/ 2057666 w 2717456"/>
              <a:gd name="csY69" fmla="*/ 688309 h 2364690"/>
              <a:gd name="csX70" fmla="*/ 2105291 w 2717456"/>
              <a:gd name="csY70" fmla="*/ 726409 h 2364690"/>
              <a:gd name="csX71" fmla="*/ 2135764 w 2717456"/>
              <a:gd name="csY71" fmla="*/ 666691 h 2364690"/>
              <a:gd name="csX72" fmla="*/ 2133866 w 2717456"/>
              <a:gd name="csY72" fmla="*/ 602584 h 2364690"/>
              <a:gd name="csX73" fmla="*/ 2155893 w 2717456"/>
              <a:gd name="csY73" fmla="*/ 594845 h 2364690"/>
              <a:gd name="csX74" fmla="*/ 2210066 w 2717456"/>
              <a:gd name="csY74" fmla="*/ 554959 h 2364690"/>
              <a:gd name="csX75" fmla="*/ 2221972 w 2717456"/>
              <a:gd name="csY75" fmla="*/ 446612 h 2364690"/>
              <a:gd name="csX76" fmla="*/ 2222568 w 2717456"/>
              <a:gd name="csY76" fmla="*/ 424809 h 2364690"/>
              <a:gd name="csX77" fmla="*/ 2170775 w 2717456"/>
              <a:gd name="csY77" fmla="*/ 294807 h 2364690"/>
              <a:gd name="csX78" fmla="*/ 1990991 w 2717456"/>
              <a:gd name="csY78" fmla="*/ 335884 h 2364690"/>
              <a:gd name="csX79" fmla="*/ 202314 w 2717456"/>
              <a:gd name="csY79" fmla="*/ 767196 h 2364690"/>
              <a:gd name="csX80" fmla="*/ 186968 w 2717456"/>
              <a:gd name="csY80" fmla="*/ 854860 h 2364690"/>
              <a:gd name="csX81" fmla="*/ 186606 w 2717456"/>
              <a:gd name="csY81" fmla="*/ 892624 h 2364690"/>
              <a:gd name="csX82" fmla="*/ 186648 w 2717456"/>
              <a:gd name="csY82" fmla="*/ 934017 h 2364690"/>
              <a:gd name="csX83" fmla="*/ 186351 w 2717456"/>
              <a:gd name="csY83" fmla="*/ 978380 h 2364690"/>
              <a:gd name="csX84" fmla="*/ 185942 w 2717456"/>
              <a:gd name="csY84" fmla="*/ 1097075 h 2364690"/>
              <a:gd name="csX85" fmla="*/ 185412 w 2717456"/>
              <a:gd name="csY85" fmla="*/ 1208494 h 2364690"/>
              <a:gd name="csX86" fmla="*/ 184217 w 2717456"/>
              <a:gd name="csY86" fmla="*/ 1534248 h 2364690"/>
              <a:gd name="csX87" fmla="*/ 181241 w 2717456"/>
              <a:gd name="csY87" fmla="*/ 2269459 h 2364690"/>
              <a:gd name="csX88" fmla="*/ 2267216 w 2717456"/>
              <a:gd name="csY88" fmla="*/ 2269459 h 2364690"/>
              <a:gd name="csX89" fmla="*/ 2267216 w 2717456"/>
              <a:gd name="csY89" fmla="*/ 1212184 h 2364690"/>
              <a:gd name="csX90" fmla="*/ 2191016 w 2717456"/>
              <a:gd name="csY90" fmla="*/ 1231234 h 2364690"/>
              <a:gd name="csX91" fmla="*/ 2190911 w 2717456"/>
              <a:gd name="csY91" fmla="*/ 1265266 h 2364690"/>
              <a:gd name="csX92" fmla="*/ 2189264 w 2717456"/>
              <a:gd name="csY92" fmla="*/ 1582709 h 2364690"/>
              <a:gd name="csX93" fmla="*/ 2188435 w 2717456"/>
              <a:gd name="csY93" fmla="*/ 1745912 h 2364690"/>
              <a:gd name="csX94" fmla="*/ 2187508 w 2717456"/>
              <a:gd name="csY94" fmla="*/ 1903397 h 2364690"/>
              <a:gd name="csX95" fmla="*/ 2187283 w 2717456"/>
              <a:gd name="csY95" fmla="*/ 1963494 h 2364690"/>
              <a:gd name="csX96" fmla="*/ 2186691 w 2717456"/>
              <a:gd name="csY96" fmla="*/ 2047637 h 2364690"/>
              <a:gd name="csX97" fmla="*/ 2186836 w 2717456"/>
              <a:gd name="csY97" fmla="*/ 2072759 h 2364690"/>
              <a:gd name="csX98" fmla="*/ 2186434 w 2717456"/>
              <a:gd name="csY98" fmla="*/ 2096029 h 2364690"/>
              <a:gd name="csX99" fmla="*/ 2186328 w 2717456"/>
              <a:gd name="csY99" fmla="*/ 2116117 h 2364690"/>
              <a:gd name="csX100" fmla="*/ 2143391 w 2717456"/>
              <a:gd name="csY100" fmla="*/ 2183734 h 2364690"/>
              <a:gd name="csX101" fmla="*/ 2069637 w 2717456"/>
              <a:gd name="csY101" fmla="*/ 2189717 h 2364690"/>
              <a:gd name="csX102" fmla="*/ 2046990 w 2717456"/>
              <a:gd name="csY102" fmla="*/ 2189922 h 2364690"/>
              <a:gd name="csX103" fmla="*/ 1971792 w 2717456"/>
              <a:gd name="csY103" fmla="*/ 2189745 h 2364690"/>
              <a:gd name="csX104" fmla="*/ 1917908 w 2717456"/>
              <a:gd name="csY104" fmla="*/ 2189952 h 2364690"/>
              <a:gd name="csX105" fmla="*/ 1771495 w 2717456"/>
              <a:gd name="csY105" fmla="*/ 2189817 h 2364690"/>
              <a:gd name="csX106" fmla="*/ 1618390 w 2717456"/>
              <a:gd name="csY106" fmla="*/ 2189794 h 2364690"/>
              <a:gd name="csX107" fmla="*/ 1361262 w 2717456"/>
              <a:gd name="csY107" fmla="*/ 2189420 h 2364690"/>
              <a:gd name="csX108" fmla="*/ 1063833 w 2717456"/>
              <a:gd name="csY108" fmla="*/ 2189279 h 2364690"/>
              <a:gd name="csX109" fmla="*/ 777913 w 2717456"/>
              <a:gd name="csY109" fmla="*/ 2189203 h 2364690"/>
              <a:gd name="csX110" fmla="*/ 656141 w 2717456"/>
              <a:gd name="csY110" fmla="*/ 2189218 h 2364690"/>
              <a:gd name="csX111" fmla="*/ 512790 w 2717456"/>
              <a:gd name="csY111" fmla="*/ 2188914 h 2364690"/>
              <a:gd name="csX112" fmla="*/ 460124 w 2717456"/>
              <a:gd name="csY112" fmla="*/ 2188916 h 2364690"/>
              <a:gd name="csX113" fmla="*/ 388345 w 2717456"/>
              <a:gd name="csY113" fmla="*/ 2188636 h 2364690"/>
              <a:gd name="csX114" fmla="*/ 367197 w 2717456"/>
              <a:gd name="csY114" fmla="*/ 2188874 h 2364690"/>
              <a:gd name="csX115" fmla="*/ 291527 w 2717456"/>
              <a:gd name="csY115" fmla="*/ 2165568 h 2364690"/>
              <a:gd name="csX116" fmla="*/ 265628 w 2717456"/>
              <a:gd name="csY116" fmla="*/ 2076520 h 2364690"/>
              <a:gd name="csX117" fmla="*/ 265463 w 2717456"/>
              <a:gd name="csY117" fmla="*/ 2044348 h 2364690"/>
              <a:gd name="csX118" fmla="*/ 265431 w 2717456"/>
              <a:gd name="csY118" fmla="*/ 2008886 h 2364690"/>
              <a:gd name="csX119" fmla="*/ 265288 w 2717456"/>
              <a:gd name="csY119" fmla="*/ 1971667 h 2364690"/>
              <a:gd name="csX120" fmla="*/ 265059 w 2717456"/>
              <a:gd name="csY120" fmla="*/ 1870412 h 2364690"/>
              <a:gd name="csX121" fmla="*/ 264950 w 2717456"/>
              <a:gd name="csY121" fmla="*/ 1807160 h 2364690"/>
              <a:gd name="csX122" fmla="*/ 264690 w 2717456"/>
              <a:gd name="csY122" fmla="*/ 1609289 h 2364690"/>
              <a:gd name="csX123" fmla="*/ 264205 w 2717456"/>
              <a:gd name="csY123" fmla="*/ 1380831 h 2364690"/>
              <a:gd name="csX124" fmla="*/ 263890 w 2717456"/>
              <a:gd name="csY124" fmla="*/ 1204283 h 2364690"/>
              <a:gd name="csX125" fmla="*/ 263654 w 2717456"/>
              <a:gd name="csY125" fmla="*/ 1098823 h 2364690"/>
              <a:gd name="csX126" fmla="*/ 263571 w 2717456"/>
              <a:gd name="csY126" fmla="*/ 981154 h 2364690"/>
              <a:gd name="csX127" fmla="*/ 263305 w 2717456"/>
              <a:gd name="csY127" fmla="*/ 945867 h 2364690"/>
              <a:gd name="csX128" fmla="*/ 263466 w 2717456"/>
              <a:gd name="csY128" fmla="*/ 913451 h 2364690"/>
              <a:gd name="csX129" fmla="*/ 263423 w 2717456"/>
              <a:gd name="csY129" fmla="*/ 885350 h 2364690"/>
              <a:gd name="csX130" fmla="*/ 295541 w 2717456"/>
              <a:gd name="csY130" fmla="*/ 812134 h 2364690"/>
              <a:gd name="csX131" fmla="*/ 362082 w 2717456"/>
              <a:gd name="csY131" fmla="*/ 801102 h 2364690"/>
              <a:gd name="csX132" fmla="*/ 392520 w 2717456"/>
              <a:gd name="csY132" fmla="*/ 800819 h 2364690"/>
              <a:gd name="csX133" fmla="*/ 426049 w 2717456"/>
              <a:gd name="csY133" fmla="*/ 800653 h 2364690"/>
              <a:gd name="csX134" fmla="*/ 461248 w 2717456"/>
              <a:gd name="csY134" fmla="*/ 800367 h 2364690"/>
              <a:gd name="csX135" fmla="*/ 556944 w 2717456"/>
              <a:gd name="csY135" fmla="*/ 799720 h 2364690"/>
              <a:gd name="csX136" fmla="*/ 656901 w 2717456"/>
              <a:gd name="csY136" fmla="*/ 798995 h 2364690"/>
              <a:gd name="csX137" fmla="*/ 846247 w 2717456"/>
              <a:gd name="csY137" fmla="*/ 797680 h 2364690"/>
              <a:gd name="csX138" fmla="*/ 1061783 w 2717456"/>
              <a:gd name="csY138" fmla="*/ 796160 h 2364690"/>
              <a:gd name="csX139" fmla="*/ 1505216 w 2717456"/>
              <a:gd name="csY139" fmla="*/ 793084 h 2364690"/>
              <a:gd name="csX140" fmla="*/ 1486166 w 2717456"/>
              <a:gd name="csY140" fmla="*/ 716884 h 2364690"/>
              <a:gd name="csX141" fmla="*/ 1439055 w 2717456"/>
              <a:gd name="csY141" fmla="*/ 715546 h 2364690"/>
              <a:gd name="csX142" fmla="*/ 1408138 w 2717456"/>
              <a:gd name="csY142" fmla="*/ 715381 h 2364690"/>
              <a:gd name="csX143" fmla="*/ 1373922 w 2717456"/>
              <a:gd name="csY143" fmla="*/ 715349 h 2364690"/>
              <a:gd name="csX144" fmla="*/ 1338114 w 2717456"/>
              <a:gd name="csY144" fmla="*/ 715206 h 2364690"/>
              <a:gd name="csX145" fmla="*/ 1240577 w 2717456"/>
              <a:gd name="csY145" fmla="*/ 714977 h 2364690"/>
              <a:gd name="csX146" fmla="*/ 1179656 w 2717456"/>
              <a:gd name="csY146" fmla="*/ 714867 h 2364690"/>
              <a:gd name="csX147" fmla="*/ 989109 w 2717456"/>
              <a:gd name="csY147" fmla="*/ 714608 h 2364690"/>
              <a:gd name="csX148" fmla="*/ 769060 w 2717456"/>
              <a:gd name="csY148" fmla="*/ 714122 h 2364690"/>
              <a:gd name="csX149" fmla="*/ 599065 w 2717456"/>
              <a:gd name="csY149" fmla="*/ 713808 h 2364690"/>
              <a:gd name="csX150" fmla="*/ 497501 w 2717456"/>
              <a:gd name="csY150" fmla="*/ 713571 h 2364690"/>
              <a:gd name="csX151" fmla="*/ 384140 w 2717456"/>
              <a:gd name="csY151" fmla="*/ 713489 h 2364690"/>
              <a:gd name="csX152" fmla="*/ 350158 w 2717456"/>
              <a:gd name="csY152" fmla="*/ 713223 h 2364690"/>
              <a:gd name="csX153" fmla="*/ 318914 w 2717456"/>
              <a:gd name="csY153" fmla="*/ 713383 h 2364690"/>
              <a:gd name="csX154" fmla="*/ 291840 w 2717456"/>
              <a:gd name="csY154" fmla="*/ 713341 h 2364690"/>
              <a:gd name="csX155" fmla="*/ 202314 w 2717456"/>
              <a:gd name="csY155" fmla="*/ 767196 h 2364690"/>
              <a:gd name="csX156" fmla="*/ 1971941 w 2717456"/>
              <a:gd name="csY156" fmla="*/ 764509 h 2364690"/>
              <a:gd name="csX157" fmla="*/ 1990991 w 2717456"/>
              <a:gd name="csY157" fmla="*/ 831184 h 2364690"/>
              <a:gd name="csX158" fmla="*/ 2010041 w 2717456"/>
              <a:gd name="csY158" fmla="*/ 821659 h 2364690"/>
              <a:gd name="csX159" fmla="*/ 2010041 w 2717456"/>
              <a:gd name="csY159" fmla="*/ 802609 h 2364690"/>
              <a:gd name="csX160" fmla="*/ 2029091 w 2717456"/>
              <a:gd name="csY160" fmla="*/ 793084 h 2364690"/>
              <a:gd name="csX161" fmla="*/ 2000516 w 2717456"/>
              <a:gd name="csY161" fmla="*/ 764509 h 2364690"/>
              <a:gd name="csX162" fmla="*/ 1971941 w 2717456"/>
              <a:gd name="csY162" fmla="*/ 764509 h 2364690"/>
              <a:gd name="csX163" fmla="*/ 2191016 w 2717456"/>
              <a:gd name="csY163" fmla="*/ 764509 h 2364690"/>
              <a:gd name="csX164" fmla="*/ 2171966 w 2717456"/>
              <a:gd name="csY164" fmla="*/ 802609 h 2364690"/>
              <a:gd name="csX165" fmla="*/ 2210066 w 2717456"/>
              <a:gd name="csY165" fmla="*/ 831184 h 2364690"/>
              <a:gd name="csX166" fmla="*/ 2219591 w 2717456"/>
              <a:gd name="csY166" fmla="*/ 764509 h 2364690"/>
              <a:gd name="csX167" fmla="*/ 2191016 w 2717456"/>
              <a:gd name="csY167" fmla="*/ 764509 h 2364690"/>
              <a:gd name="csX168" fmla="*/ 1752866 w 2717456"/>
              <a:gd name="csY168" fmla="*/ 831184 h 2364690"/>
              <a:gd name="csX169" fmla="*/ 1709408 w 2717456"/>
              <a:gd name="csY169" fmla="*/ 927029 h 2364690"/>
              <a:gd name="csX170" fmla="*/ 1762391 w 2717456"/>
              <a:gd name="csY170" fmla="*/ 1012159 h 2364690"/>
              <a:gd name="csX171" fmla="*/ 1779841 w 2717456"/>
              <a:gd name="csY171" fmla="*/ 1026409 h 2364690"/>
              <a:gd name="csX172" fmla="*/ 2171966 w 2717456"/>
              <a:gd name="csY172" fmla="*/ 1135984 h 2364690"/>
              <a:gd name="csX173" fmla="*/ 2486291 w 2717456"/>
              <a:gd name="csY173" fmla="*/ 964534 h 2364690"/>
              <a:gd name="csX174" fmla="*/ 2457716 w 2717456"/>
              <a:gd name="csY174" fmla="*/ 846662 h 2364690"/>
              <a:gd name="csX175" fmla="*/ 2343416 w 2717456"/>
              <a:gd name="csY175" fmla="*/ 793084 h 2364690"/>
              <a:gd name="csX176" fmla="*/ 2314841 w 2717456"/>
              <a:gd name="csY176" fmla="*/ 802609 h 2364690"/>
              <a:gd name="csX177" fmla="*/ 2299549 w 2717456"/>
              <a:gd name="csY177" fmla="*/ 844541 h 2364690"/>
              <a:gd name="csX178" fmla="*/ 2292014 w 2717456"/>
              <a:gd name="csY178" fmla="*/ 870232 h 2364690"/>
              <a:gd name="csX179" fmla="*/ 2284480 w 2717456"/>
              <a:gd name="csY179" fmla="*/ 897263 h 2364690"/>
              <a:gd name="csX180" fmla="*/ 2276611 w 2717456"/>
              <a:gd name="csY180" fmla="*/ 924183 h 2364690"/>
              <a:gd name="csX181" fmla="*/ 2257691 w 2717456"/>
              <a:gd name="csY181" fmla="*/ 1012159 h 2364690"/>
              <a:gd name="csX182" fmla="*/ 2105291 w 2717456"/>
              <a:gd name="csY182" fmla="*/ 869284 h 2364690"/>
              <a:gd name="csX183" fmla="*/ 2008850 w 2717456"/>
              <a:gd name="csY183" fmla="*/ 946079 h 2364690"/>
              <a:gd name="csX184" fmla="*/ 1933841 w 2717456"/>
              <a:gd name="csY184" fmla="*/ 1012159 h 2364690"/>
              <a:gd name="csX185" fmla="*/ 1931013 w 2717456"/>
              <a:gd name="csY185" fmla="*/ 995676 h 2364690"/>
              <a:gd name="csX186" fmla="*/ 1876691 w 2717456"/>
              <a:gd name="csY186" fmla="*/ 793084 h 2364690"/>
              <a:gd name="csX187" fmla="*/ 1752866 w 2717456"/>
              <a:gd name="csY187" fmla="*/ 831184 h 2364690"/>
              <a:gd name="csX188" fmla="*/ 362216 w 2717456"/>
              <a:gd name="csY188" fmla="*/ 888334 h 2364690"/>
              <a:gd name="csX189" fmla="*/ 362216 w 2717456"/>
              <a:gd name="csY189" fmla="*/ 2098009 h 2364690"/>
              <a:gd name="csX190" fmla="*/ 2095766 w 2717456"/>
              <a:gd name="csY190" fmla="*/ 2098009 h 2364690"/>
              <a:gd name="csX191" fmla="*/ 2095766 w 2717456"/>
              <a:gd name="csY191" fmla="*/ 1240759 h 2364690"/>
              <a:gd name="csX192" fmla="*/ 1905266 w 2717456"/>
              <a:gd name="csY192" fmla="*/ 1202659 h 2364690"/>
              <a:gd name="csX193" fmla="*/ 1559483 w 2717456"/>
              <a:gd name="csY193" fmla="*/ 910818 h 2364690"/>
              <a:gd name="csX194" fmla="*/ 1521354 w 2717456"/>
              <a:gd name="csY194" fmla="*/ 882474 h 2364690"/>
              <a:gd name="csX195" fmla="*/ 1495041 w 2717456"/>
              <a:gd name="csY195" fmla="*/ 882607 h 2364690"/>
              <a:gd name="csX196" fmla="*/ 1464869 w 2717456"/>
              <a:gd name="csY196" fmla="*/ 882408 h 2364690"/>
              <a:gd name="csX197" fmla="*/ 1431651 w 2717456"/>
              <a:gd name="csY197" fmla="*/ 882927 h 2364690"/>
              <a:gd name="csX198" fmla="*/ 1396164 w 2717456"/>
              <a:gd name="csY198" fmla="*/ 882910 h 2364690"/>
              <a:gd name="csX199" fmla="*/ 1301088 w 2717456"/>
              <a:gd name="csY199" fmla="*/ 883510 h 2364690"/>
              <a:gd name="csX200" fmla="*/ 1211888 w 2717456"/>
              <a:gd name="csY200" fmla="*/ 883828 h 2364690"/>
              <a:gd name="csX201" fmla="*/ 950980 w 2717456"/>
              <a:gd name="csY201" fmla="*/ 885357 h 2364690"/>
              <a:gd name="csX202" fmla="*/ 362216 w 2717456"/>
              <a:gd name="csY202" fmla="*/ 888334 h 2364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</a:cxnLst>
            <a:rect l="l" t="t" r="r" b="b"/>
            <a:pathLst>
              <a:path w="2717456" h="2364690">
                <a:moveTo>
                  <a:pt x="2494625" y="138835"/>
                </a:moveTo>
                <a:cubicBezTo>
                  <a:pt x="2617299" y="245680"/>
                  <a:pt x="2703386" y="390844"/>
                  <a:pt x="2716412" y="555084"/>
                </a:cubicBezTo>
                <a:cubicBezTo>
                  <a:pt x="2726008" y="728244"/>
                  <a:pt x="2683560" y="894637"/>
                  <a:pt x="2567254" y="1027042"/>
                </a:cubicBezTo>
                <a:cubicBezTo>
                  <a:pt x="2553222" y="1041386"/>
                  <a:pt x="2538945" y="1055495"/>
                  <a:pt x="2524391" y="1069309"/>
                </a:cubicBezTo>
                <a:cubicBezTo>
                  <a:pt x="2517785" y="1075657"/>
                  <a:pt x="2511180" y="1082005"/>
                  <a:pt x="2504374" y="1088545"/>
                </a:cubicBezTo>
                <a:cubicBezTo>
                  <a:pt x="2411091" y="1174084"/>
                  <a:pt x="2411091" y="1174084"/>
                  <a:pt x="2362466" y="1174084"/>
                </a:cubicBezTo>
                <a:cubicBezTo>
                  <a:pt x="2362466" y="1535557"/>
                  <a:pt x="2362466" y="1897031"/>
                  <a:pt x="2362466" y="2269459"/>
                </a:cubicBezTo>
                <a:cubicBezTo>
                  <a:pt x="2390755" y="2269459"/>
                  <a:pt x="2419045" y="2269459"/>
                  <a:pt x="2448191" y="2269459"/>
                </a:cubicBezTo>
                <a:cubicBezTo>
                  <a:pt x="2457716" y="2278984"/>
                  <a:pt x="2457716" y="2278984"/>
                  <a:pt x="2457716" y="2364709"/>
                </a:cubicBezTo>
                <a:cubicBezTo>
                  <a:pt x="1646757" y="2364709"/>
                  <a:pt x="835799" y="2364709"/>
                  <a:pt x="266" y="2364709"/>
                </a:cubicBezTo>
                <a:cubicBezTo>
                  <a:pt x="266" y="2333276"/>
                  <a:pt x="266" y="2301844"/>
                  <a:pt x="266" y="2269459"/>
                </a:cubicBezTo>
                <a:cubicBezTo>
                  <a:pt x="28555" y="2269459"/>
                  <a:pt x="56844" y="2269459"/>
                  <a:pt x="85991" y="2269459"/>
                </a:cubicBezTo>
                <a:cubicBezTo>
                  <a:pt x="85965" y="2261920"/>
                  <a:pt x="85938" y="2254382"/>
                  <a:pt x="85911" y="2246615"/>
                </a:cubicBezTo>
                <a:cubicBezTo>
                  <a:pt x="85280" y="2063050"/>
                  <a:pt x="84807" y="1879486"/>
                  <a:pt x="84510" y="1695921"/>
                </a:cubicBezTo>
                <a:cubicBezTo>
                  <a:pt x="84363" y="1607149"/>
                  <a:pt x="84162" y="1518379"/>
                  <a:pt x="83835" y="1429608"/>
                </a:cubicBezTo>
                <a:cubicBezTo>
                  <a:pt x="83550" y="1352221"/>
                  <a:pt x="83366" y="1274834"/>
                  <a:pt x="83302" y="1197447"/>
                </a:cubicBezTo>
                <a:cubicBezTo>
                  <a:pt x="83265" y="1156484"/>
                  <a:pt x="83178" y="1115522"/>
                  <a:pt x="82970" y="1074559"/>
                </a:cubicBezTo>
                <a:cubicBezTo>
                  <a:pt x="82775" y="1035969"/>
                  <a:pt x="82716" y="997381"/>
                  <a:pt x="82759" y="958791"/>
                </a:cubicBezTo>
                <a:cubicBezTo>
                  <a:pt x="82751" y="944661"/>
                  <a:pt x="82695" y="930532"/>
                  <a:pt x="82585" y="916402"/>
                </a:cubicBezTo>
                <a:cubicBezTo>
                  <a:pt x="81393" y="755295"/>
                  <a:pt x="81393" y="755295"/>
                  <a:pt x="137188" y="690690"/>
                </a:cubicBezTo>
                <a:cubicBezTo>
                  <a:pt x="145439" y="683618"/>
                  <a:pt x="153690" y="676545"/>
                  <a:pt x="162191" y="669259"/>
                </a:cubicBezTo>
                <a:cubicBezTo>
                  <a:pt x="173683" y="658945"/>
                  <a:pt x="173683" y="658945"/>
                  <a:pt x="185408" y="648423"/>
                </a:cubicBezTo>
                <a:cubicBezTo>
                  <a:pt x="247431" y="604553"/>
                  <a:pt x="312364" y="609499"/>
                  <a:pt x="385373" y="609946"/>
                </a:cubicBezTo>
                <a:cubicBezTo>
                  <a:pt x="397272" y="609943"/>
                  <a:pt x="409172" y="609941"/>
                  <a:pt x="421433" y="609938"/>
                </a:cubicBezTo>
                <a:cubicBezTo>
                  <a:pt x="453940" y="609949"/>
                  <a:pt x="486446" y="610044"/>
                  <a:pt x="518953" y="610177"/>
                </a:cubicBezTo>
                <a:cubicBezTo>
                  <a:pt x="552970" y="610297"/>
                  <a:pt x="586988" y="610307"/>
                  <a:pt x="621006" y="610330"/>
                </a:cubicBezTo>
                <a:cubicBezTo>
                  <a:pt x="685369" y="610389"/>
                  <a:pt x="749730" y="610545"/>
                  <a:pt x="814092" y="610737"/>
                </a:cubicBezTo>
                <a:cubicBezTo>
                  <a:pt x="887390" y="610950"/>
                  <a:pt x="960687" y="611054"/>
                  <a:pt x="1033985" y="611150"/>
                </a:cubicBezTo>
                <a:cubicBezTo>
                  <a:pt x="1184712" y="611349"/>
                  <a:pt x="1335439" y="611684"/>
                  <a:pt x="1486166" y="612109"/>
                </a:cubicBezTo>
                <a:cubicBezTo>
                  <a:pt x="1486089" y="604939"/>
                  <a:pt x="1486011" y="597770"/>
                  <a:pt x="1485932" y="590383"/>
                </a:cubicBezTo>
                <a:cubicBezTo>
                  <a:pt x="1485872" y="580966"/>
                  <a:pt x="1485812" y="571548"/>
                  <a:pt x="1485750" y="561844"/>
                </a:cubicBezTo>
                <a:cubicBezTo>
                  <a:pt x="1485672" y="552514"/>
                  <a:pt x="1485595" y="543184"/>
                  <a:pt x="1485516" y="533571"/>
                </a:cubicBezTo>
                <a:cubicBezTo>
                  <a:pt x="1489095" y="389187"/>
                  <a:pt x="1585632" y="248719"/>
                  <a:pt x="1686228" y="151932"/>
                </a:cubicBezTo>
                <a:cubicBezTo>
                  <a:pt x="1921627" y="-47074"/>
                  <a:pt x="2253109" y="-49641"/>
                  <a:pt x="2494625" y="138835"/>
                </a:cubicBezTo>
                <a:close/>
                <a:moveTo>
                  <a:pt x="1726672" y="251945"/>
                </a:moveTo>
                <a:cubicBezTo>
                  <a:pt x="1650070" y="332599"/>
                  <a:pt x="1590745" y="452540"/>
                  <a:pt x="1581416" y="564484"/>
                </a:cubicBezTo>
                <a:cubicBezTo>
                  <a:pt x="1580814" y="571531"/>
                  <a:pt x="1580213" y="578579"/>
                  <a:pt x="1579593" y="585841"/>
                </a:cubicBezTo>
                <a:cubicBezTo>
                  <a:pt x="1576944" y="643438"/>
                  <a:pt x="1585495" y="695234"/>
                  <a:pt x="1599275" y="750817"/>
                </a:cubicBezTo>
                <a:cubicBezTo>
                  <a:pt x="1600929" y="757513"/>
                  <a:pt x="1602583" y="764209"/>
                  <a:pt x="1604287" y="771108"/>
                </a:cubicBezTo>
                <a:cubicBezTo>
                  <a:pt x="1614403" y="809669"/>
                  <a:pt x="1614403" y="809669"/>
                  <a:pt x="1638566" y="840709"/>
                </a:cubicBezTo>
                <a:cubicBezTo>
                  <a:pt x="1666300" y="805754"/>
                  <a:pt x="1666300" y="805754"/>
                  <a:pt x="1676666" y="764509"/>
                </a:cubicBezTo>
                <a:cubicBezTo>
                  <a:pt x="1766457" y="717859"/>
                  <a:pt x="1864911" y="693997"/>
                  <a:pt x="1962416" y="669259"/>
                </a:cubicBezTo>
                <a:cubicBezTo>
                  <a:pt x="1958511" y="664311"/>
                  <a:pt x="1954607" y="659362"/>
                  <a:pt x="1950584" y="654264"/>
                </a:cubicBezTo>
                <a:cubicBezTo>
                  <a:pt x="1945452" y="647622"/>
                  <a:pt x="1940319" y="640979"/>
                  <a:pt x="1935032" y="634135"/>
                </a:cubicBezTo>
                <a:cubicBezTo>
                  <a:pt x="1929948" y="627615"/>
                  <a:pt x="1924865" y="621096"/>
                  <a:pt x="1919628" y="614378"/>
                </a:cubicBezTo>
                <a:cubicBezTo>
                  <a:pt x="1883026" y="560044"/>
                  <a:pt x="1882733" y="511004"/>
                  <a:pt x="1882644" y="447207"/>
                </a:cubicBezTo>
                <a:cubicBezTo>
                  <a:pt x="1882411" y="438520"/>
                  <a:pt x="1882178" y="429833"/>
                  <a:pt x="1881937" y="420883"/>
                </a:cubicBezTo>
                <a:cubicBezTo>
                  <a:pt x="1881710" y="368092"/>
                  <a:pt x="1888466" y="330918"/>
                  <a:pt x="1915177" y="285089"/>
                </a:cubicBezTo>
                <a:cubicBezTo>
                  <a:pt x="1925854" y="267755"/>
                  <a:pt x="1925854" y="267755"/>
                  <a:pt x="1933841" y="240634"/>
                </a:cubicBezTo>
                <a:cubicBezTo>
                  <a:pt x="1950993" y="230588"/>
                  <a:pt x="1950993" y="230588"/>
                  <a:pt x="1971941" y="221584"/>
                </a:cubicBezTo>
                <a:cubicBezTo>
                  <a:pt x="1978362" y="218219"/>
                  <a:pt x="1984784" y="214855"/>
                  <a:pt x="1991400" y="211389"/>
                </a:cubicBezTo>
                <a:cubicBezTo>
                  <a:pt x="2051300" y="181930"/>
                  <a:pt x="2100289" y="171874"/>
                  <a:pt x="2165492" y="189437"/>
                </a:cubicBezTo>
                <a:cubicBezTo>
                  <a:pt x="2222584" y="211112"/>
                  <a:pt x="2262821" y="246457"/>
                  <a:pt x="2295791" y="297784"/>
                </a:cubicBezTo>
                <a:cubicBezTo>
                  <a:pt x="2329824" y="376129"/>
                  <a:pt x="2329977" y="486369"/>
                  <a:pt x="2305167" y="567572"/>
                </a:cubicBezTo>
                <a:cubicBezTo>
                  <a:pt x="2286732" y="604720"/>
                  <a:pt x="2263480" y="636207"/>
                  <a:pt x="2238641" y="669259"/>
                </a:cubicBezTo>
                <a:cubicBezTo>
                  <a:pt x="2248430" y="671765"/>
                  <a:pt x="2248430" y="671765"/>
                  <a:pt x="2258417" y="674321"/>
                </a:cubicBezTo>
                <a:cubicBezTo>
                  <a:pt x="2288401" y="682134"/>
                  <a:pt x="2318285" y="690278"/>
                  <a:pt x="2348179" y="698429"/>
                </a:cubicBezTo>
                <a:cubicBezTo>
                  <a:pt x="2358443" y="701050"/>
                  <a:pt x="2368708" y="703672"/>
                  <a:pt x="2379284" y="706373"/>
                </a:cubicBezTo>
                <a:cubicBezTo>
                  <a:pt x="2466216" y="730491"/>
                  <a:pt x="2519352" y="767836"/>
                  <a:pt x="2572016" y="840709"/>
                </a:cubicBezTo>
                <a:cubicBezTo>
                  <a:pt x="2623831" y="716029"/>
                  <a:pt x="2632970" y="571766"/>
                  <a:pt x="2589875" y="443040"/>
                </a:cubicBezTo>
                <a:cubicBezTo>
                  <a:pt x="2567558" y="390005"/>
                  <a:pt x="2540836" y="343007"/>
                  <a:pt x="2505341" y="297784"/>
                </a:cubicBezTo>
                <a:cubicBezTo>
                  <a:pt x="2500467" y="291252"/>
                  <a:pt x="2495592" y="284720"/>
                  <a:pt x="2490570" y="277990"/>
                </a:cubicBezTo>
                <a:cubicBezTo>
                  <a:pt x="2403358" y="168922"/>
                  <a:pt x="2276835" y="119392"/>
                  <a:pt x="2142275" y="100586"/>
                </a:cubicBezTo>
                <a:cubicBezTo>
                  <a:pt x="1990070" y="84912"/>
                  <a:pt x="1836707" y="148729"/>
                  <a:pt x="1726672" y="251945"/>
                </a:cubicBezTo>
                <a:close/>
                <a:moveTo>
                  <a:pt x="1990991" y="335884"/>
                </a:moveTo>
                <a:cubicBezTo>
                  <a:pt x="1962717" y="388745"/>
                  <a:pt x="1962502" y="460329"/>
                  <a:pt x="1977038" y="518049"/>
                </a:cubicBezTo>
                <a:cubicBezTo>
                  <a:pt x="1990852" y="553075"/>
                  <a:pt x="2009396" y="579019"/>
                  <a:pt x="2038616" y="602584"/>
                </a:cubicBezTo>
                <a:cubicBezTo>
                  <a:pt x="2044902" y="602584"/>
                  <a:pt x="2051189" y="602584"/>
                  <a:pt x="2057666" y="602584"/>
                </a:cubicBezTo>
                <a:cubicBezTo>
                  <a:pt x="2057113" y="608330"/>
                  <a:pt x="2056561" y="614076"/>
                  <a:pt x="2055992" y="619997"/>
                </a:cubicBezTo>
                <a:cubicBezTo>
                  <a:pt x="2054660" y="643577"/>
                  <a:pt x="2054243" y="664914"/>
                  <a:pt x="2057666" y="688309"/>
                </a:cubicBezTo>
                <a:cubicBezTo>
                  <a:pt x="2079749" y="713160"/>
                  <a:pt x="2079749" y="713160"/>
                  <a:pt x="2105291" y="726409"/>
                </a:cubicBezTo>
                <a:cubicBezTo>
                  <a:pt x="2124798" y="707715"/>
                  <a:pt x="2133388" y="693760"/>
                  <a:pt x="2135764" y="666691"/>
                </a:cubicBezTo>
                <a:cubicBezTo>
                  <a:pt x="2135662" y="645260"/>
                  <a:pt x="2135100" y="623978"/>
                  <a:pt x="2133866" y="602584"/>
                </a:cubicBezTo>
                <a:cubicBezTo>
                  <a:pt x="2141135" y="600030"/>
                  <a:pt x="2148404" y="597476"/>
                  <a:pt x="2155893" y="594845"/>
                </a:cubicBezTo>
                <a:cubicBezTo>
                  <a:pt x="2180705" y="583881"/>
                  <a:pt x="2193337" y="575870"/>
                  <a:pt x="2210066" y="554959"/>
                </a:cubicBezTo>
                <a:cubicBezTo>
                  <a:pt x="2222150" y="518707"/>
                  <a:pt x="2221717" y="484391"/>
                  <a:pt x="2221972" y="446612"/>
                </a:cubicBezTo>
                <a:cubicBezTo>
                  <a:pt x="2222169" y="439417"/>
                  <a:pt x="2222365" y="432222"/>
                  <a:pt x="2222568" y="424809"/>
                </a:cubicBezTo>
                <a:cubicBezTo>
                  <a:pt x="2222967" y="367746"/>
                  <a:pt x="2209882" y="337364"/>
                  <a:pt x="2170775" y="294807"/>
                </a:cubicBezTo>
                <a:cubicBezTo>
                  <a:pt x="2100909" y="253799"/>
                  <a:pt x="2039966" y="275639"/>
                  <a:pt x="1990991" y="335884"/>
                </a:cubicBezTo>
                <a:close/>
                <a:moveTo>
                  <a:pt x="202314" y="767196"/>
                </a:moveTo>
                <a:cubicBezTo>
                  <a:pt x="188452" y="798271"/>
                  <a:pt x="187106" y="820858"/>
                  <a:pt x="186968" y="854860"/>
                </a:cubicBezTo>
                <a:cubicBezTo>
                  <a:pt x="186849" y="867322"/>
                  <a:pt x="186729" y="879784"/>
                  <a:pt x="186606" y="892624"/>
                </a:cubicBezTo>
                <a:cubicBezTo>
                  <a:pt x="186618" y="906421"/>
                  <a:pt x="186631" y="920219"/>
                  <a:pt x="186648" y="934017"/>
                </a:cubicBezTo>
                <a:cubicBezTo>
                  <a:pt x="186561" y="948805"/>
                  <a:pt x="186462" y="963592"/>
                  <a:pt x="186351" y="978380"/>
                </a:cubicBezTo>
                <a:cubicBezTo>
                  <a:pt x="186089" y="1017945"/>
                  <a:pt x="185998" y="1057509"/>
                  <a:pt x="185942" y="1097075"/>
                </a:cubicBezTo>
                <a:cubicBezTo>
                  <a:pt x="185863" y="1134216"/>
                  <a:pt x="185631" y="1171354"/>
                  <a:pt x="185412" y="1208494"/>
                </a:cubicBezTo>
                <a:cubicBezTo>
                  <a:pt x="184859" y="1317078"/>
                  <a:pt x="184553" y="1425663"/>
                  <a:pt x="184217" y="1534248"/>
                </a:cubicBezTo>
                <a:cubicBezTo>
                  <a:pt x="183235" y="1776867"/>
                  <a:pt x="182253" y="2019487"/>
                  <a:pt x="181241" y="2269459"/>
                </a:cubicBezTo>
                <a:cubicBezTo>
                  <a:pt x="869613" y="2269459"/>
                  <a:pt x="1557984" y="2269459"/>
                  <a:pt x="2267216" y="2269459"/>
                </a:cubicBezTo>
                <a:cubicBezTo>
                  <a:pt x="2267216" y="1920558"/>
                  <a:pt x="2267216" y="1571657"/>
                  <a:pt x="2267216" y="1212184"/>
                </a:cubicBezTo>
                <a:cubicBezTo>
                  <a:pt x="2242070" y="1218470"/>
                  <a:pt x="2216924" y="1224757"/>
                  <a:pt x="2191016" y="1231234"/>
                </a:cubicBezTo>
                <a:cubicBezTo>
                  <a:pt x="2190981" y="1242464"/>
                  <a:pt x="2190947" y="1253695"/>
                  <a:pt x="2190911" y="1265266"/>
                </a:cubicBezTo>
                <a:cubicBezTo>
                  <a:pt x="2190559" y="1371082"/>
                  <a:pt x="2190009" y="1476895"/>
                  <a:pt x="2189264" y="1582709"/>
                </a:cubicBezTo>
                <a:cubicBezTo>
                  <a:pt x="2188888" y="1637110"/>
                  <a:pt x="2188582" y="1691510"/>
                  <a:pt x="2188435" y="1745912"/>
                </a:cubicBezTo>
                <a:cubicBezTo>
                  <a:pt x="2188291" y="1798409"/>
                  <a:pt x="2187963" y="1850902"/>
                  <a:pt x="2187508" y="1903397"/>
                </a:cubicBezTo>
                <a:cubicBezTo>
                  <a:pt x="2187366" y="1923429"/>
                  <a:pt x="2187291" y="1943462"/>
                  <a:pt x="2187283" y="1963494"/>
                </a:cubicBezTo>
                <a:cubicBezTo>
                  <a:pt x="2187261" y="1991546"/>
                  <a:pt x="2187003" y="2019587"/>
                  <a:pt x="2186691" y="2047637"/>
                </a:cubicBezTo>
                <a:cubicBezTo>
                  <a:pt x="2186763" y="2060072"/>
                  <a:pt x="2186763" y="2060072"/>
                  <a:pt x="2186836" y="2072759"/>
                </a:cubicBezTo>
                <a:cubicBezTo>
                  <a:pt x="2186703" y="2080438"/>
                  <a:pt x="2186571" y="2088117"/>
                  <a:pt x="2186434" y="2096029"/>
                </a:cubicBezTo>
                <a:cubicBezTo>
                  <a:pt x="2186382" y="2105973"/>
                  <a:pt x="2186382" y="2105973"/>
                  <a:pt x="2186328" y="2116117"/>
                </a:cubicBezTo>
                <a:cubicBezTo>
                  <a:pt x="2178832" y="2147100"/>
                  <a:pt x="2166706" y="2162085"/>
                  <a:pt x="2143391" y="2183734"/>
                </a:cubicBezTo>
                <a:cubicBezTo>
                  <a:pt x="2116881" y="2188506"/>
                  <a:pt x="2096139" y="2190145"/>
                  <a:pt x="2069637" y="2189717"/>
                </a:cubicBezTo>
                <a:cubicBezTo>
                  <a:pt x="2062164" y="2189785"/>
                  <a:pt x="2054690" y="2189852"/>
                  <a:pt x="2046990" y="2189922"/>
                </a:cubicBezTo>
                <a:cubicBezTo>
                  <a:pt x="2021919" y="2190090"/>
                  <a:pt x="1996863" y="2189917"/>
                  <a:pt x="1971792" y="2189745"/>
                </a:cubicBezTo>
                <a:cubicBezTo>
                  <a:pt x="1953831" y="2189794"/>
                  <a:pt x="1935869" y="2189863"/>
                  <a:pt x="1917908" y="2189952"/>
                </a:cubicBezTo>
                <a:cubicBezTo>
                  <a:pt x="1869102" y="2190128"/>
                  <a:pt x="1820301" y="2190005"/>
                  <a:pt x="1771495" y="2189817"/>
                </a:cubicBezTo>
                <a:cubicBezTo>
                  <a:pt x="1720460" y="2189662"/>
                  <a:pt x="1669425" y="2189745"/>
                  <a:pt x="1618390" y="2189794"/>
                </a:cubicBezTo>
                <a:cubicBezTo>
                  <a:pt x="1532680" y="2189837"/>
                  <a:pt x="1446972" y="2189685"/>
                  <a:pt x="1361262" y="2189420"/>
                </a:cubicBezTo>
                <a:cubicBezTo>
                  <a:pt x="1262118" y="2189114"/>
                  <a:pt x="1162977" y="2189114"/>
                  <a:pt x="1063833" y="2189279"/>
                </a:cubicBezTo>
                <a:cubicBezTo>
                  <a:pt x="968526" y="2189430"/>
                  <a:pt x="873220" y="2189366"/>
                  <a:pt x="777913" y="2189203"/>
                </a:cubicBezTo>
                <a:cubicBezTo>
                  <a:pt x="737322" y="2189138"/>
                  <a:pt x="696732" y="2189148"/>
                  <a:pt x="656141" y="2189218"/>
                </a:cubicBezTo>
                <a:cubicBezTo>
                  <a:pt x="608356" y="2189291"/>
                  <a:pt x="560575" y="2189176"/>
                  <a:pt x="512790" y="2188914"/>
                </a:cubicBezTo>
                <a:cubicBezTo>
                  <a:pt x="495235" y="2188849"/>
                  <a:pt x="477679" y="2188848"/>
                  <a:pt x="460124" y="2188916"/>
                </a:cubicBezTo>
                <a:cubicBezTo>
                  <a:pt x="436193" y="2188999"/>
                  <a:pt x="412274" y="2188848"/>
                  <a:pt x="388345" y="2188636"/>
                </a:cubicBezTo>
                <a:cubicBezTo>
                  <a:pt x="381366" y="2188714"/>
                  <a:pt x="374387" y="2188793"/>
                  <a:pt x="367197" y="2188874"/>
                </a:cubicBezTo>
                <a:cubicBezTo>
                  <a:pt x="334478" y="2188338"/>
                  <a:pt x="317586" y="2186092"/>
                  <a:pt x="291527" y="2165568"/>
                </a:cubicBezTo>
                <a:cubicBezTo>
                  <a:pt x="267568" y="2133804"/>
                  <a:pt x="265749" y="2115915"/>
                  <a:pt x="265628" y="2076520"/>
                </a:cubicBezTo>
                <a:cubicBezTo>
                  <a:pt x="265574" y="2065903"/>
                  <a:pt x="265519" y="2055287"/>
                  <a:pt x="265463" y="2044348"/>
                </a:cubicBezTo>
                <a:cubicBezTo>
                  <a:pt x="265453" y="2032646"/>
                  <a:pt x="265442" y="2020943"/>
                  <a:pt x="265431" y="2008886"/>
                </a:cubicBezTo>
                <a:cubicBezTo>
                  <a:pt x="265384" y="1996604"/>
                  <a:pt x="265336" y="1984322"/>
                  <a:pt x="265288" y="1971667"/>
                </a:cubicBezTo>
                <a:cubicBezTo>
                  <a:pt x="265163" y="1937915"/>
                  <a:pt x="265101" y="1904164"/>
                  <a:pt x="265059" y="1870412"/>
                </a:cubicBezTo>
                <a:cubicBezTo>
                  <a:pt x="265031" y="1849328"/>
                  <a:pt x="264992" y="1828244"/>
                  <a:pt x="264950" y="1807160"/>
                </a:cubicBezTo>
                <a:cubicBezTo>
                  <a:pt x="264819" y="1741203"/>
                  <a:pt x="264727" y="1675246"/>
                  <a:pt x="264690" y="1609289"/>
                </a:cubicBezTo>
                <a:cubicBezTo>
                  <a:pt x="264648" y="1533136"/>
                  <a:pt x="264481" y="1456984"/>
                  <a:pt x="264205" y="1380831"/>
                </a:cubicBezTo>
                <a:cubicBezTo>
                  <a:pt x="263999" y="1321981"/>
                  <a:pt x="263903" y="1263132"/>
                  <a:pt x="263890" y="1204283"/>
                </a:cubicBezTo>
                <a:cubicBezTo>
                  <a:pt x="263880" y="1169129"/>
                  <a:pt x="263824" y="1133976"/>
                  <a:pt x="263654" y="1098823"/>
                </a:cubicBezTo>
                <a:cubicBezTo>
                  <a:pt x="263467" y="1059599"/>
                  <a:pt x="263509" y="1020378"/>
                  <a:pt x="263571" y="981154"/>
                </a:cubicBezTo>
                <a:cubicBezTo>
                  <a:pt x="263483" y="969509"/>
                  <a:pt x="263395" y="957864"/>
                  <a:pt x="263305" y="945867"/>
                </a:cubicBezTo>
                <a:cubicBezTo>
                  <a:pt x="263358" y="935170"/>
                  <a:pt x="263411" y="924473"/>
                  <a:pt x="263466" y="913451"/>
                </a:cubicBezTo>
                <a:cubicBezTo>
                  <a:pt x="263452" y="904178"/>
                  <a:pt x="263438" y="894905"/>
                  <a:pt x="263423" y="885350"/>
                </a:cubicBezTo>
                <a:cubicBezTo>
                  <a:pt x="267640" y="854887"/>
                  <a:pt x="277590" y="836900"/>
                  <a:pt x="295541" y="812134"/>
                </a:cubicBezTo>
                <a:cubicBezTo>
                  <a:pt x="319304" y="800252"/>
                  <a:pt x="335484" y="801288"/>
                  <a:pt x="362082" y="801102"/>
                </a:cubicBezTo>
                <a:cubicBezTo>
                  <a:pt x="372127" y="801008"/>
                  <a:pt x="382171" y="800915"/>
                  <a:pt x="392520" y="800819"/>
                </a:cubicBezTo>
                <a:cubicBezTo>
                  <a:pt x="403584" y="800764"/>
                  <a:pt x="414649" y="800709"/>
                  <a:pt x="426049" y="800653"/>
                </a:cubicBezTo>
                <a:cubicBezTo>
                  <a:pt x="443473" y="800512"/>
                  <a:pt x="443473" y="800512"/>
                  <a:pt x="461248" y="800367"/>
                </a:cubicBezTo>
                <a:cubicBezTo>
                  <a:pt x="493147" y="800118"/>
                  <a:pt x="525045" y="799909"/>
                  <a:pt x="556944" y="799720"/>
                </a:cubicBezTo>
                <a:cubicBezTo>
                  <a:pt x="590263" y="799512"/>
                  <a:pt x="623582" y="799251"/>
                  <a:pt x="656901" y="798995"/>
                </a:cubicBezTo>
                <a:cubicBezTo>
                  <a:pt x="720016" y="798519"/>
                  <a:pt x="783131" y="798091"/>
                  <a:pt x="846247" y="797680"/>
                </a:cubicBezTo>
                <a:cubicBezTo>
                  <a:pt x="918092" y="797210"/>
                  <a:pt x="989937" y="796687"/>
                  <a:pt x="1061783" y="796160"/>
                </a:cubicBezTo>
                <a:cubicBezTo>
                  <a:pt x="1209594" y="795075"/>
                  <a:pt x="1357405" y="794057"/>
                  <a:pt x="1505216" y="793084"/>
                </a:cubicBezTo>
                <a:cubicBezTo>
                  <a:pt x="1503457" y="751728"/>
                  <a:pt x="1503457" y="751728"/>
                  <a:pt x="1486166" y="716884"/>
                </a:cubicBezTo>
                <a:cubicBezTo>
                  <a:pt x="1470487" y="715906"/>
                  <a:pt x="1454765" y="715596"/>
                  <a:pt x="1439055" y="715546"/>
                </a:cubicBezTo>
                <a:cubicBezTo>
                  <a:pt x="1428853" y="715492"/>
                  <a:pt x="1418650" y="715437"/>
                  <a:pt x="1408138" y="715381"/>
                </a:cubicBezTo>
                <a:cubicBezTo>
                  <a:pt x="1396846" y="715371"/>
                  <a:pt x="1385555" y="715360"/>
                  <a:pt x="1373922" y="715349"/>
                </a:cubicBezTo>
                <a:cubicBezTo>
                  <a:pt x="1362105" y="715302"/>
                  <a:pt x="1350289" y="715254"/>
                  <a:pt x="1338114" y="715206"/>
                </a:cubicBezTo>
                <a:cubicBezTo>
                  <a:pt x="1305602" y="715090"/>
                  <a:pt x="1273089" y="715019"/>
                  <a:pt x="1240577" y="714977"/>
                </a:cubicBezTo>
                <a:cubicBezTo>
                  <a:pt x="1220270" y="714949"/>
                  <a:pt x="1199963" y="714910"/>
                  <a:pt x="1179656" y="714867"/>
                </a:cubicBezTo>
                <a:cubicBezTo>
                  <a:pt x="1116141" y="714737"/>
                  <a:pt x="1052625" y="714645"/>
                  <a:pt x="989109" y="714608"/>
                </a:cubicBezTo>
                <a:cubicBezTo>
                  <a:pt x="915758" y="714566"/>
                  <a:pt x="842410" y="714399"/>
                  <a:pt x="769060" y="714122"/>
                </a:cubicBezTo>
                <a:cubicBezTo>
                  <a:pt x="712395" y="713917"/>
                  <a:pt x="655730" y="713820"/>
                  <a:pt x="599065" y="713808"/>
                </a:cubicBezTo>
                <a:cubicBezTo>
                  <a:pt x="565209" y="713798"/>
                  <a:pt x="531356" y="713741"/>
                  <a:pt x="497501" y="713571"/>
                </a:cubicBezTo>
                <a:cubicBezTo>
                  <a:pt x="459714" y="713385"/>
                  <a:pt x="421928" y="713427"/>
                  <a:pt x="384140" y="713489"/>
                </a:cubicBezTo>
                <a:cubicBezTo>
                  <a:pt x="372926" y="713401"/>
                  <a:pt x="361712" y="713313"/>
                  <a:pt x="350158" y="713223"/>
                </a:cubicBezTo>
                <a:cubicBezTo>
                  <a:pt x="334692" y="713302"/>
                  <a:pt x="334692" y="713302"/>
                  <a:pt x="318914" y="713383"/>
                </a:cubicBezTo>
                <a:cubicBezTo>
                  <a:pt x="309980" y="713369"/>
                  <a:pt x="301045" y="713355"/>
                  <a:pt x="291840" y="713341"/>
                </a:cubicBezTo>
                <a:cubicBezTo>
                  <a:pt x="251028" y="719154"/>
                  <a:pt x="227570" y="734953"/>
                  <a:pt x="202314" y="767196"/>
                </a:cubicBezTo>
                <a:close/>
                <a:moveTo>
                  <a:pt x="1971941" y="764509"/>
                </a:moveTo>
                <a:cubicBezTo>
                  <a:pt x="1978227" y="786511"/>
                  <a:pt x="1984514" y="808514"/>
                  <a:pt x="1990991" y="831184"/>
                </a:cubicBezTo>
                <a:cubicBezTo>
                  <a:pt x="1997277" y="828040"/>
                  <a:pt x="2003564" y="824897"/>
                  <a:pt x="2010041" y="821659"/>
                </a:cubicBezTo>
                <a:cubicBezTo>
                  <a:pt x="2010041" y="815372"/>
                  <a:pt x="2010041" y="809086"/>
                  <a:pt x="2010041" y="802609"/>
                </a:cubicBezTo>
                <a:cubicBezTo>
                  <a:pt x="2016327" y="799465"/>
                  <a:pt x="2022614" y="796322"/>
                  <a:pt x="2029091" y="793084"/>
                </a:cubicBezTo>
                <a:cubicBezTo>
                  <a:pt x="2016594" y="778201"/>
                  <a:pt x="2016594" y="778201"/>
                  <a:pt x="2000516" y="764509"/>
                </a:cubicBezTo>
                <a:cubicBezTo>
                  <a:pt x="1991086" y="764509"/>
                  <a:pt x="1981656" y="764509"/>
                  <a:pt x="1971941" y="764509"/>
                </a:cubicBezTo>
                <a:close/>
                <a:moveTo>
                  <a:pt x="2191016" y="764509"/>
                </a:moveTo>
                <a:cubicBezTo>
                  <a:pt x="2184730" y="777082"/>
                  <a:pt x="2178443" y="789655"/>
                  <a:pt x="2171966" y="802609"/>
                </a:cubicBezTo>
                <a:cubicBezTo>
                  <a:pt x="2184539" y="812038"/>
                  <a:pt x="2197112" y="821468"/>
                  <a:pt x="2210066" y="831184"/>
                </a:cubicBezTo>
                <a:cubicBezTo>
                  <a:pt x="2213209" y="809181"/>
                  <a:pt x="2216352" y="787178"/>
                  <a:pt x="2219591" y="764509"/>
                </a:cubicBezTo>
                <a:cubicBezTo>
                  <a:pt x="2210161" y="764509"/>
                  <a:pt x="2200732" y="764509"/>
                  <a:pt x="2191016" y="764509"/>
                </a:cubicBezTo>
                <a:close/>
                <a:moveTo>
                  <a:pt x="1752866" y="831184"/>
                </a:moveTo>
                <a:cubicBezTo>
                  <a:pt x="1723216" y="861523"/>
                  <a:pt x="1712689" y="885547"/>
                  <a:pt x="1709408" y="927029"/>
                </a:cubicBezTo>
                <a:cubicBezTo>
                  <a:pt x="1716036" y="973421"/>
                  <a:pt x="1726052" y="983390"/>
                  <a:pt x="1762391" y="1012159"/>
                </a:cubicBezTo>
                <a:cubicBezTo>
                  <a:pt x="1768149" y="1016861"/>
                  <a:pt x="1773908" y="1021564"/>
                  <a:pt x="1779841" y="1026409"/>
                </a:cubicBezTo>
                <a:cubicBezTo>
                  <a:pt x="1895226" y="1117670"/>
                  <a:pt x="2025882" y="1151618"/>
                  <a:pt x="2171966" y="1135984"/>
                </a:cubicBezTo>
                <a:cubicBezTo>
                  <a:pt x="2291179" y="1113311"/>
                  <a:pt x="2409947" y="1062964"/>
                  <a:pt x="2486291" y="964534"/>
                </a:cubicBezTo>
                <a:cubicBezTo>
                  <a:pt x="2497761" y="917807"/>
                  <a:pt x="2481449" y="886712"/>
                  <a:pt x="2457716" y="846662"/>
                </a:cubicBezTo>
                <a:cubicBezTo>
                  <a:pt x="2422873" y="816174"/>
                  <a:pt x="2389133" y="800703"/>
                  <a:pt x="2343416" y="793084"/>
                </a:cubicBezTo>
                <a:cubicBezTo>
                  <a:pt x="2333986" y="796227"/>
                  <a:pt x="2324557" y="799370"/>
                  <a:pt x="2314841" y="802609"/>
                </a:cubicBezTo>
                <a:cubicBezTo>
                  <a:pt x="2305548" y="821370"/>
                  <a:pt x="2305548" y="821370"/>
                  <a:pt x="2299549" y="844541"/>
                </a:cubicBezTo>
                <a:cubicBezTo>
                  <a:pt x="2297063" y="853019"/>
                  <a:pt x="2294576" y="861497"/>
                  <a:pt x="2292014" y="870232"/>
                </a:cubicBezTo>
                <a:cubicBezTo>
                  <a:pt x="2289528" y="879153"/>
                  <a:pt x="2287042" y="888073"/>
                  <a:pt x="2284480" y="897263"/>
                </a:cubicBezTo>
                <a:cubicBezTo>
                  <a:pt x="2281883" y="906147"/>
                  <a:pt x="2279286" y="915030"/>
                  <a:pt x="2276611" y="924183"/>
                </a:cubicBezTo>
                <a:cubicBezTo>
                  <a:pt x="2262924" y="967500"/>
                  <a:pt x="2262924" y="967500"/>
                  <a:pt x="2257691" y="1012159"/>
                </a:cubicBezTo>
                <a:cubicBezTo>
                  <a:pt x="2204417" y="966819"/>
                  <a:pt x="2154166" y="919328"/>
                  <a:pt x="2105291" y="869284"/>
                </a:cubicBezTo>
                <a:cubicBezTo>
                  <a:pt x="2064372" y="884999"/>
                  <a:pt x="2038567" y="915170"/>
                  <a:pt x="2008850" y="946079"/>
                </a:cubicBezTo>
                <a:cubicBezTo>
                  <a:pt x="1955176" y="1001491"/>
                  <a:pt x="1955176" y="1001491"/>
                  <a:pt x="1933841" y="1012159"/>
                </a:cubicBezTo>
                <a:cubicBezTo>
                  <a:pt x="1932908" y="1006719"/>
                  <a:pt x="1931975" y="1001280"/>
                  <a:pt x="1931013" y="995676"/>
                </a:cubicBezTo>
                <a:cubicBezTo>
                  <a:pt x="1918230" y="926360"/>
                  <a:pt x="1898332" y="860107"/>
                  <a:pt x="1876691" y="793084"/>
                </a:cubicBezTo>
                <a:cubicBezTo>
                  <a:pt x="1833604" y="793084"/>
                  <a:pt x="1791237" y="812933"/>
                  <a:pt x="1752866" y="831184"/>
                </a:cubicBezTo>
                <a:close/>
                <a:moveTo>
                  <a:pt x="362216" y="888334"/>
                </a:moveTo>
                <a:cubicBezTo>
                  <a:pt x="362216" y="1287527"/>
                  <a:pt x="362216" y="1686719"/>
                  <a:pt x="362216" y="2098009"/>
                </a:cubicBezTo>
                <a:cubicBezTo>
                  <a:pt x="934287" y="2098009"/>
                  <a:pt x="1506359" y="2098009"/>
                  <a:pt x="2095766" y="2098009"/>
                </a:cubicBezTo>
                <a:cubicBezTo>
                  <a:pt x="2095766" y="1815116"/>
                  <a:pt x="2095766" y="1532224"/>
                  <a:pt x="2095766" y="1240759"/>
                </a:cubicBezTo>
                <a:cubicBezTo>
                  <a:pt x="2001468" y="1221899"/>
                  <a:pt x="2001468" y="1221899"/>
                  <a:pt x="1905266" y="1202659"/>
                </a:cubicBezTo>
                <a:cubicBezTo>
                  <a:pt x="1758413" y="1138809"/>
                  <a:pt x="1632615" y="1059001"/>
                  <a:pt x="1559483" y="910818"/>
                </a:cubicBezTo>
                <a:cubicBezTo>
                  <a:pt x="1545564" y="886448"/>
                  <a:pt x="1545564" y="886448"/>
                  <a:pt x="1521354" y="882474"/>
                </a:cubicBezTo>
                <a:cubicBezTo>
                  <a:pt x="1512671" y="882517"/>
                  <a:pt x="1503987" y="882561"/>
                  <a:pt x="1495041" y="882607"/>
                </a:cubicBezTo>
                <a:cubicBezTo>
                  <a:pt x="1480106" y="882508"/>
                  <a:pt x="1480106" y="882508"/>
                  <a:pt x="1464869" y="882408"/>
                </a:cubicBezTo>
                <a:cubicBezTo>
                  <a:pt x="1448426" y="882665"/>
                  <a:pt x="1448426" y="882665"/>
                  <a:pt x="1431651" y="882927"/>
                </a:cubicBezTo>
                <a:cubicBezTo>
                  <a:pt x="1419940" y="882921"/>
                  <a:pt x="1408229" y="882916"/>
                  <a:pt x="1396164" y="882910"/>
                </a:cubicBezTo>
                <a:cubicBezTo>
                  <a:pt x="1364466" y="882939"/>
                  <a:pt x="1332783" y="883175"/>
                  <a:pt x="1301088" y="883510"/>
                </a:cubicBezTo>
                <a:cubicBezTo>
                  <a:pt x="1271355" y="883781"/>
                  <a:pt x="1241622" y="883794"/>
                  <a:pt x="1211888" y="883828"/>
                </a:cubicBezTo>
                <a:cubicBezTo>
                  <a:pt x="1124918" y="884078"/>
                  <a:pt x="1037949" y="884743"/>
                  <a:pt x="950980" y="885357"/>
                </a:cubicBezTo>
                <a:cubicBezTo>
                  <a:pt x="756688" y="886339"/>
                  <a:pt x="562396" y="887322"/>
                  <a:pt x="362216" y="888334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CED54B3-010D-3F55-E63A-F8B8847AB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846005" y="4446866"/>
            <a:ext cx="276225" cy="1057275"/>
          </a:xfrm>
          <a:custGeom>
            <a:avLst/>
            <a:gdLst>
              <a:gd name="csX0" fmla="*/ 123 w 276225"/>
              <a:gd name="csY0" fmla="*/ 105 h 1057275"/>
              <a:gd name="csX1" fmla="*/ 276348 w 276225"/>
              <a:gd name="csY1" fmla="*/ 105 h 1057275"/>
              <a:gd name="csX2" fmla="*/ 276348 w 276225"/>
              <a:gd name="csY2" fmla="*/ 1057380 h 1057275"/>
              <a:gd name="csX3" fmla="*/ 123 w 276225"/>
              <a:gd name="csY3" fmla="*/ 1057380 h 1057275"/>
              <a:gd name="csX4" fmla="*/ 123 w 276225"/>
              <a:gd name="csY4" fmla="*/ 105 h 1057275"/>
              <a:gd name="csX5" fmla="*/ 95373 w 276225"/>
              <a:gd name="csY5" fmla="*/ 95355 h 1057275"/>
              <a:gd name="csX6" fmla="*/ 95373 w 276225"/>
              <a:gd name="csY6" fmla="*/ 962130 h 1057275"/>
              <a:gd name="csX7" fmla="*/ 171573 w 276225"/>
              <a:gd name="csY7" fmla="*/ 962130 h 1057275"/>
              <a:gd name="csX8" fmla="*/ 171573 w 276225"/>
              <a:gd name="csY8" fmla="*/ 95355 h 1057275"/>
              <a:gd name="csX9" fmla="*/ 95373 w 276225"/>
              <a:gd name="csY9" fmla="*/ 95355 h 10572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76225" h="1057275">
                <a:moveTo>
                  <a:pt x="123" y="105"/>
                </a:moveTo>
                <a:cubicBezTo>
                  <a:pt x="91277" y="105"/>
                  <a:pt x="182432" y="105"/>
                  <a:pt x="276348" y="105"/>
                </a:cubicBezTo>
                <a:cubicBezTo>
                  <a:pt x="276348" y="349006"/>
                  <a:pt x="276348" y="697907"/>
                  <a:pt x="276348" y="1057380"/>
                </a:cubicBezTo>
                <a:cubicBezTo>
                  <a:pt x="185194" y="1057380"/>
                  <a:pt x="94040" y="1057380"/>
                  <a:pt x="123" y="1057380"/>
                </a:cubicBezTo>
                <a:cubicBezTo>
                  <a:pt x="123" y="708479"/>
                  <a:pt x="123" y="359579"/>
                  <a:pt x="123" y="105"/>
                </a:cubicBezTo>
                <a:close/>
                <a:moveTo>
                  <a:pt x="95373" y="95355"/>
                </a:moveTo>
                <a:cubicBezTo>
                  <a:pt x="95373" y="381391"/>
                  <a:pt x="95373" y="667427"/>
                  <a:pt x="95373" y="962130"/>
                </a:cubicBezTo>
                <a:cubicBezTo>
                  <a:pt x="120519" y="962130"/>
                  <a:pt x="145665" y="962130"/>
                  <a:pt x="171573" y="962130"/>
                </a:cubicBezTo>
                <a:cubicBezTo>
                  <a:pt x="171573" y="676094"/>
                  <a:pt x="171573" y="390059"/>
                  <a:pt x="171573" y="95355"/>
                </a:cubicBezTo>
                <a:cubicBezTo>
                  <a:pt x="146427" y="95355"/>
                  <a:pt x="121281" y="95355"/>
                  <a:pt x="95373" y="95355"/>
                </a:cubicBez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76618D3-E0EB-44CC-56AC-6D1B0393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93580" y="4618316"/>
            <a:ext cx="276225" cy="885825"/>
          </a:xfrm>
          <a:custGeom>
            <a:avLst/>
            <a:gdLst>
              <a:gd name="csX0" fmla="*/ 86 w 276225"/>
              <a:gd name="csY0" fmla="*/ 123 h 885825"/>
              <a:gd name="csX1" fmla="*/ 276311 w 276225"/>
              <a:gd name="csY1" fmla="*/ 123 h 885825"/>
              <a:gd name="csX2" fmla="*/ 276311 w 276225"/>
              <a:gd name="csY2" fmla="*/ 885948 h 885825"/>
              <a:gd name="csX3" fmla="*/ 86 w 276225"/>
              <a:gd name="csY3" fmla="*/ 885948 h 885825"/>
              <a:gd name="csX4" fmla="*/ 86 w 276225"/>
              <a:gd name="csY4" fmla="*/ 123 h 885825"/>
              <a:gd name="csX5" fmla="*/ 104861 w 276225"/>
              <a:gd name="csY5" fmla="*/ 104898 h 885825"/>
              <a:gd name="csX6" fmla="*/ 104861 w 276225"/>
              <a:gd name="csY6" fmla="*/ 790698 h 885825"/>
              <a:gd name="csX7" fmla="*/ 181061 w 276225"/>
              <a:gd name="csY7" fmla="*/ 790698 h 885825"/>
              <a:gd name="csX8" fmla="*/ 181061 w 276225"/>
              <a:gd name="csY8" fmla="*/ 104898 h 885825"/>
              <a:gd name="csX9" fmla="*/ 104861 w 276225"/>
              <a:gd name="csY9" fmla="*/ 104898 h 8858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76225" h="885825">
                <a:moveTo>
                  <a:pt x="86" y="123"/>
                </a:moveTo>
                <a:cubicBezTo>
                  <a:pt x="91240" y="123"/>
                  <a:pt x="182395" y="123"/>
                  <a:pt x="276311" y="123"/>
                </a:cubicBezTo>
                <a:cubicBezTo>
                  <a:pt x="276311" y="292445"/>
                  <a:pt x="276311" y="584768"/>
                  <a:pt x="276311" y="885948"/>
                </a:cubicBezTo>
                <a:cubicBezTo>
                  <a:pt x="185157" y="885948"/>
                  <a:pt x="94003" y="885948"/>
                  <a:pt x="86" y="885948"/>
                </a:cubicBezTo>
                <a:cubicBezTo>
                  <a:pt x="86" y="593626"/>
                  <a:pt x="86" y="301304"/>
                  <a:pt x="86" y="123"/>
                </a:cubicBezTo>
                <a:close/>
                <a:moveTo>
                  <a:pt x="104861" y="104898"/>
                </a:moveTo>
                <a:cubicBezTo>
                  <a:pt x="104861" y="331212"/>
                  <a:pt x="104861" y="557526"/>
                  <a:pt x="104861" y="790698"/>
                </a:cubicBezTo>
                <a:cubicBezTo>
                  <a:pt x="130007" y="790698"/>
                  <a:pt x="155153" y="790698"/>
                  <a:pt x="181061" y="790698"/>
                </a:cubicBezTo>
                <a:cubicBezTo>
                  <a:pt x="181061" y="564384"/>
                  <a:pt x="181061" y="338070"/>
                  <a:pt x="181061" y="104898"/>
                </a:cubicBezTo>
                <a:cubicBezTo>
                  <a:pt x="155915" y="104898"/>
                  <a:pt x="130769" y="104898"/>
                  <a:pt x="104861" y="104898"/>
                </a:cubicBezTo>
                <a:close/>
              </a:path>
            </a:pathLst>
          </a:custGeom>
          <a:solidFill>
            <a:srgbClr val="0070C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2CE1CCCB-8713-20C3-D196-570AA5B49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150680" y="4799291"/>
            <a:ext cx="266700" cy="704850"/>
          </a:xfrm>
          <a:custGeom>
            <a:avLst/>
            <a:gdLst>
              <a:gd name="csX0" fmla="*/ 50 w 266700"/>
              <a:gd name="csY0" fmla="*/ 142 h 704850"/>
              <a:gd name="csX1" fmla="*/ 266750 w 266700"/>
              <a:gd name="csY1" fmla="*/ 142 h 704850"/>
              <a:gd name="csX2" fmla="*/ 266750 w 266700"/>
              <a:gd name="csY2" fmla="*/ 704992 h 704850"/>
              <a:gd name="csX3" fmla="*/ 50 w 266700"/>
              <a:gd name="csY3" fmla="*/ 704992 h 704850"/>
              <a:gd name="csX4" fmla="*/ 50 w 266700"/>
              <a:gd name="csY4" fmla="*/ 142 h 704850"/>
              <a:gd name="csX5" fmla="*/ 95300 w 266700"/>
              <a:gd name="csY5" fmla="*/ 95392 h 704850"/>
              <a:gd name="csX6" fmla="*/ 95300 w 266700"/>
              <a:gd name="csY6" fmla="*/ 609742 h 704850"/>
              <a:gd name="csX7" fmla="*/ 171500 w 266700"/>
              <a:gd name="csY7" fmla="*/ 609742 h 704850"/>
              <a:gd name="csX8" fmla="*/ 171500 w 266700"/>
              <a:gd name="csY8" fmla="*/ 95392 h 704850"/>
              <a:gd name="csX9" fmla="*/ 95300 w 266700"/>
              <a:gd name="csY9" fmla="*/ 95392 h 7048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6700" h="704850">
                <a:moveTo>
                  <a:pt x="50" y="142"/>
                </a:moveTo>
                <a:cubicBezTo>
                  <a:pt x="88061" y="142"/>
                  <a:pt x="176072" y="142"/>
                  <a:pt x="266750" y="142"/>
                </a:cubicBezTo>
                <a:cubicBezTo>
                  <a:pt x="266750" y="232743"/>
                  <a:pt x="266750" y="465343"/>
                  <a:pt x="266750" y="704992"/>
                </a:cubicBezTo>
                <a:cubicBezTo>
                  <a:pt x="178739" y="704992"/>
                  <a:pt x="90728" y="704992"/>
                  <a:pt x="50" y="704992"/>
                </a:cubicBezTo>
                <a:cubicBezTo>
                  <a:pt x="50" y="472392"/>
                  <a:pt x="50" y="239791"/>
                  <a:pt x="50" y="142"/>
                </a:cubicBezTo>
                <a:close/>
                <a:moveTo>
                  <a:pt x="95300" y="95392"/>
                </a:moveTo>
                <a:cubicBezTo>
                  <a:pt x="95300" y="265128"/>
                  <a:pt x="95300" y="434863"/>
                  <a:pt x="95300" y="609742"/>
                </a:cubicBezTo>
                <a:cubicBezTo>
                  <a:pt x="120446" y="609742"/>
                  <a:pt x="145592" y="609742"/>
                  <a:pt x="171500" y="609742"/>
                </a:cubicBezTo>
                <a:cubicBezTo>
                  <a:pt x="171500" y="440007"/>
                  <a:pt x="171500" y="270271"/>
                  <a:pt x="171500" y="95392"/>
                </a:cubicBezTo>
                <a:cubicBezTo>
                  <a:pt x="146354" y="95392"/>
                  <a:pt x="121208" y="95392"/>
                  <a:pt x="95300" y="95392"/>
                </a:cubicBezTo>
                <a:close/>
              </a:path>
            </a:pathLst>
          </a:custGeom>
          <a:solidFill>
            <a:srgbClr val="00B0F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B93AEC08-C73C-C0C2-12CB-BFBF5020E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198430" y="5227916"/>
            <a:ext cx="533400" cy="104775"/>
          </a:xfrm>
          <a:custGeom>
            <a:avLst/>
            <a:gdLst>
              <a:gd name="csX0" fmla="*/ 160 w 533400"/>
              <a:gd name="csY0" fmla="*/ 187 h 104775"/>
              <a:gd name="csX1" fmla="*/ 533560 w 533400"/>
              <a:gd name="csY1" fmla="*/ 187 h 104775"/>
              <a:gd name="csX2" fmla="*/ 533560 w 533400"/>
              <a:gd name="csY2" fmla="*/ 104962 h 104775"/>
              <a:gd name="csX3" fmla="*/ 160 w 533400"/>
              <a:gd name="csY3" fmla="*/ 104962 h 104775"/>
              <a:gd name="csX4" fmla="*/ 160 w 533400"/>
              <a:gd name="csY4" fmla="*/ 187 h 10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3400" h="104775">
                <a:moveTo>
                  <a:pt x="160" y="187"/>
                </a:moveTo>
                <a:cubicBezTo>
                  <a:pt x="176182" y="187"/>
                  <a:pt x="352204" y="187"/>
                  <a:pt x="533560" y="187"/>
                </a:cubicBezTo>
                <a:cubicBezTo>
                  <a:pt x="533560" y="34763"/>
                  <a:pt x="533560" y="69339"/>
                  <a:pt x="533560" y="104962"/>
                </a:cubicBezTo>
                <a:cubicBezTo>
                  <a:pt x="357538" y="104962"/>
                  <a:pt x="181516" y="104962"/>
                  <a:pt x="160" y="104962"/>
                </a:cubicBezTo>
                <a:cubicBezTo>
                  <a:pt x="160" y="70386"/>
                  <a:pt x="160" y="35811"/>
                  <a:pt x="160" y="187"/>
                </a:cubicBezTo>
                <a:close/>
              </a:path>
            </a:pathLst>
          </a:custGeom>
          <a:solidFill>
            <a:srgbClr val="FF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9D83E3E-1755-6FBC-6BD7-8809E238E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198430" y="5408891"/>
            <a:ext cx="533400" cy="95250"/>
          </a:xfrm>
          <a:custGeom>
            <a:avLst/>
            <a:gdLst>
              <a:gd name="csX0" fmla="*/ 160 w 533400"/>
              <a:gd name="csY0" fmla="*/ 206 h 95250"/>
              <a:gd name="csX1" fmla="*/ 533560 w 533400"/>
              <a:gd name="csY1" fmla="*/ 206 h 95250"/>
              <a:gd name="csX2" fmla="*/ 533560 w 533400"/>
              <a:gd name="csY2" fmla="*/ 95456 h 95250"/>
              <a:gd name="csX3" fmla="*/ 160 w 533400"/>
              <a:gd name="csY3" fmla="*/ 95456 h 95250"/>
              <a:gd name="csX4" fmla="*/ 160 w 533400"/>
              <a:gd name="csY4" fmla="*/ 206 h 95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3400" h="95250">
                <a:moveTo>
                  <a:pt x="160" y="206"/>
                </a:moveTo>
                <a:cubicBezTo>
                  <a:pt x="176182" y="206"/>
                  <a:pt x="352204" y="206"/>
                  <a:pt x="533560" y="206"/>
                </a:cubicBezTo>
                <a:cubicBezTo>
                  <a:pt x="533560" y="31639"/>
                  <a:pt x="533560" y="63071"/>
                  <a:pt x="533560" y="95456"/>
                </a:cubicBezTo>
                <a:cubicBezTo>
                  <a:pt x="357538" y="95456"/>
                  <a:pt x="181516" y="95456"/>
                  <a:pt x="160" y="95456"/>
                </a:cubicBezTo>
                <a:cubicBezTo>
                  <a:pt x="160" y="64024"/>
                  <a:pt x="160" y="32591"/>
                  <a:pt x="160" y="206"/>
                </a:cubicBezTo>
                <a:close/>
              </a:path>
            </a:pathLst>
          </a:custGeom>
          <a:solidFill>
            <a:srgbClr val="00B0F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85F91D5-8DF1-4C02-B88E-E02EC80A0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198430" y="5056466"/>
            <a:ext cx="533400" cy="95250"/>
          </a:xfrm>
          <a:custGeom>
            <a:avLst/>
            <a:gdLst>
              <a:gd name="csX0" fmla="*/ 160 w 533400"/>
              <a:gd name="csY0" fmla="*/ 169 h 95250"/>
              <a:gd name="csX1" fmla="*/ 533560 w 533400"/>
              <a:gd name="csY1" fmla="*/ 169 h 95250"/>
              <a:gd name="csX2" fmla="*/ 533560 w 533400"/>
              <a:gd name="csY2" fmla="*/ 95419 h 95250"/>
              <a:gd name="csX3" fmla="*/ 160 w 533400"/>
              <a:gd name="csY3" fmla="*/ 95419 h 95250"/>
              <a:gd name="csX4" fmla="*/ 160 w 533400"/>
              <a:gd name="csY4" fmla="*/ 169 h 95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3400" h="95250">
                <a:moveTo>
                  <a:pt x="160" y="169"/>
                </a:moveTo>
                <a:cubicBezTo>
                  <a:pt x="176182" y="169"/>
                  <a:pt x="352204" y="169"/>
                  <a:pt x="533560" y="169"/>
                </a:cubicBezTo>
                <a:cubicBezTo>
                  <a:pt x="533560" y="31602"/>
                  <a:pt x="533560" y="63034"/>
                  <a:pt x="533560" y="95419"/>
                </a:cubicBezTo>
                <a:cubicBezTo>
                  <a:pt x="357538" y="95419"/>
                  <a:pt x="181516" y="95419"/>
                  <a:pt x="160" y="95419"/>
                </a:cubicBezTo>
                <a:cubicBezTo>
                  <a:pt x="160" y="63987"/>
                  <a:pt x="160" y="32554"/>
                  <a:pt x="160" y="169"/>
                </a:cubicBezTo>
                <a:close/>
              </a:path>
            </a:pathLst>
          </a:custGeom>
          <a:solidFill>
            <a:srgbClr val="92D05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EAD18AC-EB44-7FA9-4137-5A1819330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198430" y="4885016"/>
            <a:ext cx="533400" cy="95250"/>
          </a:xfrm>
          <a:custGeom>
            <a:avLst/>
            <a:gdLst>
              <a:gd name="csX0" fmla="*/ 160 w 533400"/>
              <a:gd name="csY0" fmla="*/ 151 h 95250"/>
              <a:gd name="csX1" fmla="*/ 533560 w 533400"/>
              <a:gd name="csY1" fmla="*/ 151 h 95250"/>
              <a:gd name="csX2" fmla="*/ 533560 w 533400"/>
              <a:gd name="csY2" fmla="*/ 95401 h 95250"/>
              <a:gd name="csX3" fmla="*/ 160 w 533400"/>
              <a:gd name="csY3" fmla="*/ 95401 h 95250"/>
              <a:gd name="csX4" fmla="*/ 160 w 533400"/>
              <a:gd name="csY4" fmla="*/ 151 h 95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3400" h="95250">
                <a:moveTo>
                  <a:pt x="160" y="151"/>
                </a:moveTo>
                <a:cubicBezTo>
                  <a:pt x="176182" y="151"/>
                  <a:pt x="352204" y="151"/>
                  <a:pt x="533560" y="151"/>
                </a:cubicBezTo>
                <a:cubicBezTo>
                  <a:pt x="533560" y="31584"/>
                  <a:pt x="533560" y="63016"/>
                  <a:pt x="533560" y="95401"/>
                </a:cubicBezTo>
                <a:cubicBezTo>
                  <a:pt x="357538" y="95401"/>
                  <a:pt x="181516" y="95401"/>
                  <a:pt x="160" y="95401"/>
                </a:cubicBezTo>
                <a:cubicBezTo>
                  <a:pt x="160" y="63969"/>
                  <a:pt x="160" y="32536"/>
                  <a:pt x="160" y="151"/>
                </a:cubicBezTo>
                <a:close/>
              </a:path>
            </a:pathLst>
          </a:custGeom>
          <a:solidFill>
            <a:srgbClr val="002060"/>
          </a:solidFill>
          <a:ln w="25400" cap="flat">
            <a:solidFill>
              <a:srgbClr val="EF7F0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62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8C810-D30B-2161-27DA-9BDB4F9A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42F7397-10D9-1E46-1B6C-4F4263DF9E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18D904-93B4-DC97-6553-B690666B2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5E5480A-CBC0-3CD5-E9D6-953EAD1ADB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834268" y="2602578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8A40967-A299-FE70-2153-5B477EBF7A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12C401-1DAE-22A0-27EC-E8AE92426EE8}"/>
              </a:ext>
            </a:extLst>
          </p:cNvPr>
          <p:cNvSpPr txBox="1"/>
          <p:nvPr/>
        </p:nvSpPr>
        <p:spPr>
          <a:xfrm>
            <a:off x="0" y="0"/>
            <a:ext cx="4582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Aptos Slab Black" panose="020B0004020202020204" pitchFamily="34" charset="0"/>
              </a:rPr>
              <a:t>  Problematic</a:t>
            </a:r>
            <a:endParaRPr lang="en-US" sz="5400" dirty="0">
              <a:latin typeface="Aptos Slab Black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EBFBA8-EB55-E5BE-1E0E-6C14B70E5DCA}"/>
              </a:ext>
            </a:extLst>
          </p:cNvPr>
          <p:cNvSpPr txBox="1"/>
          <p:nvPr/>
        </p:nvSpPr>
        <p:spPr>
          <a:xfrm>
            <a:off x="371821" y="727055"/>
            <a:ext cx="4766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i="1" dirty="0">
                <a:latin typeface="Arial Narrow" panose="020B0606020202030204" pitchFamily="34" charset="0"/>
              </a:rPr>
              <a:t>« </a:t>
            </a:r>
            <a:r>
              <a:rPr lang="en-US" sz="2400" i="1" dirty="0">
                <a:latin typeface="Arial Narrow" panose="020B0606020202030204" pitchFamily="34" charset="0"/>
              </a:rPr>
              <a:t>Confused client </a:t>
            </a:r>
            <a:r>
              <a:rPr lang="en-US" sz="2400" b="1" dirty="0"/>
              <a:t>➡ </a:t>
            </a:r>
            <a:r>
              <a:rPr lang="en-US" sz="2400" i="1" dirty="0">
                <a:latin typeface="Arial Narrow" panose="020B0606020202030204" pitchFamily="34" charset="0"/>
              </a:rPr>
              <a:t>Unhappy client </a:t>
            </a:r>
            <a:r>
              <a:rPr lang="fr-FR" sz="2400" i="1" dirty="0">
                <a:latin typeface="Arial Narrow" panose="020B0606020202030204" pitchFamily="34" charset="0"/>
              </a:rPr>
              <a:t>»</a:t>
            </a:r>
            <a:endParaRPr lang="en-US" sz="2400" i="1" dirty="0">
              <a:latin typeface="Arial Narrow" panose="020B0606020202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5660328-7D19-4207-CCBC-9D5A30776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866" y="1546662"/>
            <a:ext cx="5029200" cy="4854140"/>
          </a:xfrm>
          <a:prstGeom prst="roundRect">
            <a:avLst>
              <a:gd name="adj" fmla="val 6309"/>
            </a:avLst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B6B6B6"/>
              </a:gs>
            </a:gsLst>
            <a:lin ang="540000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66B7535D-EBA1-A82A-B85D-25D09FEDA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2866" y="1539394"/>
            <a:ext cx="5029199" cy="5491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C5C6"/>
          </a:solidFill>
          <a:ln w="25400" cap="flat"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274552 w 3190240"/>
                      <a:gd name="csY0" fmla="*/ 0 h 549103"/>
                      <a:gd name="csX1" fmla="*/ 855602 w 3190240"/>
                      <a:gd name="csY1" fmla="*/ 0 h 549103"/>
                      <a:gd name="csX2" fmla="*/ 1304595 w 3190240"/>
                      <a:gd name="csY2" fmla="*/ 0 h 549103"/>
                      <a:gd name="csX3" fmla="*/ 1780000 w 3190240"/>
                      <a:gd name="csY3" fmla="*/ 0 h 549103"/>
                      <a:gd name="csX4" fmla="*/ 2255405 w 3190240"/>
                      <a:gd name="csY4" fmla="*/ 0 h 549103"/>
                      <a:gd name="csX5" fmla="*/ 2915689 w 3190240"/>
                      <a:gd name="csY5" fmla="*/ 0 h 549103"/>
                      <a:gd name="csX6" fmla="*/ 3190241 w 3190240"/>
                      <a:gd name="csY6" fmla="*/ 274552 h 549103"/>
                      <a:gd name="csX7" fmla="*/ 3190240 w 3190240"/>
                      <a:gd name="csY7" fmla="*/ 549103 h 549103"/>
                      <a:gd name="csX8" fmla="*/ 3190240 w 3190240"/>
                      <a:gd name="csY8" fmla="*/ 549103 h 549103"/>
                      <a:gd name="csX9" fmla="*/ 2658533 w 3190240"/>
                      <a:gd name="csY9" fmla="*/ 549103 h 549103"/>
                      <a:gd name="csX10" fmla="*/ 2126827 w 3190240"/>
                      <a:gd name="csY10" fmla="*/ 549103 h 549103"/>
                      <a:gd name="csX11" fmla="*/ 1658925 w 3190240"/>
                      <a:gd name="csY11" fmla="*/ 549103 h 549103"/>
                      <a:gd name="csX12" fmla="*/ 1095316 w 3190240"/>
                      <a:gd name="csY12" fmla="*/ 549103 h 549103"/>
                      <a:gd name="csX13" fmla="*/ 627414 w 3190240"/>
                      <a:gd name="csY13" fmla="*/ 549103 h 549103"/>
                      <a:gd name="csX14" fmla="*/ 0 w 3190240"/>
                      <a:gd name="csY14" fmla="*/ 549103 h 549103"/>
                      <a:gd name="csX15" fmla="*/ 0 w 3190240"/>
                      <a:gd name="csY15" fmla="*/ 549103 h 549103"/>
                      <a:gd name="csX16" fmla="*/ 0 w 3190240"/>
                      <a:gd name="csY16" fmla="*/ 274552 h 549103"/>
                      <a:gd name="csX17" fmla="*/ 274552 w 3190240"/>
                      <a:gd name="csY17" fmla="*/ 0 h 5491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3190240" h="549103" fill="none" extrusionOk="0">
                        <a:moveTo>
                          <a:pt x="274552" y="0"/>
                        </a:moveTo>
                        <a:cubicBezTo>
                          <a:pt x="478846" y="-22366"/>
                          <a:pt x="621822" y="3376"/>
                          <a:pt x="855602" y="0"/>
                        </a:cubicBezTo>
                        <a:cubicBezTo>
                          <a:pt x="1089382" y="-3376"/>
                          <a:pt x="1140254" y="36035"/>
                          <a:pt x="1304595" y="0"/>
                        </a:cubicBezTo>
                        <a:cubicBezTo>
                          <a:pt x="1468936" y="-36035"/>
                          <a:pt x="1567076" y="35168"/>
                          <a:pt x="1780000" y="0"/>
                        </a:cubicBezTo>
                        <a:cubicBezTo>
                          <a:pt x="1992925" y="-35168"/>
                          <a:pt x="2096411" y="148"/>
                          <a:pt x="2255405" y="0"/>
                        </a:cubicBezTo>
                        <a:cubicBezTo>
                          <a:pt x="2414400" y="-148"/>
                          <a:pt x="2633995" y="15952"/>
                          <a:pt x="2915689" y="0"/>
                        </a:cubicBezTo>
                        <a:cubicBezTo>
                          <a:pt x="3069955" y="25025"/>
                          <a:pt x="3215393" y="114461"/>
                          <a:pt x="3190241" y="274552"/>
                        </a:cubicBezTo>
                        <a:cubicBezTo>
                          <a:pt x="3189681" y="350956"/>
                          <a:pt x="3197657" y="45913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95131" y="560735"/>
                          <a:pt x="2819099" y="496731"/>
                          <a:pt x="2658533" y="549103"/>
                        </a:cubicBezTo>
                        <a:cubicBezTo>
                          <a:pt x="2497967" y="601475"/>
                          <a:pt x="2248402" y="537460"/>
                          <a:pt x="2126827" y="549103"/>
                        </a:cubicBezTo>
                        <a:cubicBezTo>
                          <a:pt x="2005252" y="560746"/>
                          <a:pt x="1770291" y="538955"/>
                          <a:pt x="1658925" y="549103"/>
                        </a:cubicBezTo>
                        <a:cubicBezTo>
                          <a:pt x="1547559" y="559251"/>
                          <a:pt x="1311371" y="547825"/>
                          <a:pt x="1095316" y="549103"/>
                        </a:cubicBezTo>
                        <a:cubicBezTo>
                          <a:pt x="879261" y="550381"/>
                          <a:pt x="831984" y="493925"/>
                          <a:pt x="627414" y="549103"/>
                        </a:cubicBezTo>
                        <a:cubicBezTo>
                          <a:pt x="422844" y="604281"/>
                          <a:pt x="166004" y="538288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1299" y="467894"/>
                          <a:pt x="9634" y="363670"/>
                          <a:pt x="0" y="274552"/>
                        </a:cubicBezTo>
                        <a:cubicBezTo>
                          <a:pt x="-22120" y="114441"/>
                          <a:pt x="154514" y="-31067"/>
                          <a:pt x="274552" y="0"/>
                        </a:cubicBezTo>
                        <a:close/>
                      </a:path>
                      <a:path w="3190240" h="549103" stroke="0" extrusionOk="0">
                        <a:moveTo>
                          <a:pt x="274552" y="0"/>
                        </a:moveTo>
                        <a:cubicBezTo>
                          <a:pt x="399970" y="-22710"/>
                          <a:pt x="654668" y="2484"/>
                          <a:pt x="776368" y="0"/>
                        </a:cubicBezTo>
                        <a:cubicBezTo>
                          <a:pt x="898068" y="-2484"/>
                          <a:pt x="1014447" y="38675"/>
                          <a:pt x="1225361" y="0"/>
                        </a:cubicBezTo>
                        <a:cubicBezTo>
                          <a:pt x="1436275" y="-38675"/>
                          <a:pt x="1562490" y="1481"/>
                          <a:pt x="1806411" y="0"/>
                        </a:cubicBezTo>
                        <a:cubicBezTo>
                          <a:pt x="2050332" y="-1481"/>
                          <a:pt x="2135571" y="31241"/>
                          <a:pt x="2308227" y="0"/>
                        </a:cubicBezTo>
                        <a:cubicBezTo>
                          <a:pt x="2480883" y="-31241"/>
                          <a:pt x="2718760" y="30376"/>
                          <a:pt x="2915689" y="0"/>
                        </a:cubicBezTo>
                        <a:cubicBezTo>
                          <a:pt x="3070025" y="-10011"/>
                          <a:pt x="3167717" y="108152"/>
                          <a:pt x="3190241" y="274552"/>
                        </a:cubicBezTo>
                        <a:cubicBezTo>
                          <a:pt x="3202225" y="346567"/>
                          <a:pt x="3185783" y="46150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65458" y="595554"/>
                          <a:pt x="2853283" y="523738"/>
                          <a:pt x="2658533" y="549103"/>
                        </a:cubicBezTo>
                        <a:cubicBezTo>
                          <a:pt x="2463783" y="574468"/>
                          <a:pt x="2344165" y="513624"/>
                          <a:pt x="2222534" y="549103"/>
                        </a:cubicBezTo>
                        <a:cubicBezTo>
                          <a:pt x="2100903" y="584582"/>
                          <a:pt x="1860042" y="508330"/>
                          <a:pt x="1690827" y="549103"/>
                        </a:cubicBezTo>
                        <a:cubicBezTo>
                          <a:pt x="1521612" y="589876"/>
                          <a:pt x="1302742" y="499121"/>
                          <a:pt x="1159121" y="549103"/>
                        </a:cubicBezTo>
                        <a:cubicBezTo>
                          <a:pt x="1015500" y="599085"/>
                          <a:pt x="866131" y="516064"/>
                          <a:pt x="659316" y="549103"/>
                        </a:cubicBezTo>
                        <a:cubicBezTo>
                          <a:pt x="452502" y="582142"/>
                          <a:pt x="195622" y="517307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699" y="492953"/>
                          <a:pt x="30684" y="394117"/>
                          <a:pt x="0" y="274552"/>
                        </a:cubicBezTo>
                        <a:cubicBezTo>
                          <a:pt x="-29017" y="102900"/>
                          <a:pt x="108031" y="-1057"/>
                          <a:pt x="274552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6F326B-30B2-1D68-D744-9483741D8913}"/>
              </a:ext>
            </a:extLst>
          </p:cNvPr>
          <p:cNvSpPr txBox="1"/>
          <p:nvPr/>
        </p:nvSpPr>
        <p:spPr>
          <a:xfrm>
            <a:off x="832866" y="1519456"/>
            <a:ext cx="50291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atin typeface="Arial Rounded MT Bold" panose="020F0704030504030204" pitchFamily="34" charset="0"/>
              </a:rPr>
              <a:t>Fragmentation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26D23DF-DA87-B037-EAE3-805F67506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9936" y="1600354"/>
            <a:ext cx="5027438" cy="4800447"/>
          </a:xfrm>
          <a:prstGeom prst="roundRect">
            <a:avLst>
              <a:gd name="adj" fmla="val 5899"/>
            </a:avLst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B6B6B6"/>
              </a:gs>
            </a:gsLst>
            <a:lin ang="5400000" scaled="1"/>
            <a:tileRect/>
          </a:gra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: Top Corners Rounded 61">
            <a:extLst>
              <a:ext uri="{FF2B5EF4-FFF2-40B4-BE49-F238E27FC236}">
                <a16:creationId xmlns:a16="http://schemas.microsoft.com/office/drawing/2014/main" id="{463D3D32-3CF0-A19D-434F-C7F6CB58C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9936" y="1593087"/>
            <a:ext cx="5027438" cy="5491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C5C6"/>
          </a:solidFill>
          <a:ln w="25400" cap="flat">
            <a:solidFill>
              <a:schemeClr val="accent1">
                <a:shade val="1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274552 w 3190240"/>
                      <a:gd name="csY0" fmla="*/ 0 h 549103"/>
                      <a:gd name="csX1" fmla="*/ 855602 w 3190240"/>
                      <a:gd name="csY1" fmla="*/ 0 h 549103"/>
                      <a:gd name="csX2" fmla="*/ 1304595 w 3190240"/>
                      <a:gd name="csY2" fmla="*/ 0 h 549103"/>
                      <a:gd name="csX3" fmla="*/ 1780000 w 3190240"/>
                      <a:gd name="csY3" fmla="*/ 0 h 549103"/>
                      <a:gd name="csX4" fmla="*/ 2255405 w 3190240"/>
                      <a:gd name="csY4" fmla="*/ 0 h 549103"/>
                      <a:gd name="csX5" fmla="*/ 2915689 w 3190240"/>
                      <a:gd name="csY5" fmla="*/ 0 h 549103"/>
                      <a:gd name="csX6" fmla="*/ 3190241 w 3190240"/>
                      <a:gd name="csY6" fmla="*/ 274552 h 549103"/>
                      <a:gd name="csX7" fmla="*/ 3190240 w 3190240"/>
                      <a:gd name="csY7" fmla="*/ 549103 h 549103"/>
                      <a:gd name="csX8" fmla="*/ 3190240 w 3190240"/>
                      <a:gd name="csY8" fmla="*/ 549103 h 549103"/>
                      <a:gd name="csX9" fmla="*/ 2658533 w 3190240"/>
                      <a:gd name="csY9" fmla="*/ 549103 h 549103"/>
                      <a:gd name="csX10" fmla="*/ 2126827 w 3190240"/>
                      <a:gd name="csY10" fmla="*/ 549103 h 549103"/>
                      <a:gd name="csX11" fmla="*/ 1658925 w 3190240"/>
                      <a:gd name="csY11" fmla="*/ 549103 h 549103"/>
                      <a:gd name="csX12" fmla="*/ 1095316 w 3190240"/>
                      <a:gd name="csY12" fmla="*/ 549103 h 549103"/>
                      <a:gd name="csX13" fmla="*/ 627414 w 3190240"/>
                      <a:gd name="csY13" fmla="*/ 549103 h 549103"/>
                      <a:gd name="csX14" fmla="*/ 0 w 3190240"/>
                      <a:gd name="csY14" fmla="*/ 549103 h 549103"/>
                      <a:gd name="csX15" fmla="*/ 0 w 3190240"/>
                      <a:gd name="csY15" fmla="*/ 549103 h 549103"/>
                      <a:gd name="csX16" fmla="*/ 0 w 3190240"/>
                      <a:gd name="csY16" fmla="*/ 274552 h 549103"/>
                      <a:gd name="csX17" fmla="*/ 274552 w 3190240"/>
                      <a:gd name="csY17" fmla="*/ 0 h 54910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3190240" h="549103" fill="none" extrusionOk="0">
                        <a:moveTo>
                          <a:pt x="274552" y="0"/>
                        </a:moveTo>
                        <a:cubicBezTo>
                          <a:pt x="478846" y="-22366"/>
                          <a:pt x="621822" y="3376"/>
                          <a:pt x="855602" y="0"/>
                        </a:cubicBezTo>
                        <a:cubicBezTo>
                          <a:pt x="1089382" y="-3376"/>
                          <a:pt x="1140254" y="36035"/>
                          <a:pt x="1304595" y="0"/>
                        </a:cubicBezTo>
                        <a:cubicBezTo>
                          <a:pt x="1468936" y="-36035"/>
                          <a:pt x="1567076" y="35168"/>
                          <a:pt x="1780000" y="0"/>
                        </a:cubicBezTo>
                        <a:cubicBezTo>
                          <a:pt x="1992925" y="-35168"/>
                          <a:pt x="2096411" y="148"/>
                          <a:pt x="2255405" y="0"/>
                        </a:cubicBezTo>
                        <a:cubicBezTo>
                          <a:pt x="2414400" y="-148"/>
                          <a:pt x="2633995" y="15952"/>
                          <a:pt x="2915689" y="0"/>
                        </a:cubicBezTo>
                        <a:cubicBezTo>
                          <a:pt x="3069955" y="25025"/>
                          <a:pt x="3215393" y="114461"/>
                          <a:pt x="3190241" y="274552"/>
                        </a:cubicBezTo>
                        <a:cubicBezTo>
                          <a:pt x="3189681" y="350956"/>
                          <a:pt x="3197657" y="45913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95131" y="560735"/>
                          <a:pt x="2819099" y="496731"/>
                          <a:pt x="2658533" y="549103"/>
                        </a:cubicBezTo>
                        <a:cubicBezTo>
                          <a:pt x="2497967" y="601475"/>
                          <a:pt x="2248402" y="537460"/>
                          <a:pt x="2126827" y="549103"/>
                        </a:cubicBezTo>
                        <a:cubicBezTo>
                          <a:pt x="2005252" y="560746"/>
                          <a:pt x="1770291" y="538955"/>
                          <a:pt x="1658925" y="549103"/>
                        </a:cubicBezTo>
                        <a:cubicBezTo>
                          <a:pt x="1547559" y="559251"/>
                          <a:pt x="1311371" y="547825"/>
                          <a:pt x="1095316" y="549103"/>
                        </a:cubicBezTo>
                        <a:cubicBezTo>
                          <a:pt x="879261" y="550381"/>
                          <a:pt x="831984" y="493925"/>
                          <a:pt x="627414" y="549103"/>
                        </a:cubicBezTo>
                        <a:cubicBezTo>
                          <a:pt x="422844" y="604281"/>
                          <a:pt x="166004" y="538288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1299" y="467894"/>
                          <a:pt x="9634" y="363670"/>
                          <a:pt x="0" y="274552"/>
                        </a:cubicBezTo>
                        <a:cubicBezTo>
                          <a:pt x="-22120" y="114441"/>
                          <a:pt x="154514" y="-31067"/>
                          <a:pt x="274552" y="0"/>
                        </a:cubicBezTo>
                        <a:close/>
                      </a:path>
                      <a:path w="3190240" h="549103" stroke="0" extrusionOk="0">
                        <a:moveTo>
                          <a:pt x="274552" y="0"/>
                        </a:moveTo>
                        <a:cubicBezTo>
                          <a:pt x="399970" y="-22710"/>
                          <a:pt x="654668" y="2484"/>
                          <a:pt x="776368" y="0"/>
                        </a:cubicBezTo>
                        <a:cubicBezTo>
                          <a:pt x="898068" y="-2484"/>
                          <a:pt x="1014447" y="38675"/>
                          <a:pt x="1225361" y="0"/>
                        </a:cubicBezTo>
                        <a:cubicBezTo>
                          <a:pt x="1436275" y="-38675"/>
                          <a:pt x="1562490" y="1481"/>
                          <a:pt x="1806411" y="0"/>
                        </a:cubicBezTo>
                        <a:cubicBezTo>
                          <a:pt x="2050332" y="-1481"/>
                          <a:pt x="2135571" y="31241"/>
                          <a:pt x="2308227" y="0"/>
                        </a:cubicBezTo>
                        <a:cubicBezTo>
                          <a:pt x="2480883" y="-31241"/>
                          <a:pt x="2718760" y="30376"/>
                          <a:pt x="2915689" y="0"/>
                        </a:cubicBezTo>
                        <a:cubicBezTo>
                          <a:pt x="3070025" y="-10011"/>
                          <a:pt x="3167717" y="108152"/>
                          <a:pt x="3190241" y="274552"/>
                        </a:cubicBezTo>
                        <a:cubicBezTo>
                          <a:pt x="3202225" y="346567"/>
                          <a:pt x="3185783" y="461503"/>
                          <a:pt x="3190240" y="549103"/>
                        </a:cubicBezTo>
                        <a:lnTo>
                          <a:pt x="3190240" y="549103"/>
                        </a:lnTo>
                        <a:cubicBezTo>
                          <a:pt x="2965458" y="595554"/>
                          <a:pt x="2853283" y="523738"/>
                          <a:pt x="2658533" y="549103"/>
                        </a:cubicBezTo>
                        <a:cubicBezTo>
                          <a:pt x="2463783" y="574468"/>
                          <a:pt x="2344165" y="513624"/>
                          <a:pt x="2222534" y="549103"/>
                        </a:cubicBezTo>
                        <a:cubicBezTo>
                          <a:pt x="2100903" y="584582"/>
                          <a:pt x="1860042" y="508330"/>
                          <a:pt x="1690827" y="549103"/>
                        </a:cubicBezTo>
                        <a:cubicBezTo>
                          <a:pt x="1521612" y="589876"/>
                          <a:pt x="1302742" y="499121"/>
                          <a:pt x="1159121" y="549103"/>
                        </a:cubicBezTo>
                        <a:cubicBezTo>
                          <a:pt x="1015500" y="599085"/>
                          <a:pt x="866131" y="516064"/>
                          <a:pt x="659316" y="549103"/>
                        </a:cubicBezTo>
                        <a:cubicBezTo>
                          <a:pt x="452502" y="582142"/>
                          <a:pt x="195622" y="517307"/>
                          <a:pt x="0" y="549103"/>
                        </a:cubicBezTo>
                        <a:lnTo>
                          <a:pt x="0" y="549103"/>
                        </a:lnTo>
                        <a:cubicBezTo>
                          <a:pt x="-1699" y="492953"/>
                          <a:pt x="30684" y="394117"/>
                          <a:pt x="0" y="274552"/>
                        </a:cubicBezTo>
                        <a:cubicBezTo>
                          <a:pt x="-29017" y="102900"/>
                          <a:pt x="108031" y="-1057"/>
                          <a:pt x="274552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208D50-3893-EC22-A2D1-33BEDC9A90E2}"/>
              </a:ext>
            </a:extLst>
          </p:cNvPr>
          <p:cNvSpPr txBox="1"/>
          <p:nvPr/>
        </p:nvSpPr>
        <p:spPr>
          <a:xfrm>
            <a:off x="6329935" y="1573149"/>
            <a:ext cx="5027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latin typeface="Arial Rounded MT Bold" panose="020F0704030504030204" pitchFamily="34" charset="0"/>
              </a:rPr>
              <a:t>No </a:t>
            </a:r>
            <a:r>
              <a:rPr lang="fr-FR" sz="3200" b="1" dirty="0" err="1">
                <a:latin typeface="Arial Rounded MT Bold" panose="020F0704030504030204" pitchFamily="34" charset="0"/>
              </a:rPr>
              <a:t>Unified</a:t>
            </a:r>
            <a:r>
              <a:rPr lang="fr-FR" sz="3200" b="1" dirty="0">
                <a:latin typeface="Arial Rounded MT Bold" panose="020F0704030504030204" pitchFamily="34" charset="0"/>
              </a:rPr>
              <a:t> View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D6925F8-CD5C-F5FA-0AC2-3F51D013E9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139" y="3541130"/>
            <a:ext cx="865204" cy="86520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3E6E7AF-0DE9-4679-31FE-101C28E709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5593" y="5400618"/>
            <a:ext cx="865204" cy="865204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A2C13D9-6AC3-5DA2-F7C1-05A88AB0C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0890" y="3541130"/>
            <a:ext cx="865204" cy="865204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9186BE5-DCBE-8282-7612-6A0E1FC5D5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14864" y="2171281"/>
            <a:ext cx="865204" cy="86520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229532F-81AA-658E-A519-5ACE89BAAA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2066" y="5364984"/>
            <a:ext cx="865204" cy="865204"/>
          </a:xfrm>
          <a:prstGeom prst="rect">
            <a:avLst/>
          </a:prstGeom>
        </p:spPr>
      </p:pic>
      <p:sp>
        <p:nvSpPr>
          <p:cNvPr id="68" name="Speech Bubble: Rectangle with Corners Rounded 67">
            <a:extLst>
              <a:ext uri="{FF2B5EF4-FFF2-40B4-BE49-F238E27FC236}">
                <a16:creationId xmlns:a16="http://schemas.microsoft.com/office/drawing/2014/main" id="{B6368B72-BC45-04CF-D8B1-D9F197DD0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76494" y="3326141"/>
            <a:ext cx="1540441" cy="370742"/>
          </a:xfrm>
          <a:prstGeom prst="wedgeRoundRectCallout">
            <a:avLst>
              <a:gd name="adj1" fmla="val -948"/>
              <a:gd name="adj2" fmla="val 156745"/>
              <a:gd name="adj3" fmla="val 16667"/>
            </a:avLst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CFF97A8-A03B-9D48-339D-78670EE78698}"/>
              </a:ext>
            </a:extLst>
          </p:cNvPr>
          <p:cNvSpPr txBox="1"/>
          <p:nvPr/>
        </p:nvSpPr>
        <p:spPr>
          <a:xfrm>
            <a:off x="2564172" y="3296773"/>
            <a:ext cx="15527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Batang" panose="02030600000101010101" pitchFamily="18" charset="-127"/>
                <a:ea typeface="Batang" panose="02030600000101010101" pitchFamily="18" charset="-127"/>
              </a:rPr>
              <a:t>******** </a:t>
            </a:r>
            <a:r>
              <a:rPr lang="fr-FR" sz="2000" b="1" dirty="0">
                <a:latin typeface="Aptos Slab Black" panose="020B0004020202020204" pitchFamily="34" charset="0"/>
                <a:ea typeface="Batang" panose="02030600000101010101" pitchFamily="18" charset="-127"/>
              </a:rPr>
              <a:t>?</a:t>
            </a:r>
            <a:endParaRPr lang="en-US" sz="2000" b="1" dirty="0">
              <a:latin typeface="Aptos Slab Black" panose="020B0004020202020204" pitchFamily="34" charset="0"/>
              <a:ea typeface="Batang" panose="02030600000101010101" pitchFamily="18" charset="-127"/>
            </a:endParaRPr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DA528322-89C3-721C-FDC0-202ADAB8AF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72954" y="3415490"/>
            <a:ext cx="1939761" cy="2648986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95DC8E1A-A56E-ED27-501C-1855F79F92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056" y="2408657"/>
            <a:ext cx="731520" cy="73152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20A5D7C9-AF96-E257-EC95-25843EBD7D15}"/>
              </a:ext>
            </a:extLst>
          </p:cNvPr>
          <p:cNvSpPr txBox="1"/>
          <p:nvPr/>
        </p:nvSpPr>
        <p:spPr>
          <a:xfrm>
            <a:off x="8020662" y="5797586"/>
            <a:ext cx="16459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?????  $</a:t>
            </a:r>
            <a:endParaRPr lang="en-US" sz="3200" b="1" dirty="0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ABB4FBA0-C60A-2B33-9CCC-E9BCEB44B9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761" y="2317217"/>
            <a:ext cx="637467" cy="9144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674F7B44-1A88-6F9C-8288-33DA147BC83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8413" y="2408657"/>
            <a:ext cx="780248" cy="780248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2FD6FF73-6786-132D-7BAC-C9F48BE61D6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117" y="2408657"/>
            <a:ext cx="755583" cy="731520"/>
          </a:xfrm>
          <a:prstGeom prst="rect">
            <a:avLst/>
          </a:prstGeom>
        </p:spPr>
      </p:pic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19F00882-C4D6-A9D3-9A90-378074FB5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33131" y="3482350"/>
            <a:ext cx="2717456" cy="2364690"/>
          </a:xfrm>
          <a:custGeom>
            <a:avLst/>
            <a:gdLst>
              <a:gd name="csX0" fmla="*/ 2494625 w 2717456"/>
              <a:gd name="csY0" fmla="*/ 138835 h 2364690"/>
              <a:gd name="csX1" fmla="*/ 2716412 w 2717456"/>
              <a:gd name="csY1" fmla="*/ 555084 h 2364690"/>
              <a:gd name="csX2" fmla="*/ 2567254 w 2717456"/>
              <a:gd name="csY2" fmla="*/ 1027042 h 2364690"/>
              <a:gd name="csX3" fmla="*/ 2524391 w 2717456"/>
              <a:gd name="csY3" fmla="*/ 1069309 h 2364690"/>
              <a:gd name="csX4" fmla="*/ 2504374 w 2717456"/>
              <a:gd name="csY4" fmla="*/ 1088545 h 2364690"/>
              <a:gd name="csX5" fmla="*/ 2362466 w 2717456"/>
              <a:gd name="csY5" fmla="*/ 1174084 h 2364690"/>
              <a:gd name="csX6" fmla="*/ 2362466 w 2717456"/>
              <a:gd name="csY6" fmla="*/ 2269459 h 2364690"/>
              <a:gd name="csX7" fmla="*/ 2448191 w 2717456"/>
              <a:gd name="csY7" fmla="*/ 2269459 h 2364690"/>
              <a:gd name="csX8" fmla="*/ 2457716 w 2717456"/>
              <a:gd name="csY8" fmla="*/ 2364709 h 2364690"/>
              <a:gd name="csX9" fmla="*/ 266 w 2717456"/>
              <a:gd name="csY9" fmla="*/ 2364709 h 2364690"/>
              <a:gd name="csX10" fmla="*/ 266 w 2717456"/>
              <a:gd name="csY10" fmla="*/ 2269459 h 2364690"/>
              <a:gd name="csX11" fmla="*/ 85991 w 2717456"/>
              <a:gd name="csY11" fmla="*/ 2269459 h 2364690"/>
              <a:gd name="csX12" fmla="*/ 85911 w 2717456"/>
              <a:gd name="csY12" fmla="*/ 2246615 h 2364690"/>
              <a:gd name="csX13" fmla="*/ 84510 w 2717456"/>
              <a:gd name="csY13" fmla="*/ 1695921 h 2364690"/>
              <a:gd name="csX14" fmla="*/ 83835 w 2717456"/>
              <a:gd name="csY14" fmla="*/ 1429608 h 2364690"/>
              <a:gd name="csX15" fmla="*/ 83302 w 2717456"/>
              <a:gd name="csY15" fmla="*/ 1197447 h 2364690"/>
              <a:gd name="csX16" fmla="*/ 82970 w 2717456"/>
              <a:gd name="csY16" fmla="*/ 1074559 h 2364690"/>
              <a:gd name="csX17" fmla="*/ 82759 w 2717456"/>
              <a:gd name="csY17" fmla="*/ 958791 h 2364690"/>
              <a:gd name="csX18" fmla="*/ 82585 w 2717456"/>
              <a:gd name="csY18" fmla="*/ 916402 h 2364690"/>
              <a:gd name="csX19" fmla="*/ 137188 w 2717456"/>
              <a:gd name="csY19" fmla="*/ 690690 h 2364690"/>
              <a:gd name="csX20" fmla="*/ 162191 w 2717456"/>
              <a:gd name="csY20" fmla="*/ 669259 h 2364690"/>
              <a:gd name="csX21" fmla="*/ 185408 w 2717456"/>
              <a:gd name="csY21" fmla="*/ 648423 h 2364690"/>
              <a:gd name="csX22" fmla="*/ 385373 w 2717456"/>
              <a:gd name="csY22" fmla="*/ 609946 h 2364690"/>
              <a:gd name="csX23" fmla="*/ 421433 w 2717456"/>
              <a:gd name="csY23" fmla="*/ 609938 h 2364690"/>
              <a:gd name="csX24" fmla="*/ 518953 w 2717456"/>
              <a:gd name="csY24" fmla="*/ 610177 h 2364690"/>
              <a:gd name="csX25" fmla="*/ 621006 w 2717456"/>
              <a:gd name="csY25" fmla="*/ 610330 h 2364690"/>
              <a:gd name="csX26" fmla="*/ 814092 w 2717456"/>
              <a:gd name="csY26" fmla="*/ 610737 h 2364690"/>
              <a:gd name="csX27" fmla="*/ 1033985 w 2717456"/>
              <a:gd name="csY27" fmla="*/ 611150 h 2364690"/>
              <a:gd name="csX28" fmla="*/ 1486166 w 2717456"/>
              <a:gd name="csY28" fmla="*/ 612109 h 2364690"/>
              <a:gd name="csX29" fmla="*/ 1485932 w 2717456"/>
              <a:gd name="csY29" fmla="*/ 590383 h 2364690"/>
              <a:gd name="csX30" fmla="*/ 1485750 w 2717456"/>
              <a:gd name="csY30" fmla="*/ 561844 h 2364690"/>
              <a:gd name="csX31" fmla="*/ 1485516 w 2717456"/>
              <a:gd name="csY31" fmla="*/ 533571 h 2364690"/>
              <a:gd name="csX32" fmla="*/ 1686228 w 2717456"/>
              <a:gd name="csY32" fmla="*/ 151932 h 2364690"/>
              <a:gd name="csX33" fmla="*/ 2494625 w 2717456"/>
              <a:gd name="csY33" fmla="*/ 138835 h 2364690"/>
              <a:gd name="csX34" fmla="*/ 1726672 w 2717456"/>
              <a:gd name="csY34" fmla="*/ 251945 h 2364690"/>
              <a:gd name="csX35" fmla="*/ 1581416 w 2717456"/>
              <a:gd name="csY35" fmla="*/ 564484 h 2364690"/>
              <a:gd name="csX36" fmla="*/ 1579593 w 2717456"/>
              <a:gd name="csY36" fmla="*/ 585841 h 2364690"/>
              <a:gd name="csX37" fmla="*/ 1599275 w 2717456"/>
              <a:gd name="csY37" fmla="*/ 750817 h 2364690"/>
              <a:gd name="csX38" fmla="*/ 1604287 w 2717456"/>
              <a:gd name="csY38" fmla="*/ 771108 h 2364690"/>
              <a:gd name="csX39" fmla="*/ 1638566 w 2717456"/>
              <a:gd name="csY39" fmla="*/ 840709 h 2364690"/>
              <a:gd name="csX40" fmla="*/ 1676666 w 2717456"/>
              <a:gd name="csY40" fmla="*/ 764509 h 2364690"/>
              <a:gd name="csX41" fmla="*/ 1962416 w 2717456"/>
              <a:gd name="csY41" fmla="*/ 669259 h 2364690"/>
              <a:gd name="csX42" fmla="*/ 1950584 w 2717456"/>
              <a:gd name="csY42" fmla="*/ 654264 h 2364690"/>
              <a:gd name="csX43" fmla="*/ 1935032 w 2717456"/>
              <a:gd name="csY43" fmla="*/ 634135 h 2364690"/>
              <a:gd name="csX44" fmla="*/ 1919628 w 2717456"/>
              <a:gd name="csY44" fmla="*/ 614378 h 2364690"/>
              <a:gd name="csX45" fmla="*/ 1882644 w 2717456"/>
              <a:gd name="csY45" fmla="*/ 447207 h 2364690"/>
              <a:gd name="csX46" fmla="*/ 1881937 w 2717456"/>
              <a:gd name="csY46" fmla="*/ 420883 h 2364690"/>
              <a:gd name="csX47" fmla="*/ 1915177 w 2717456"/>
              <a:gd name="csY47" fmla="*/ 285089 h 2364690"/>
              <a:gd name="csX48" fmla="*/ 1933841 w 2717456"/>
              <a:gd name="csY48" fmla="*/ 240634 h 2364690"/>
              <a:gd name="csX49" fmla="*/ 1971941 w 2717456"/>
              <a:gd name="csY49" fmla="*/ 221584 h 2364690"/>
              <a:gd name="csX50" fmla="*/ 1991400 w 2717456"/>
              <a:gd name="csY50" fmla="*/ 211389 h 2364690"/>
              <a:gd name="csX51" fmla="*/ 2165492 w 2717456"/>
              <a:gd name="csY51" fmla="*/ 189437 h 2364690"/>
              <a:gd name="csX52" fmla="*/ 2295791 w 2717456"/>
              <a:gd name="csY52" fmla="*/ 297784 h 2364690"/>
              <a:gd name="csX53" fmla="*/ 2305167 w 2717456"/>
              <a:gd name="csY53" fmla="*/ 567572 h 2364690"/>
              <a:gd name="csX54" fmla="*/ 2238641 w 2717456"/>
              <a:gd name="csY54" fmla="*/ 669259 h 2364690"/>
              <a:gd name="csX55" fmla="*/ 2258417 w 2717456"/>
              <a:gd name="csY55" fmla="*/ 674321 h 2364690"/>
              <a:gd name="csX56" fmla="*/ 2348179 w 2717456"/>
              <a:gd name="csY56" fmla="*/ 698429 h 2364690"/>
              <a:gd name="csX57" fmla="*/ 2379284 w 2717456"/>
              <a:gd name="csY57" fmla="*/ 706373 h 2364690"/>
              <a:gd name="csX58" fmla="*/ 2572016 w 2717456"/>
              <a:gd name="csY58" fmla="*/ 840709 h 2364690"/>
              <a:gd name="csX59" fmla="*/ 2589875 w 2717456"/>
              <a:gd name="csY59" fmla="*/ 443040 h 2364690"/>
              <a:gd name="csX60" fmla="*/ 2505341 w 2717456"/>
              <a:gd name="csY60" fmla="*/ 297784 h 2364690"/>
              <a:gd name="csX61" fmla="*/ 2490570 w 2717456"/>
              <a:gd name="csY61" fmla="*/ 277990 h 2364690"/>
              <a:gd name="csX62" fmla="*/ 2142275 w 2717456"/>
              <a:gd name="csY62" fmla="*/ 100586 h 2364690"/>
              <a:gd name="csX63" fmla="*/ 1726672 w 2717456"/>
              <a:gd name="csY63" fmla="*/ 251945 h 2364690"/>
              <a:gd name="csX64" fmla="*/ 1990991 w 2717456"/>
              <a:gd name="csY64" fmla="*/ 335884 h 2364690"/>
              <a:gd name="csX65" fmla="*/ 1977038 w 2717456"/>
              <a:gd name="csY65" fmla="*/ 518049 h 2364690"/>
              <a:gd name="csX66" fmla="*/ 2038616 w 2717456"/>
              <a:gd name="csY66" fmla="*/ 602584 h 2364690"/>
              <a:gd name="csX67" fmla="*/ 2057666 w 2717456"/>
              <a:gd name="csY67" fmla="*/ 602584 h 2364690"/>
              <a:gd name="csX68" fmla="*/ 2055992 w 2717456"/>
              <a:gd name="csY68" fmla="*/ 619997 h 2364690"/>
              <a:gd name="csX69" fmla="*/ 2057666 w 2717456"/>
              <a:gd name="csY69" fmla="*/ 688309 h 2364690"/>
              <a:gd name="csX70" fmla="*/ 2105291 w 2717456"/>
              <a:gd name="csY70" fmla="*/ 726409 h 2364690"/>
              <a:gd name="csX71" fmla="*/ 2135764 w 2717456"/>
              <a:gd name="csY71" fmla="*/ 666691 h 2364690"/>
              <a:gd name="csX72" fmla="*/ 2133866 w 2717456"/>
              <a:gd name="csY72" fmla="*/ 602584 h 2364690"/>
              <a:gd name="csX73" fmla="*/ 2155893 w 2717456"/>
              <a:gd name="csY73" fmla="*/ 594845 h 2364690"/>
              <a:gd name="csX74" fmla="*/ 2210066 w 2717456"/>
              <a:gd name="csY74" fmla="*/ 554959 h 2364690"/>
              <a:gd name="csX75" fmla="*/ 2221972 w 2717456"/>
              <a:gd name="csY75" fmla="*/ 446612 h 2364690"/>
              <a:gd name="csX76" fmla="*/ 2222568 w 2717456"/>
              <a:gd name="csY76" fmla="*/ 424809 h 2364690"/>
              <a:gd name="csX77" fmla="*/ 2170775 w 2717456"/>
              <a:gd name="csY77" fmla="*/ 294807 h 2364690"/>
              <a:gd name="csX78" fmla="*/ 1990991 w 2717456"/>
              <a:gd name="csY78" fmla="*/ 335884 h 2364690"/>
              <a:gd name="csX79" fmla="*/ 202314 w 2717456"/>
              <a:gd name="csY79" fmla="*/ 767196 h 2364690"/>
              <a:gd name="csX80" fmla="*/ 186968 w 2717456"/>
              <a:gd name="csY80" fmla="*/ 854860 h 2364690"/>
              <a:gd name="csX81" fmla="*/ 186606 w 2717456"/>
              <a:gd name="csY81" fmla="*/ 892624 h 2364690"/>
              <a:gd name="csX82" fmla="*/ 186648 w 2717456"/>
              <a:gd name="csY82" fmla="*/ 934017 h 2364690"/>
              <a:gd name="csX83" fmla="*/ 186351 w 2717456"/>
              <a:gd name="csY83" fmla="*/ 978380 h 2364690"/>
              <a:gd name="csX84" fmla="*/ 185942 w 2717456"/>
              <a:gd name="csY84" fmla="*/ 1097075 h 2364690"/>
              <a:gd name="csX85" fmla="*/ 185412 w 2717456"/>
              <a:gd name="csY85" fmla="*/ 1208494 h 2364690"/>
              <a:gd name="csX86" fmla="*/ 184217 w 2717456"/>
              <a:gd name="csY86" fmla="*/ 1534248 h 2364690"/>
              <a:gd name="csX87" fmla="*/ 181241 w 2717456"/>
              <a:gd name="csY87" fmla="*/ 2269459 h 2364690"/>
              <a:gd name="csX88" fmla="*/ 2267216 w 2717456"/>
              <a:gd name="csY88" fmla="*/ 2269459 h 2364690"/>
              <a:gd name="csX89" fmla="*/ 2267216 w 2717456"/>
              <a:gd name="csY89" fmla="*/ 1212184 h 2364690"/>
              <a:gd name="csX90" fmla="*/ 2191016 w 2717456"/>
              <a:gd name="csY90" fmla="*/ 1231234 h 2364690"/>
              <a:gd name="csX91" fmla="*/ 2190911 w 2717456"/>
              <a:gd name="csY91" fmla="*/ 1265266 h 2364690"/>
              <a:gd name="csX92" fmla="*/ 2189264 w 2717456"/>
              <a:gd name="csY92" fmla="*/ 1582709 h 2364690"/>
              <a:gd name="csX93" fmla="*/ 2188435 w 2717456"/>
              <a:gd name="csY93" fmla="*/ 1745912 h 2364690"/>
              <a:gd name="csX94" fmla="*/ 2187508 w 2717456"/>
              <a:gd name="csY94" fmla="*/ 1903397 h 2364690"/>
              <a:gd name="csX95" fmla="*/ 2187283 w 2717456"/>
              <a:gd name="csY95" fmla="*/ 1963494 h 2364690"/>
              <a:gd name="csX96" fmla="*/ 2186691 w 2717456"/>
              <a:gd name="csY96" fmla="*/ 2047637 h 2364690"/>
              <a:gd name="csX97" fmla="*/ 2186836 w 2717456"/>
              <a:gd name="csY97" fmla="*/ 2072759 h 2364690"/>
              <a:gd name="csX98" fmla="*/ 2186434 w 2717456"/>
              <a:gd name="csY98" fmla="*/ 2096029 h 2364690"/>
              <a:gd name="csX99" fmla="*/ 2186328 w 2717456"/>
              <a:gd name="csY99" fmla="*/ 2116117 h 2364690"/>
              <a:gd name="csX100" fmla="*/ 2143391 w 2717456"/>
              <a:gd name="csY100" fmla="*/ 2183734 h 2364690"/>
              <a:gd name="csX101" fmla="*/ 2069637 w 2717456"/>
              <a:gd name="csY101" fmla="*/ 2189717 h 2364690"/>
              <a:gd name="csX102" fmla="*/ 2046990 w 2717456"/>
              <a:gd name="csY102" fmla="*/ 2189922 h 2364690"/>
              <a:gd name="csX103" fmla="*/ 1971792 w 2717456"/>
              <a:gd name="csY103" fmla="*/ 2189745 h 2364690"/>
              <a:gd name="csX104" fmla="*/ 1917908 w 2717456"/>
              <a:gd name="csY104" fmla="*/ 2189952 h 2364690"/>
              <a:gd name="csX105" fmla="*/ 1771495 w 2717456"/>
              <a:gd name="csY105" fmla="*/ 2189817 h 2364690"/>
              <a:gd name="csX106" fmla="*/ 1618390 w 2717456"/>
              <a:gd name="csY106" fmla="*/ 2189794 h 2364690"/>
              <a:gd name="csX107" fmla="*/ 1361262 w 2717456"/>
              <a:gd name="csY107" fmla="*/ 2189420 h 2364690"/>
              <a:gd name="csX108" fmla="*/ 1063833 w 2717456"/>
              <a:gd name="csY108" fmla="*/ 2189279 h 2364690"/>
              <a:gd name="csX109" fmla="*/ 777913 w 2717456"/>
              <a:gd name="csY109" fmla="*/ 2189203 h 2364690"/>
              <a:gd name="csX110" fmla="*/ 656141 w 2717456"/>
              <a:gd name="csY110" fmla="*/ 2189218 h 2364690"/>
              <a:gd name="csX111" fmla="*/ 512790 w 2717456"/>
              <a:gd name="csY111" fmla="*/ 2188914 h 2364690"/>
              <a:gd name="csX112" fmla="*/ 460124 w 2717456"/>
              <a:gd name="csY112" fmla="*/ 2188916 h 2364690"/>
              <a:gd name="csX113" fmla="*/ 388345 w 2717456"/>
              <a:gd name="csY113" fmla="*/ 2188636 h 2364690"/>
              <a:gd name="csX114" fmla="*/ 367197 w 2717456"/>
              <a:gd name="csY114" fmla="*/ 2188874 h 2364690"/>
              <a:gd name="csX115" fmla="*/ 291527 w 2717456"/>
              <a:gd name="csY115" fmla="*/ 2165568 h 2364690"/>
              <a:gd name="csX116" fmla="*/ 265628 w 2717456"/>
              <a:gd name="csY116" fmla="*/ 2076520 h 2364690"/>
              <a:gd name="csX117" fmla="*/ 265463 w 2717456"/>
              <a:gd name="csY117" fmla="*/ 2044348 h 2364690"/>
              <a:gd name="csX118" fmla="*/ 265431 w 2717456"/>
              <a:gd name="csY118" fmla="*/ 2008886 h 2364690"/>
              <a:gd name="csX119" fmla="*/ 265288 w 2717456"/>
              <a:gd name="csY119" fmla="*/ 1971667 h 2364690"/>
              <a:gd name="csX120" fmla="*/ 265059 w 2717456"/>
              <a:gd name="csY120" fmla="*/ 1870412 h 2364690"/>
              <a:gd name="csX121" fmla="*/ 264950 w 2717456"/>
              <a:gd name="csY121" fmla="*/ 1807160 h 2364690"/>
              <a:gd name="csX122" fmla="*/ 264690 w 2717456"/>
              <a:gd name="csY122" fmla="*/ 1609289 h 2364690"/>
              <a:gd name="csX123" fmla="*/ 264205 w 2717456"/>
              <a:gd name="csY123" fmla="*/ 1380831 h 2364690"/>
              <a:gd name="csX124" fmla="*/ 263890 w 2717456"/>
              <a:gd name="csY124" fmla="*/ 1204283 h 2364690"/>
              <a:gd name="csX125" fmla="*/ 263654 w 2717456"/>
              <a:gd name="csY125" fmla="*/ 1098823 h 2364690"/>
              <a:gd name="csX126" fmla="*/ 263571 w 2717456"/>
              <a:gd name="csY126" fmla="*/ 981154 h 2364690"/>
              <a:gd name="csX127" fmla="*/ 263305 w 2717456"/>
              <a:gd name="csY127" fmla="*/ 945867 h 2364690"/>
              <a:gd name="csX128" fmla="*/ 263466 w 2717456"/>
              <a:gd name="csY128" fmla="*/ 913451 h 2364690"/>
              <a:gd name="csX129" fmla="*/ 263423 w 2717456"/>
              <a:gd name="csY129" fmla="*/ 885350 h 2364690"/>
              <a:gd name="csX130" fmla="*/ 295541 w 2717456"/>
              <a:gd name="csY130" fmla="*/ 812134 h 2364690"/>
              <a:gd name="csX131" fmla="*/ 362082 w 2717456"/>
              <a:gd name="csY131" fmla="*/ 801102 h 2364690"/>
              <a:gd name="csX132" fmla="*/ 392520 w 2717456"/>
              <a:gd name="csY132" fmla="*/ 800819 h 2364690"/>
              <a:gd name="csX133" fmla="*/ 426049 w 2717456"/>
              <a:gd name="csY133" fmla="*/ 800653 h 2364690"/>
              <a:gd name="csX134" fmla="*/ 461248 w 2717456"/>
              <a:gd name="csY134" fmla="*/ 800367 h 2364690"/>
              <a:gd name="csX135" fmla="*/ 556944 w 2717456"/>
              <a:gd name="csY135" fmla="*/ 799720 h 2364690"/>
              <a:gd name="csX136" fmla="*/ 656901 w 2717456"/>
              <a:gd name="csY136" fmla="*/ 798995 h 2364690"/>
              <a:gd name="csX137" fmla="*/ 846247 w 2717456"/>
              <a:gd name="csY137" fmla="*/ 797680 h 2364690"/>
              <a:gd name="csX138" fmla="*/ 1061783 w 2717456"/>
              <a:gd name="csY138" fmla="*/ 796160 h 2364690"/>
              <a:gd name="csX139" fmla="*/ 1505216 w 2717456"/>
              <a:gd name="csY139" fmla="*/ 793084 h 2364690"/>
              <a:gd name="csX140" fmla="*/ 1486166 w 2717456"/>
              <a:gd name="csY140" fmla="*/ 716884 h 2364690"/>
              <a:gd name="csX141" fmla="*/ 1439055 w 2717456"/>
              <a:gd name="csY141" fmla="*/ 715546 h 2364690"/>
              <a:gd name="csX142" fmla="*/ 1408138 w 2717456"/>
              <a:gd name="csY142" fmla="*/ 715381 h 2364690"/>
              <a:gd name="csX143" fmla="*/ 1373922 w 2717456"/>
              <a:gd name="csY143" fmla="*/ 715349 h 2364690"/>
              <a:gd name="csX144" fmla="*/ 1338114 w 2717456"/>
              <a:gd name="csY144" fmla="*/ 715206 h 2364690"/>
              <a:gd name="csX145" fmla="*/ 1240577 w 2717456"/>
              <a:gd name="csY145" fmla="*/ 714977 h 2364690"/>
              <a:gd name="csX146" fmla="*/ 1179656 w 2717456"/>
              <a:gd name="csY146" fmla="*/ 714867 h 2364690"/>
              <a:gd name="csX147" fmla="*/ 989109 w 2717456"/>
              <a:gd name="csY147" fmla="*/ 714608 h 2364690"/>
              <a:gd name="csX148" fmla="*/ 769060 w 2717456"/>
              <a:gd name="csY148" fmla="*/ 714122 h 2364690"/>
              <a:gd name="csX149" fmla="*/ 599065 w 2717456"/>
              <a:gd name="csY149" fmla="*/ 713808 h 2364690"/>
              <a:gd name="csX150" fmla="*/ 497501 w 2717456"/>
              <a:gd name="csY150" fmla="*/ 713571 h 2364690"/>
              <a:gd name="csX151" fmla="*/ 384140 w 2717456"/>
              <a:gd name="csY151" fmla="*/ 713489 h 2364690"/>
              <a:gd name="csX152" fmla="*/ 350158 w 2717456"/>
              <a:gd name="csY152" fmla="*/ 713223 h 2364690"/>
              <a:gd name="csX153" fmla="*/ 318914 w 2717456"/>
              <a:gd name="csY153" fmla="*/ 713383 h 2364690"/>
              <a:gd name="csX154" fmla="*/ 291840 w 2717456"/>
              <a:gd name="csY154" fmla="*/ 713341 h 2364690"/>
              <a:gd name="csX155" fmla="*/ 202314 w 2717456"/>
              <a:gd name="csY155" fmla="*/ 767196 h 2364690"/>
              <a:gd name="csX156" fmla="*/ 1971941 w 2717456"/>
              <a:gd name="csY156" fmla="*/ 764509 h 2364690"/>
              <a:gd name="csX157" fmla="*/ 1990991 w 2717456"/>
              <a:gd name="csY157" fmla="*/ 831184 h 2364690"/>
              <a:gd name="csX158" fmla="*/ 2010041 w 2717456"/>
              <a:gd name="csY158" fmla="*/ 821659 h 2364690"/>
              <a:gd name="csX159" fmla="*/ 2010041 w 2717456"/>
              <a:gd name="csY159" fmla="*/ 802609 h 2364690"/>
              <a:gd name="csX160" fmla="*/ 2029091 w 2717456"/>
              <a:gd name="csY160" fmla="*/ 793084 h 2364690"/>
              <a:gd name="csX161" fmla="*/ 2000516 w 2717456"/>
              <a:gd name="csY161" fmla="*/ 764509 h 2364690"/>
              <a:gd name="csX162" fmla="*/ 1971941 w 2717456"/>
              <a:gd name="csY162" fmla="*/ 764509 h 2364690"/>
              <a:gd name="csX163" fmla="*/ 2191016 w 2717456"/>
              <a:gd name="csY163" fmla="*/ 764509 h 2364690"/>
              <a:gd name="csX164" fmla="*/ 2171966 w 2717456"/>
              <a:gd name="csY164" fmla="*/ 802609 h 2364690"/>
              <a:gd name="csX165" fmla="*/ 2210066 w 2717456"/>
              <a:gd name="csY165" fmla="*/ 831184 h 2364690"/>
              <a:gd name="csX166" fmla="*/ 2219591 w 2717456"/>
              <a:gd name="csY166" fmla="*/ 764509 h 2364690"/>
              <a:gd name="csX167" fmla="*/ 2191016 w 2717456"/>
              <a:gd name="csY167" fmla="*/ 764509 h 2364690"/>
              <a:gd name="csX168" fmla="*/ 1752866 w 2717456"/>
              <a:gd name="csY168" fmla="*/ 831184 h 2364690"/>
              <a:gd name="csX169" fmla="*/ 1709408 w 2717456"/>
              <a:gd name="csY169" fmla="*/ 927029 h 2364690"/>
              <a:gd name="csX170" fmla="*/ 1762391 w 2717456"/>
              <a:gd name="csY170" fmla="*/ 1012159 h 2364690"/>
              <a:gd name="csX171" fmla="*/ 1779841 w 2717456"/>
              <a:gd name="csY171" fmla="*/ 1026409 h 2364690"/>
              <a:gd name="csX172" fmla="*/ 2171966 w 2717456"/>
              <a:gd name="csY172" fmla="*/ 1135984 h 2364690"/>
              <a:gd name="csX173" fmla="*/ 2486291 w 2717456"/>
              <a:gd name="csY173" fmla="*/ 964534 h 2364690"/>
              <a:gd name="csX174" fmla="*/ 2457716 w 2717456"/>
              <a:gd name="csY174" fmla="*/ 846662 h 2364690"/>
              <a:gd name="csX175" fmla="*/ 2343416 w 2717456"/>
              <a:gd name="csY175" fmla="*/ 793084 h 2364690"/>
              <a:gd name="csX176" fmla="*/ 2314841 w 2717456"/>
              <a:gd name="csY176" fmla="*/ 802609 h 2364690"/>
              <a:gd name="csX177" fmla="*/ 2299549 w 2717456"/>
              <a:gd name="csY177" fmla="*/ 844541 h 2364690"/>
              <a:gd name="csX178" fmla="*/ 2292014 w 2717456"/>
              <a:gd name="csY178" fmla="*/ 870232 h 2364690"/>
              <a:gd name="csX179" fmla="*/ 2284480 w 2717456"/>
              <a:gd name="csY179" fmla="*/ 897263 h 2364690"/>
              <a:gd name="csX180" fmla="*/ 2276611 w 2717456"/>
              <a:gd name="csY180" fmla="*/ 924183 h 2364690"/>
              <a:gd name="csX181" fmla="*/ 2257691 w 2717456"/>
              <a:gd name="csY181" fmla="*/ 1012159 h 2364690"/>
              <a:gd name="csX182" fmla="*/ 2105291 w 2717456"/>
              <a:gd name="csY182" fmla="*/ 869284 h 2364690"/>
              <a:gd name="csX183" fmla="*/ 2008850 w 2717456"/>
              <a:gd name="csY183" fmla="*/ 946079 h 2364690"/>
              <a:gd name="csX184" fmla="*/ 1933841 w 2717456"/>
              <a:gd name="csY184" fmla="*/ 1012159 h 2364690"/>
              <a:gd name="csX185" fmla="*/ 1931013 w 2717456"/>
              <a:gd name="csY185" fmla="*/ 995676 h 2364690"/>
              <a:gd name="csX186" fmla="*/ 1876691 w 2717456"/>
              <a:gd name="csY186" fmla="*/ 793084 h 2364690"/>
              <a:gd name="csX187" fmla="*/ 1752866 w 2717456"/>
              <a:gd name="csY187" fmla="*/ 831184 h 2364690"/>
              <a:gd name="csX188" fmla="*/ 362216 w 2717456"/>
              <a:gd name="csY188" fmla="*/ 888334 h 2364690"/>
              <a:gd name="csX189" fmla="*/ 362216 w 2717456"/>
              <a:gd name="csY189" fmla="*/ 2098009 h 2364690"/>
              <a:gd name="csX190" fmla="*/ 2095766 w 2717456"/>
              <a:gd name="csY190" fmla="*/ 2098009 h 2364690"/>
              <a:gd name="csX191" fmla="*/ 2095766 w 2717456"/>
              <a:gd name="csY191" fmla="*/ 1240759 h 2364690"/>
              <a:gd name="csX192" fmla="*/ 1905266 w 2717456"/>
              <a:gd name="csY192" fmla="*/ 1202659 h 2364690"/>
              <a:gd name="csX193" fmla="*/ 1559483 w 2717456"/>
              <a:gd name="csY193" fmla="*/ 910818 h 2364690"/>
              <a:gd name="csX194" fmla="*/ 1521354 w 2717456"/>
              <a:gd name="csY194" fmla="*/ 882474 h 2364690"/>
              <a:gd name="csX195" fmla="*/ 1495041 w 2717456"/>
              <a:gd name="csY195" fmla="*/ 882607 h 2364690"/>
              <a:gd name="csX196" fmla="*/ 1464869 w 2717456"/>
              <a:gd name="csY196" fmla="*/ 882408 h 2364690"/>
              <a:gd name="csX197" fmla="*/ 1431651 w 2717456"/>
              <a:gd name="csY197" fmla="*/ 882927 h 2364690"/>
              <a:gd name="csX198" fmla="*/ 1396164 w 2717456"/>
              <a:gd name="csY198" fmla="*/ 882910 h 2364690"/>
              <a:gd name="csX199" fmla="*/ 1301088 w 2717456"/>
              <a:gd name="csY199" fmla="*/ 883510 h 2364690"/>
              <a:gd name="csX200" fmla="*/ 1211888 w 2717456"/>
              <a:gd name="csY200" fmla="*/ 883828 h 2364690"/>
              <a:gd name="csX201" fmla="*/ 950980 w 2717456"/>
              <a:gd name="csY201" fmla="*/ 885357 h 2364690"/>
              <a:gd name="csX202" fmla="*/ 362216 w 2717456"/>
              <a:gd name="csY202" fmla="*/ 888334 h 2364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</a:cxnLst>
            <a:rect l="l" t="t" r="r" b="b"/>
            <a:pathLst>
              <a:path w="2717456" h="2364690">
                <a:moveTo>
                  <a:pt x="2494625" y="138835"/>
                </a:moveTo>
                <a:cubicBezTo>
                  <a:pt x="2617299" y="245680"/>
                  <a:pt x="2703386" y="390844"/>
                  <a:pt x="2716412" y="555084"/>
                </a:cubicBezTo>
                <a:cubicBezTo>
                  <a:pt x="2726008" y="728244"/>
                  <a:pt x="2683560" y="894637"/>
                  <a:pt x="2567254" y="1027042"/>
                </a:cubicBezTo>
                <a:cubicBezTo>
                  <a:pt x="2553222" y="1041386"/>
                  <a:pt x="2538945" y="1055495"/>
                  <a:pt x="2524391" y="1069309"/>
                </a:cubicBezTo>
                <a:cubicBezTo>
                  <a:pt x="2517785" y="1075657"/>
                  <a:pt x="2511180" y="1082005"/>
                  <a:pt x="2504374" y="1088545"/>
                </a:cubicBezTo>
                <a:cubicBezTo>
                  <a:pt x="2411091" y="1174084"/>
                  <a:pt x="2411091" y="1174084"/>
                  <a:pt x="2362466" y="1174084"/>
                </a:cubicBezTo>
                <a:cubicBezTo>
                  <a:pt x="2362466" y="1535557"/>
                  <a:pt x="2362466" y="1897031"/>
                  <a:pt x="2362466" y="2269459"/>
                </a:cubicBezTo>
                <a:cubicBezTo>
                  <a:pt x="2390755" y="2269459"/>
                  <a:pt x="2419045" y="2269459"/>
                  <a:pt x="2448191" y="2269459"/>
                </a:cubicBezTo>
                <a:cubicBezTo>
                  <a:pt x="2457716" y="2278984"/>
                  <a:pt x="2457716" y="2278984"/>
                  <a:pt x="2457716" y="2364709"/>
                </a:cubicBezTo>
                <a:cubicBezTo>
                  <a:pt x="1646757" y="2364709"/>
                  <a:pt x="835799" y="2364709"/>
                  <a:pt x="266" y="2364709"/>
                </a:cubicBezTo>
                <a:cubicBezTo>
                  <a:pt x="266" y="2333276"/>
                  <a:pt x="266" y="2301844"/>
                  <a:pt x="266" y="2269459"/>
                </a:cubicBezTo>
                <a:cubicBezTo>
                  <a:pt x="28555" y="2269459"/>
                  <a:pt x="56844" y="2269459"/>
                  <a:pt x="85991" y="2269459"/>
                </a:cubicBezTo>
                <a:cubicBezTo>
                  <a:pt x="85965" y="2261920"/>
                  <a:pt x="85938" y="2254382"/>
                  <a:pt x="85911" y="2246615"/>
                </a:cubicBezTo>
                <a:cubicBezTo>
                  <a:pt x="85280" y="2063050"/>
                  <a:pt x="84807" y="1879486"/>
                  <a:pt x="84510" y="1695921"/>
                </a:cubicBezTo>
                <a:cubicBezTo>
                  <a:pt x="84363" y="1607149"/>
                  <a:pt x="84162" y="1518379"/>
                  <a:pt x="83835" y="1429608"/>
                </a:cubicBezTo>
                <a:cubicBezTo>
                  <a:pt x="83550" y="1352221"/>
                  <a:pt x="83366" y="1274834"/>
                  <a:pt x="83302" y="1197447"/>
                </a:cubicBezTo>
                <a:cubicBezTo>
                  <a:pt x="83265" y="1156484"/>
                  <a:pt x="83178" y="1115522"/>
                  <a:pt x="82970" y="1074559"/>
                </a:cubicBezTo>
                <a:cubicBezTo>
                  <a:pt x="82775" y="1035969"/>
                  <a:pt x="82716" y="997381"/>
                  <a:pt x="82759" y="958791"/>
                </a:cubicBezTo>
                <a:cubicBezTo>
                  <a:pt x="82751" y="944661"/>
                  <a:pt x="82695" y="930532"/>
                  <a:pt x="82585" y="916402"/>
                </a:cubicBezTo>
                <a:cubicBezTo>
                  <a:pt x="81393" y="755295"/>
                  <a:pt x="81393" y="755295"/>
                  <a:pt x="137188" y="690690"/>
                </a:cubicBezTo>
                <a:cubicBezTo>
                  <a:pt x="145439" y="683618"/>
                  <a:pt x="153690" y="676545"/>
                  <a:pt x="162191" y="669259"/>
                </a:cubicBezTo>
                <a:cubicBezTo>
                  <a:pt x="173683" y="658945"/>
                  <a:pt x="173683" y="658945"/>
                  <a:pt x="185408" y="648423"/>
                </a:cubicBezTo>
                <a:cubicBezTo>
                  <a:pt x="247431" y="604553"/>
                  <a:pt x="312364" y="609499"/>
                  <a:pt x="385373" y="609946"/>
                </a:cubicBezTo>
                <a:cubicBezTo>
                  <a:pt x="397272" y="609943"/>
                  <a:pt x="409172" y="609941"/>
                  <a:pt x="421433" y="609938"/>
                </a:cubicBezTo>
                <a:cubicBezTo>
                  <a:pt x="453940" y="609949"/>
                  <a:pt x="486446" y="610044"/>
                  <a:pt x="518953" y="610177"/>
                </a:cubicBezTo>
                <a:cubicBezTo>
                  <a:pt x="552970" y="610297"/>
                  <a:pt x="586988" y="610307"/>
                  <a:pt x="621006" y="610330"/>
                </a:cubicBezTo>
                <a:cubicBezTo>
                  <a:pt x="685369" y="610389"/>
                  <a:pt x="749730" y="610545"/>
                  <a:pt x="814092" y="610737"/>
                </a:cubicBezTo>
                <a:cubicBezTo>
                  <a:pt x="887390" y="610950"/>
                  <a:pt x="960687" y="611054"/>
                  <a:pt x="1033985" y="611150"/>
                </a:cubicBezTo>
                <a:cubicBezTo>
                  <a:pt x="1184712" y="611349"/>
                  <a:pt x="1335439" y="611684"/>
                  <a:pt x="1486166" y="612109"/>
                </a:cubicBezTo>
                <a:cubicBezTo>
                  <a:pt x="1486089" y="604939"/>
                  <a:pt x="1486011" y="597770"/>
                  <a:pt x="1485932" y="590383"/>
                </a:cubicBezTo>
                <a:cubicBezTo>
                  <a:pt x="1485872" y="580966"/>
                  <a:pt x="1485812" y="571548"/>
                  <a:pt x="1485750" y="561844"/>
                </a:cubicBezTo>
                <a:cubicBezTo>
                  <a:pt x="1485672" y="552514"/>
                  <a:pt x="1485595" y="543184"/>
                  <a:pt x="1485516" y="533571"/>
                </a:cubicBezTo>
                <a:cubicBezTo>
                  <a:pt x="1489095" y="389187"/>
                  <a:pt x="1585632" y="248719"/>
                  <a:pt x="1686228" y="151932"/>
                </a:cubicBezTo>
                <a:cubicBezTo>
                  <a:pt x="1921627" y="-47074"/>
                  <a:pt x="2253109" y="-49641"/>
                  <a:pt x="2494625" y="138835"/>
                </a:cubicBezTo>
                <a:close/>
                <a:moveTo>
                  <a:pt x="1726672" y="251945"/>
                </a:moveTo>
                <a:cubicBezTo>
                  <a:pt x="1650070" y="332599"/>
                  <a:pt x="1590745" y="452540"/>
                  <a:pt x="1581416" y="564484"/>
                </a:cubicBezTo>
                <a:cubicBezTo>
                  <a:pt x="1580814" y="571531"/>
                  <a:pt x="1580213" y="578579"/>
                  <a:pt x="1579593" y="585841"/>
                </a:cubicBezTo>
                <a:cubicBezTo>
                  <a:pt x="1576944" y="643438"/>
                  <a:pt x="1585495" y="695234"/>
                  <a:pt x="1599275" y="750817"/>
                </a:cubicBezTo>
                <a:cubicBezTo>
                  <a:pt x="1600929" y="757513"/>
                  <a:pt x="1602583" y="764209"/>
                  <a:pt x="1604287" y="771108"/>
                </a:cubicBezTo>
                <a:cubicBezTo>
                  <a:pt x="1614403" y="809669"/>
                  <a:pt x="1614403" y="809669"/>
                  <a:pt x="1638566" y="840709"/>
                </a:cubicBezTo>
                <a:cubicBezTo>
                  <a:pt x="1666300" y="805754"/>
                  <a:pt x="1666300" y="805754"/>
                  <a:pt x="1676666" y="764509"/>
                </a:cubicBezTo>
                <a:cubicBezTo>
                  <a:pt x="1766457" y="717859"/>
                  <a:pt x="1864911" y="693997"/>
                  <a:pt x="1962416" y="669259"/>
                </a:cubicBezTo>
                <a:cubicBezTo>
                  <a:pt x="1958511" y="664311"/>
                  <a:pt x="1954607" y="659362"/>
                  <a:pt x="1950584" y="654264"/>
                </a:cubicBezTo>
                <a:cubicBezTo>
                  <a:pt x="1945452" y="647622"/>
                  <a:pt x="1940319" y="640979"/>
                  <a:pt x="1935032" y="634135"/>
                </a:cubicBezTo>
                <a:cubicBezTo>
                  <a:pt x="1929948" y="627615"/>
                  <a:pt x="1924865" y="621096"/>
                  <a:pt x="1919628" y="614378"/>
                </a:cubicBezTo>
                <a:cubicBezTo>
                  <a:pt x="1883026" y="560044"/>
                  <a:pt x="1882733" y="511004"/>
                  <a:pt x="1882644" y="447207"/>
                </a:cubicBezTo>
                <a:cubicBezTo>
                  <a:pt x="1882411" y="438520"/>
                  <a:pt x="1882178" y="429833"/>
                  <a:pt x="1881937" y="420883"/>
                </a:cubicBezTo>
                <a:cubicBezTo>
                  <a:pt x="1881710" y="368092"/>
                  <a:pt x="1888466" y="330918"/>
                  <a:pt x="1915177" y="285089"/>
                </a:cubicBezTo>
                <a:cubicBezTo>
                  <a:pt x="1925854" y="267755"/>
                  <a:pt x="1925854" y="267755"/>
                  <a:pt x="1933841" y="240634"/>
                </a:cubicBezTo>
                <a:cubicBezTo>
                  <a:pt x="1950993" y="230588"/>
                  <a:pt x="1950993" y="230588"/>
                  <a:pt x="1971941" y="221584"/>
                </a:cubicBezTo>
                <a:cubicBezTo>
                  <a:pt x="1978362" y="218219"/>
                  <a:pt x="1984784" y="214855"/>
                  <a:pt x="1991400" y="211389"/>
                </a:cubicBezTo>
                <a:cubicBezTo>
                  <a:pt x="2051300" y="181930"/>
                  <a:pt x="2100289" y="171874"/>
                  <a:pt x="2165492" y="189437"/>
                </a:cubicBezTo>
                <a:cubicBezTo>
                  <a:pt x="2222584" y="211112"/>
                  <a:pt x="2262821" y="246457"/>
                  <a:pt x="2295791" y="297784"/>
                </a:cubicBezTo>
                <a:cubicBezTo>
                  <a:pt x="2329824" y="376129"/>
                  <a:pt x="2329977" y="486369"/>
                  <a:pt x="2305167" y="567572"/>
                </a:cubicBezTo>
                <a:cubicBezTo>
                  <a:pt x="2286732" y="604720"/>
                  <a:pt x="2263480" y="636207"/>
                  <a:pt x="2238641" y="669259"/>
                </a:cubicBezTo>
                <a:cubicBezTo>
                  <a:pt x="2248430" y="671765"/>
                  <a:pt x="2248430" y="671765"/>
                  <a:pt x="2258417" y="674321"/>
                </a:cubicBezTo>
                <a:cubicBezTo>
                  <a:pt x="2288401" y="682134"/>
                  <a:pt x="2318285" y="690278"/>
                  <a:pt x="2348179" y="698429"/>
                </a:cubicBezTo>
                <a:cubicBezTo>
                  <a:pt x="2358443" y="701050"/>
                  <a:pt x="2368708" y="703672"/>
                  <a:pt x="2379284" y="706373"/>
                </a:cubicBezTo>
                <a:cubicBezTo>
                  <a:pt x="2466216" y="730491"/>
                  <a:pt x="2519352" y="767836"/>
                  <a:pt x="2572016" y="840709"/>
                </a:cubicBezTo>
                <a:cubicBezTo>
                  <a:pt x="2623831" y="716029"/>
                  <a:pt x="2632970" y="571766"/>
                  <a:pt x="2589875" y="443040"/>
                </a:cubicBezTo>
                <a:cubicBezTo>
                  <a:pt x="2567558" y="390005"/>
                  <a:pt x="2540836" y="343007"/>
                  <a:pt x="2505341" y="297784"/>
                </a:cubicBezTo>
                <a:cubicBezTo>
                  <a:pt x="2500467" y="291252"/>
                  <a:pt x="2495592" y="284720"/>
                  <a:pt x="2490570" y="277990"/>
                </a:cubicBezTo>
                <a:cubicBezTo>
                  <a:pt x="2403358" y="168922"/>
                  <a:pt x="2276835" y="119392"/>
                  <a:pt x="2142275" y="100586"/>
                </a:cubicBezTo>
                <a:cubicBezTo>
                  <a:pt x="1990070" y="84912"/>
                  <a:pt x="1836707" y="148729"/>
                  <a:pt x="1726672" y="251945"/>
                </a:cubicBezTo>
                <a:close/>
                <a:moveTo>
                  <a:pt x="1990991" y="335884"/>
                </a:moveTo>
                <a:cubicBezTo>
                  <a:pt x="1962717" y="388745"/>
                  <a:pt x="1962502" y="460329"/>
                  <a:pt x="1977038" y="518049"/>
                </a:cubicBezTo>
                <a:cubicBezTo>
                  <a:pt x="1990852" y="553075"/>
                  <a:pt x="2009396" y="579019"/>
                  <a:pt x="2038616" y="602584"/>
                </a:cubicBezTo>
                <a:cubicBezTo>
                  <a:pt x="2044902" y="602584"/>
                  <a:pt x="2051189" y="602584"/>
                  <a:pt x="2057666" y="602584"/>
                </a:cubicBezTo>
                <a:cubicBezTo>
                  <a:pt x="2057113" y="608330"/>
                  <a:pt x="2056561" y="614076"/>
                  <a:pt x="2055992" y="619997"/>
                </a:cubicBezTo>
                <a:cubicBezTo>
                  <a:pt x="2054660" y="643577"/>
                  <a:pt x="2054243" y="664914"/>
                  <a:pt x="2057666" y="688309"/>
                </a:cubicBezTo>
                <a:cubicBezTo>
                  <a:pt x="2079749" y="713160"/>
                  <a:pt x="2079749" y="713160"/>
                  <a:pt x="2105291" y="726409"/>
                </a:cubicBezTo>
                <a:cubicBezTo>
                  <a:pt x="2124798" y="707715"/>
                  <a:pt x="2133388" y="693760"/>
                  <a:pt x="2135764" y="666691"/>
                </a:cubicBezTo>
                <a:cubicBezTo>
                  <a:pt x="2135662" y="645260"/>
                  <a:pt x="2135100" y="623978"/>
                  <a:pt x="2133866" y="602584"/>
                </a:cubicBezTo>
                <a:cubicBezTo>
                  <a:pt x="2141135" y="600030"/>
                  <a:pt x="2148404" y="597476"/>
                  <a:pt x="2155893" y="594845"/>
                </a:cubicBezTo>
                <a:cubicBezTo>
                  <a:pt x="2180705" y="583881"/>
                  <a:pt x="2193337" y="575870"/>
                  <a:pt x="2210066" y="554959"/>
                </a:cubicBezTo>
                <a:cubicBezTo>
                  <a:pt x="2222150" y="518707"/>
                  <a:pt x="2221717" y="484391"/>
                  <a:pt x="2221972" y="446612"/>
                </a:cubicBezTo>
                <a:cubicBezTo>
                  <a:pt x="2222169" y="439417"/>
                  <a:pt x="2222365" y="432222"/>
                  <a:pt x="2222568" y="424809"/>
                </a:cubicBezTo>
                <a:cubicBezTo>
                  <a:pt x="2222967" y="367746"/>
                  <a:pt x="2209882" y="337364"/>
                  <a:pt x="2170775" y="294807"/>
                </a:cubicBezTo>
                <a:cubicBezTo>
                  <a:pt x="2100909" y="253799"/>
                  <a:pt x="2039966" y="275639"/>
                  <a:pt x="1990991" y="335884"/>
                </a:cubicBezTo>
                <a:close/>
                <a:moveTo>
                  <a:pt x="202314" y="767196"/>
                </a:moveTo>
                <a:cubicBezTo>
                  <a:pt x="188452" y="798271"/>
                  <a:pt x="187106" y="820858"/>
                  <a:pt x="186968" y="854860"/>
                </a:cubicBezTo>
                <a:cubicBezTo>
                  <a:pt x="186849" y="867322"/>
                  <a:pt x="186729" y="879784"/>
                  <a:pt x="186606" y="892624"/>
                </a:cubicBezTo>
                <a:cubicBezTo>
                  <a:pt x="186618" y="906421"/>
                  <a:pt x="186631" y="920219"/>
                  <a:pt x="186648" y="934017"/>
                </a:cubicBezTo>
                <a:cubicBezTo>
                  <a:pt x="186561" y="948805"/>
                  <a:pt x="186462" y="963592"/>
                  <a:pt x="186351" y="978380"/>
                </a:cubicBezTo>
                <a:cubicBezTo>
                  <a:pt x="186089" y="1017945"/>
                  <a:pt x="185998" y="1057509"/>
                  <a:pt x="185942" y="1097075"/>
                </a:cubicBezTo>
                <a:cubicBezTo>
                  <a:pt x="185863" y="1134216"/>
                  <a:pt x="185631" y="1171354"/>
                  <a:pt x="185412" y="1208494"/>
                </a:cubicBezTo>
                <a:cubicBezTo>
                  <a:pt x="184859" y="1317078"/>
                  <a:pt x="184553" y="1425663"/>
                  <a:pt x="184217" y="1534248"/>
                </a:cubicBezTo>
                <a:cubicBezTo>
                  <a:pt x="183235" y="1776867"/>
                  <a:pt x="182253" y="2019487"/>
                  <a:pt x="181241" y="2269459"/>
                </a:cubicBezTo>
                <a:cubicBezTo>
                  <a:pt x="869613" y="2269459"/>
                  <a:pt x="1557984" y="2269459"/>
                  <a:pt x="2267216" y="2269459"/>
                </a:cubicBezTo>
                <a:cubicBezTo>
                  <a:pt x="2267216" y="1920558"/>
                  <a:pt x="2267216" y="1571657"/>
                  <a:pt x="2267216" y="1212184"/>
                </a:cubicBezTo>
                <a:cubicBezTo>
                  <a:pt x="2242070" y="1218470"/>
                  <a:pt x="2216924" y="1224757"/>
                  <a:pt x="2191016" y="1231234"/>
                </a:cubicBezTo>
                <a:cubicBezTo>
                  <a:pt x="2190981" y="1242464"/>
                  <a:pt x="2190947" y="1253695"/>
                  <a:pt x="2190911" y="1265266"/>
                </a:cubicBezTo>
                <a:cubicBezTo>
                  <a:pt x="2190559" y="1371082"/>
                  <a:pt x="2190009" y="1476895"/>
                  <a:pt x="2189264" y="1582709"/>
                </a:cubicBezTo>
                <a:cubicBezTo>
                  <a:pt x="2188888" y="1637110"/>
                  <a:pt x="2188582" y="1691510"/>
                  <a:pt x="2188435" y="1745912"/>
                </a:cubicBezTo>
                <a:cubicBezTo>
                  <a:pt x="2188291" y="1798409"/>
                  <a:pt x="2187963" y="1850902"/>
                  <a:pt x="2187508" y="1903397"/>
                </a:cubicBezTo>
                <a:cubicBezTo>
                  <a:pt x="2187366" y="1923429"/>
                  <a:pt x="2187291" y="1943462"/>
                  <a:pt x="2187283" y="1963494"/>
                </a:cubicBezTo>
                <a:cubicBezTo>
                  <a:pt x="2187261" y="1991546"/>
                  <a:pt x="2187003" y="2019587"/>
                  <a:pt x="2186691" y="2047637"/>
                </a:cubicBezTo>
                <a:cubicBezTo>
                  <a:pt x="2186763" y="2060072"/>
                  <a:pt x="2186763" y="2060072"/>
                  <a:pt x="2186836" y="2072759"/>
                </a:cubicBezTo>
                <a:cubicBezTo>
                  <a:pt x="2186703" y="2080438"/>
                  <a:pt x="2186571" y="2088117"/>
                  <a:pt x="2186434" y="2096029"/>
                </a:cubicBezTo>
                <a:cubicBezTo>
                  <a:pt x="2186382" y="2105973"/>
                  <a:pt x="2186382" y="2105973"/>
                  <a:pt x="2186328" y="2116117"/>
                </a:cubicBezTo>
                <a:cubicBezTo>
                  <a:pt x="2178832" y="2147100"/>
                  <a:pt x="2166706" y="2162085"/>
                  <a:pt x="2143391" y="2183734"/>
                </a:cubicBezTo>
                <a:cubicBezTo>
                  <a:pt x="2116881" y="2188506"/>
                  <a:pt x="2096139" y="2190145"/>
                  <a:pt x="2069637" y="2189717"/>
                </a:cubicBezTo>
                <a:cubicBezTo>
                  <a:pt x="2062164" y="2189785"/>
                  <a:pt x="2054690" y="2189852"/>
                  <a:pt x="2046990" y="2189922"/>
                </a:cubicBezTo>
                <a:cubicBezTo>
                  <a:pt x="2021919" y="2190090"/>
                  <a:pt x="1996863" y="2189917"/>
                  <a:pt x="1971792" y="2189745"/>
                </a:cubicBezTo>
                <a:cubicBezTo>
                  <a:pt x="1953831" y="2189794"/>
                  <a:pt x="1935869" y="2189863"/>
                  <a:pt x="1917908" y="2189952"/>
                </a:cubicBezTo>
                <a:cubicBezTo>
                  <a:pt x="1869102" y="2190128"/>
                  <a:pt x="1820301" y="2190005"/>
                  <a:pt x="1771495" y="2189817"/>
                </a:cubicBezTo>
                <a:cubicBezTo>
                  <a:pt x="1720460" y="2189662"/>
                  <a:pt x="1669425" y="2189745"/>
                  <a:pt x="1618390" y="2189794"/>
                </a:cubicBezTo>
                <a:cubicBezTo>
                  <a:pt x="1532680" y="2189837"/>
                  <a:pt x="1446972" y="2189685"/>
                  <a:pt x="1361262" y="2189420"/>
                </a:cubicBezTo>
                <a:cubicBezTo>
                  <a:pt x="1262118" y="2189114"/>
                  <a:pt x="1162977" y="2189114"/>
                  <a:pt x="1063833" y="2189279"/>
                </a:cubicBezTo>
                <a:cubicBezTo>
                  <a:pt x="968526" y="2189430"/>
                  <a:pt x="873220" y="2189366"/>
                  <a:pt x="777913" y="2189203"/>
                </a:cubicBezTo>
                <a:cubicBezTo>
                  <a:pt x="737322" y="2189138"/>
                  <a:pt x="696732" y="2189148"/>
                  <a:pt x="656141" y="2189218"/>
                </a:cubicBezTo>
                <a:cubicBezTo>
                  <a:pt x="608356" y="2189291"/>
                  <a:pt x="560575" y="2189176"/>
                  <a:pt x="512790" y="2188914"/>
                </a:cubicBezTo>
                <a:cubicBezTo>
                  <a:pt x="495235" y="2188849"/>
                  <a:pt x="477679" y="2188848"/>
                  <a:pt x="460124" y="2188916"/>
                </a:cubicBezTo>
                <a:cubicBezTo>
                  <a:pt x="436193" y="2188999"/>
                  <a:pt x="412274" y="2188848"/>
                  <a:pt x="388345" y="2188636"/>
                </a:cubicBezTo>
                <a:cubicBezTo>
                  <a:pt x="381366" y="2188714"/>
                  <a:pt x="374387" y="2188793"/>
                  <a:pt x="367197" y="2188874"/>
                </a:cubicBezTo>
                <a:cubicBezTo>
                  <a:pt x="334478" y="2188338"/>
                  <a:pt x="317586" y="2186092"/>
                  <a:pt x="291527" y="2165568"/>
                </a:cubicBezTo>
                <a:cubicBezTo>
                  <a:pt x="267568" y="2133804"/>
                  <a:pt x="265749" y="2115915"/>
                  <a:pt x="265628" y="2076520"/>
                </a:cubicBezTo>
                <a:cubicBezTo>
                  <a:pt x="265574" y="2065903"/>
                  <a:pt x="265519" y="2055287"/>
                  <a:pt x="265463" y="2044348"/>
                </a:cubicBezTo>
                <a:cubicBezTo>
                  <a:pt x="265453" y="2032646"/>
                  <a:pt x="265442" y="2020943"/>
                  <a:pt x="265431" y="2008886"/>
                </a:cubicBezTo>
                <a:cubicBezTo>
                  <a:pt x="265384" y="1996604"/>
                  <a:pt x="265336" y="1984322"/>
                  <a:pt x="265288" y="1971667"/>
                </a:cubicBezTo>
                <a:cubicBezTo>
                  <a:pt x="265163" y="1937915"/>
                  <a:pt x="265101" y="1904164"/>
                  <a:pt x="265059" y="1870412"/>
                </a:cubicBezTo>
                <a:cubicBezTo>
                  <a:pt x="265031" y="1849328"/>
                  <a:pt x="264992" y="1828244"/>
                  <a:pt x="264950" y="1807160"/>
                </a:cubicBezTo>
                <a:cubicBezTo>
                  <a:pt x="264819" y="1741203"/>
                  <a:pt x="264727" y="1675246"/>
                  <a:pt x="264690" y="1609289"/>
                </a:cubicBezTo>
                <a:cubicBezTo>
                  <a:pt x="264648" y="1533136"/>
                  <a:pt x="264481" y="1456984"/>
                  <a:pt x="264205" y="1380831"/>
                </a:cubicBezTo>
                <a:cubicBezTo>
                  <a:pt x="263999" y="1321981"/>
                  <a:pt x="263903" y="1263132"/>
                  <a:pt x="263890" y="1204283"/>
                </a:cubicBezTo>
                <a:cubicBezTo>
                  <a:pt x="263880" y="1169129"/>
                  <a:pt x="263824" y="1133976"/>
                  <a:pt x="263654" y="1098823"/>
                </a:cubicBezTo>
                <a:cubicBezTo>
                  <a:pt x="263467" y="1059599"/>
                  <a:pt x="263509" y="1020378"/>
                  <a:pt x="263571" y="981154"/>
                </a:cubicBezTo>
                <a:cubicBezTo>
                  <a:pt x="263483" y="969509"/>
                  <a:pt x="263395" y="957864"/>
                  <a:pt x="263305" y="945867"/>
                </a:cubicBezTo>
                <a:cubicBezTo>
                  <a:pt x="263358" y="935170"/>
                  <a:pt x="263411" y="924473"/>
                  <a:pt x="263466" y="913451"/>
                </a:cubicBezTo>
                <a:cubicBezTo>
                  <a:pt x="263452" y="904178"/>
                  <a:pt x="263438" y="894905"/>
                  <a:pt x="263423" y="885350"/>
                </a:cubicBezTo>
                <a:cubicBezTo>
                  <a:pt x="267640" y="854887"/>
                  <a:pt x="277590" y="836900"/>
                  <a:pt x="295541" y="812134"/>
                </a:cubicBezTo>
                <a:cubicBezTo>
                  <a:pt x="319304" y="800252"/>
                  <a:pt x="335484" y="801288"/>
                  <a:pt x="362082" y="801102"/>
                </a:cubicBezTo>
                <a:cubicBezTo>
                  <a:pt x="372127" y="801008"/>
                  <a:pt x="382171" y="800915"/>
                  <a:pt x="392520" y="800819"/>
                </a:cubicBezTo>
                <a:cubicBezTo>
                  <a:pt x="403584" y="800764"/>
                  <a:pt x="414649" y="800709"/>
                  <a:pt x="426049" y="800653"/>
                </a:cubicBezTo>
                <a:cubicBezTo>
                  <a:pt x="443473" y="800512"/>
                  <a:pt x="443473" y="800512"/>
                  <a:pt x="461248" y="800367"/>
                </a:cubicBezTo>
                <a:cubicBezTo>
                  <a:pt x="493147" y="800118"/>
                  <a:pt x="525045" y="799909"/>
                  <a:pt x="556944" y="799720"/>
                </a:cubicBezTo>
                <a:cubicBezTo>
                  <a:pt x="590263" y="799512"/>
                  <a:pt x="623582" y="799251"/>
                  <a:pt x="656901" y="798995"/>
                </a:cubicBezTo>
                <a:cubicBezTo>
                  <a:pt x="720016" y="798519"/>
                  <a:pt x="783131" y="798091"/>
                  <a:pt x="846247" y="797680"/>
                </a:cubicBezTo>
                <a:cubicBezTo>
                  <a:pt x="918092" y="797210"/>
                  <a:pt x="989937" y="796687"/>
                  <a:pt x="1061783" y="796160"/>
                </a:cubicBezTo>
                <a:cubicBezTo>
                  <a:pt x="1209594" y="795075"/>
                  <a:pt x="1357405" y="794057"/>
                  <a:pt x="1505216" y="793084"/>
                </a:cubicBezTo>
                <a:cubicBezTo>
                  <a:pt x="1503457" y="751728"/>
                  <a:pt x="1503457" y="751728"/>
                  <a:pt x="1486166" y="716884"/>
                </a:cubicBezTo>
                <a:cubicBezTo>
                  <a:pt x="1470487" y="715906"/>
                  <a:pt x="1454765" y="715596"/>
                  <a:pt x="1439055" y="715546"/>
                </a:cubicBezTo>
                <a:cubicBezTo>
                  <a:pt x="1428853" y="715492"/>
                  <a:pt x="1418650" y="715437"/>
                  <a:pt x="1408138" y="715381"/>
                </a:cubicBezTo>
                <a:cubicBezTo>
                  <a:pt x="1396846" y="715371"/>
                  <a:pt x="1385555" y="715360"/>
                  <a:pt x="1373922" y="715349"/>
                </a:cubicBezTo>
                <a:cubicBezTo>
                  <a:pt x="1362105" y="715302"/>
                  <a:pt x="1350289" y="715254"/>
                  <a:pt x="1338114" y="715206"/>
                </a:cubicBezTo>
                <a:cubicBezTo>
                  <a:pt x="1305602" y="715090"/>
                  <a:pt x="1273089" y="715019"/>
                  <a:pt x="1240577" y="714977"/>
                </a:cubicBezTo>
                <a:cubicBezTo>
                  <a:pt x="1220270" y="714949"/>
                  <a:pt x="1199963" y="714910"/>
                  <a:pt x="1179656" y="714867"/>
                </a:cubicBezTo>
                <a:cubicBezTo>
                  <a:pt x="1116141" y="714737"/>
                  <a:pt x="1052625" y="714645"/>
                  <a:pt x="989109" y="714608"/>
                </a:cubicBezTo>
                <a:cubicBezTo>
                  <a:pt x="915758" y="714566"/>
                  <a:pt x="842410" y="714399"/>
                  <a:pt x="769060" y="714122"/>
                </a:cubicBezTo>
                <a:cubicBezTo>
                  <a:pt x="712395" y="713917"/>
                  <a:pt x="655730" y="713820"/>
                  <a:pt x="599065" y="713808"/>
                </a:cubicBezTo>
                <a:cubicBezTo>
                  <a:pt x="565209" y="713798"/>
                  <a:pt x="531356" y="713741"/>
                  <a:pt x="497501" y="713571"/>
                </a:cubicBezTo>
                <a:cubicBezTo>
                  <a:pt x="459714" y="713385"/>
                  <a:pt x="421928" y="713427"/>
                  <a:pt x="384140" y="713489"/>
                </a:cubicBezTo>
                <a:cubicBezTo>
                  <a:pt x="372926" y="713401"/>
                  <a:pt x="361712" y="713313"/>
                  <a:pt x="350158" y="713223"/>
                </a:cubicBezTo>
                <a:cubicBezTo>
                  <a:pt x="334692" y="713302"/>
                  <a:pt x="334692" y="713302"/>
                  <a:pt x="318914" y="713383"/>
                </a:cubicBezTo>
                <a:cubicBezTo>
                  <a:pt x="309980" y="713369"/>
                  <a:pt x="301045" y="713355"/>
                  <a:pt x="291840" y="713341"/>
                </a:cubicBezTo>
                <a:cubicBezTo>
                  <a:pt x="251028" y="719154"/>
                  <a:pt x="227570" y="734953"/>
                  <a:pt x="202314" y="767196"/>
                </a:cubicBezTo>
                <a:close/>
                <a:moveTo>
                  <a:pt x="1971941" y="764509"/>
                </a:moveTo>
                <a:cubicBezTo>
                  <a:pt x="1978227" y="786511"/>
                  <a:pt x="1984514" y="808514"/>
                  <a:pt x="1990991" y="831184"/>
                </a:cubicBezTo>
                <a:cubicBezTo>
                  <a:pt x="1997277" y="828040"/>
                  <a:pt x="2003564" y="824897"/>
                  <a:pt x="2010041" y="821659"/>
                </a:cubicBezTo>
                <a:cubicBezTo>
                  <a:pt x="2010041" y="815372"/>
                  <a:pt x="2010041" y="809086"/>
                  <a:pt x="2010041" y="802609"/>
                </a:cubicBezTo>
                <a:cubicBezTo>
                  <a:pt x="2016327" y="799465"/>
                  <a:pt x="2022614" y="796322"/>
                  <a:pt x="2029091" y="793084"/>
                </a:cubicBezTo>
                <a:cubicBezTo>
                  <a:pt x="2016594" y="778201"/>
                  <a:pt x="2016594" y="778201"/>
                  <a:pt x="2000516" y="764509"/>
                </a:cubicBezTo>
                <a:cubicBezTo>
                  <a:pt x="1991086" y="764509"/>
                  <a:pt x="1981656" y="764509"/>
                  <a:pt x="1971941" y="764509"/>
                </a:cubicBezTo>
                <a:close/>
                <a:moveTo>
                  <a:pt x="2191016" y="764509"/>
                </a:moveTo>
                <a:cubicBezTo>
                  <a:pt x="2184730" y="777082"/>
                  <a:pt x="2178443" y="789655"/>
                  <a:pt x="2171966" y="802609"/>
                </a:cubicBezTo>
                <a:cubicBezTo>
                  <a:pt x="2184539" y="812038"/>
                  <a:pt x="2197112" y="821468"/>
                  <a:pt x="2210066" y="831184"/>
                </a:cubicBezTo>
                <a:cubicBezTo>
                  <a:pt x="2213209" y="809181"/>
                  <a:pt x="2216352" y="787178"/>
                  <a:pt x="2219591" y="764509"/>
                </a:cubicBezTo>
                <a:cubicBezTo>
                  <a:pt x="2210161" y="764509"/>
                  <a:pt x="2200732" y="764509"/>
                  <a:pt x="2191016" y="764509"/>
                </a:cubicBezTo>
                <a:close/>
                <a:moveTo>
                  <a:pt x="1752866" y="831184"/>
                </a:moveTo>
                <a:cubicBezTo>
                  <a:pt x="1723216" y="861523"/>
                  <a:pt x="1712689" y="885547"/>
                  <a:pt x="1709408" y="927029"/>
                </a:cubicBezTo>
                <a:cubicBezTo>
                  <a:pt x="1716036" y="973421"/>
                  <a:pt x="1726052" y="983390"/>
                  <a:pt x="1762391" y="1012159"/>
                </a:cubicBezTo>
                <a:cubicBezTo>
                  <a:pt x="1768149" y="1016861"/>
                  <a:pt x="1773908" y="1021564"/>
                  <a:pt x="1779841" y="1026409"/>
                </a:cubicBezTo>
                <a:cubicBezTo>
                  <a:pt x="1895226" y="1117670"/>
                  <a:pt x="2025882" y="1151618"/>
                  <a:pt x="2171966" y="1135984"/>
                </a:cubicBezTo>
                <a:cubicBezTo>
                  <a:pt x="2291179" y="1113311"/>
                  <a:pt x="2409947" y="1062964"/>
                  <a:pt x="2486291" y="964534"/>
                </a:cubicBezTo>
                <a:cubicBezTo>
                  <a:pt x="2497761" y="917807"/>
                  <a:pt x="2481449" y="886712"/>
                  <a:pt x="2457716" y="846662"/>
                </a:cubicBezTo>
                <a:cubicBezTo>
                  <a:pt x="2422873" y="816174"/>
                  <a:pt x="2389133" y="800703"/>
                  <a:pt x="2343416" y="793084"/>
                </a:cubicBezTo>
                <a:cubicBezTo>
                  <a:pt x="2333986" y="796227"/>
                  <a:pt x="2324557" y="799370"/>
                  <a:pt x="2314841" y="802609"/>
                </a:cubicBezTo>
                <a:cubicBezTo>
                  <a:pt x="2305548" y="821370"/>
                  <a:pt x="2305548" y="821370"/>
                  <a:pt x="2299549" y="844541"/>
                </a:cubicBezTo>
                <a:cubicBezTo>
                  <a:pt x="2297063" y="853019"/>
                  <a:pt x="2294576" y="861497"/>
                  <a:pt x="2292014" y="870232"/>
                </a:cubicBezTo>
                <a:cubicBezTo>
                  <a:pt x="2289528" y="879153"/>
                  <a:pt x="2287042" y="888073"/>
                  <a:pt x="2284480" y="897263"/>
                </a:cubicBezTo>
                <a:cubicBezTo>
                  <a:pt x="2281883" y="906147"/>
                  <a:pt x="2279286" y="915030"/>
                  <a:pt x="2276611" y="924183"/>
                </a:cubicBezTo>
                <a:cubicBezTo>
                  <a:pt x="2262924" y="967500"/>
                  <a:pt x="2262924" y="967500"/>
                  <a:pt x="2257691" y="1012159"/>
                </a:cubicBezTo>
                <a:cubicBezTo>
                  <a:pt x="2204417" y="966819"/>
                  <a:pt x="2154166" y="919328"/>
                  <a:pt x="2105291" y="869284"/>
                </a:cubicBezTo>
                <a:cubicBezTo>
                  <a:pt x="2064372" y="884999"/>
                  <a:pt x="2038567" y="915170"/>
                  <a:pt x="2008850" y="946079"/>
                </a:cubicBezTo>
                <a:cubicBezTo>
                  <a:pt x="1955176" y="1001491"/>
                  <a:pt x="1955176" y="1001491"/>
                  <a:pt x="1933841" y="1012159"/>
                </a:cubicBezTo>
                <a:cubicBezTo>
                  <a:pt x="1932908" y="1006719"/>
                  <a:pt x="1931975" y="1001280"/>
                  <a:pt x="1931013" y="995676"/>
                </a:cubicBezTo>
                <a:cubicBezTo>
                  <a:pt x="1918230" y="926360"/>
                  <a:pt x="1898332" y="860107"/>
                  <a:pt x="1876691" y="793084"/>
                </a:cubicBezTo>
                <a:cubicBezTo>
                  <a:pt x="1833604" y="793084"/>
                  <a:pt x="1791237" y="812933"/>
                  <a:pt x="1752866" y="831184"/>
                </a:cubicBezTo>
                <a:close/>
                <a:moveTo>
                  <a:pt x="362216" y="888334"/>
                </a:moveTo>
                <a:cubicBezTo>
                  <a:pt x="362216" y="1287527"/>
                  <a:pt x="362216" y="1686719"/>
                  <a:pt x="362216" y="2098009"/>
                </a:cubicBezTo>
                <a:cubicBezTo>
                  <a:pt x="934287" y="2098009"/>
                  <a:pt x="1506359" y="2098009"/>
                  <a:pt x="2095766" y="2098009"/>
                </a:cubicBezTo>
                <a:cubicBezTo>
                  <a:pt x="2095766" y="1815116"/>
                  <a:pt x="2095766" y="1532224"/>
                  <a:pt x="2095766" y="1240759"/>
                </a:cubicBezTo>
                <a:cubicBezTo>
                  <a:pt x="2001468" y="1221899"/>
                  <a:pt x="2001468" y="1221899"/>
                  <a:pt x="1905266" y="1202659"/>
                </a:cubicBezTo>
                <a:cubicBezTo>
                  <a:pt x="1758413" y="1138809"/>
                  <a:pt x="1632615" y="1059001"/>
                  <a:pt x="1559483" y="910818"/>
                </a:cubicBezTo>
                <a:cubicBezTo>
                  <a:pt x="1545564" y="886448"/>
                  <a:pt x="1545564" y="886448"/>
                  <a:pt x="1521354" y="882474"/>
                </a:cubicBezTo>
                <a:cubicBezTo>
                  <a:pt x="1512671" y="882517"/>
                  <a:pt x="1503987" y="882561"/>
                  <a:pt x="1495041" y="882607"/>
                </a:cubicBezTo>
                <a:cubicBezTo>
                  <a:pt x="1480106" y="882508"/>
                  <a:pt x="1480106" y="882508"/>
                  <a:pt x="1464869" y="882408"/>
                </a:cubicBezTo>
                <a:cubicBezTo>
                  <a:pt x="1448426" y="882665"/>
                  <a:pt x="1448426" y="882665"/>
                  <a:pt x="1431651" y="882927"/>
                </a:cubicBezTo>
                <a:cubicBezTo>
                  <a:pt x="1419940" y="882921"/>
                  <a:pt x="1408229" y="882916"/>
                  <a:pt x="1396164" y="882910"/>
                </a:cubicBezTo>
                <a:cubicBezTo>
                  <a:pt x="1364466" y="882939"/>
                  <a:pt x="1332783" y="883175"/>
                  <a:pt x="1301088" y="883510"/>
                </a:cubicBezTo>
                <a:cubicBezTo>
                  <a:pt x="1271355" y="883781"/>
                  <a:pt x="1241622" y="883794"/>
                  <a:pt x="1211888" y="883828"/>
                </a:cubicBezTo>
                <a:cubicBezTo>
                  <a:pt x="1124918" y="884078"/>
                  <a:pt x="1037949" y="884743"/>
                  <a:pt x="950980" y="885357"/>
                </a:cubicBezTo>
                <a:cubicBezTo>
                  <a:pt x="756688" y="886339"/>
                  <a:pt x="562396" y="887322"/>
                  <a:pt x="362216" y="888334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FEB9C38D-0A74-21FC-3DDF-EDBFCE35C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66606" y="4446866"/>
            <a:ext cx="276225" cy="1057275"/>
          </a:xfrm>
          <a:custGeom>
            <a:avLst/>
            <a:gdLst>
              <a:gd name="csX0" fmla="*/ 123 w 276225"/>
              <a:gd name="csY0" fmla="*/ 105 h 1057275"/>
              <a:gd name="csX1" fmla="*/ 276348 w 276225"/>
              <a:gd name="csY1" fmla="*/ 105 h 1057275"/>
              <a:gd name="csX2" fmla="*/ 276348 w 276225"/>
              <a:gd name="csY2" fmla="*/ 1057380 h 1057275"/>
              <a:gd name="csX3" fmla="*/ 123 w 276225"/>
              <a:gd name="csY3" fmla="*/ 1057380 h 1057275"/>
              <a:gd name="csX4" fmla="*/ 123 w 276225"/>
              <a:gd name="csY4" fmla="*/ 105 h 1057275"/>
              <a:gd name="csX5" fmla="*/ 95373 w 276225"/>
              <a:gd name="csY5" fmla="*/ 95355 h 1057275"/>
              <a:gd name="csX6" fmla="*/ 95373 w 276225"/>
              <a:gd name="csY6" fmla="*/ 962130 h 1057275"/>
              <a:gd name="csX7" fmla="*/ 171573 w 276225"/>
              <a:gd name="csY7" fmla="*/ 962130 h 1057275"/>
              <a:gd name="csX8" fmla="*/ 171573 w 276225"/>
              <a:gd name="csY8" fmla="*/ 95355 h 1057275"/>
              <a:gd name="csX9" fmla="*/ 95373 w 276225"/>
              <a:gd name="csY9" fmla="*/ 95355 h 10572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76225" h="1057275">
                <a:moveTo>
                  <a:pt x="123" y="105"/>
                </a:moveTo>
                <a:cubicBezTo>
                  <a:pt x="91277" y="105"/>
                  <a:pt x="182432" y="105"/>
                  <a:pt x="276348" y="105"/>
                </a:cubicBezTo>
                <a:cubicBezTo>
                  <a:pt x="276348" y="349006"/>
                  <a:pt x="276348" y="697907"/>
                  <a:pt x="276348" y="1057380"/>
                </a:cubicBezTo>
                <a:cubicBezTo>
                  <a:pt x="185194" y="1057380"/>
                  <a:pt x="94040" y="1057380"/>
                  <a:pt x="123" y="1057380"/>
                </a:cubicBezTo>
                <a:cubicBezTo>
                  <a:pt x="123" y="708479"/>
                  <a:pt x="123" y="359579"/>
                  <a:pt x="123" y="105"/>
                </a:cubicBezTo>
                <a:close/>
                <a:moveTo>
                  <a:pt x="95373" y="95355"/>
                </a:moveTo>
                <a:cubicBezTo>
                  <a:pt x="95373" y="381391"/>
                  <a:pt x="95373" y="667427"/>
                  <a:pt x="95373" y="962130"/>
                </a:cubicBezTo>
                <a:cubicBezTo>
                  <a:pt x="120519" y="962130"/>
                  <a:pt x="145665" y="962130"/>
                  <a:pt x="171573" y="962130"/>
                </a:cubicBezTo>
                <a:cubicBezTo>
                  <a:pt x="171573" y="676094"/>
                  <a:pt x="171573" y="390059"/>
                  <a:pt x="171573" y="95355"/>
                </a:cubicBezTo>
                <a:cubicBezTo>
                  <a:pt x="146427" y="95355"/>
                  <a:pt x="121281" y="95355"/>
                  <a:pt x="95373" y="95355"/>
                </a:cubicBez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0C2AF79D-A227-96C6-0E4D-7E1E8048B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14181" y="4618316"/>
            <a:ext cx="276225" cy="885825"/>
          </a:xfrm>
          <a:custGeom>
            <a:avLst/>
            <a:gdLst>
              <a:gd name="csX0" fmla="*/ 86 w 276225"/>
              <a:gd name="csY0" fmla="*/ 123 h 885825"/>
              <a:gd name="csX1" fmla="*/ 276311 w 276225"/>
              <a:gd name="csY1" fmla="*/ 123 h 885825"/>
              <a:gd name="csX2" fmla="*/ 276311 w 276225"/>
              <a:gd name="csY2" fmla="*/ 885948 h 885825"/>
              <a:gd name="csX3" fmla="*/ 86 w 276225"/>
              <a:gd name="csY3" fmla="*/ 885948 h 885825"/>
              <a:gd name="csX4" fmla="*/ 86 w 276225"/>
              <a:gd name="csY4" fmla="*/ 123 h 885825"/>
              <a:gd name="csX5" fmla="*/ 104861 w 276225"/>
              <a:gd name="csY5" fmla="*/ 104898 h 885825"/>
              <a:gd name="csX6" fmla="*/ 104861 w 276225"/>
              <a:gd name="csY6" fmla="*/ 790698 h 885825"/>
              <a:gd name="csX7" fmla="*/ 181061 w 276225"/>
              <a:gd name="csY7" fmla="*/ 790698 h 885825"/>
              <a:gd name="csX8" fmla="*/ 181061 w 276225"/>
              <a:gd name="csY8" fmla="*/ 104898 h 885825"/>
              <a:gd name="csX9" fmla="*/ 104861 w 276225"/>
              <a:gd name="csY9" fmla="*/ 104898 h 8858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76225" h="885825">
                <a:moveTo>
                  <a:pt x="86" y="123"/>
                </a:moveTo>
                <a:cubicBezTo>
                  <a:pt x="91240" y="123"/>
                  <a:pt x="182395" y="123"/>
                  <a:pt x="276311" y="123"/>
                </a:cubicBezTo>
                <a:cubicBezTo>
                  <a:pt x="276311" y="292445"/>
                  <a:pt x="276311" y="584768"/>
                  <a:pt x="276311" y="885948"/>
                </a:cubicBezTo>
                <a:cubicBezTo>
                  <a:pt x="185157" y="885948"/>
                  <a:pt x="94003" y="885948"/>
                  <a:pt x="86" y="885948"/>
                </a:cubicBezTo>
                <a:cubicBezTo>
                  <a:pt x="86" y="593626"/>
                  <a:pt x="86" y="301304"/>
                  <a:pt x="86" y="123"/>
                </a:cubicBezTo>
                <a:close/>
                <a:moveTo>
                  <a:pt x="104861" y="104898"/>
                </a:moveTo>
                <a:cubicBezTo>
                  <a:pt x="104861" y="331212"/>
                  <a:pt x="104861" y="557526"/>
                  <a:pt x="104861" y="790698"/>
                </a:cubicBezTo>
                <a:cubicBezTo>
                  <a:pt x="130007" y="790698"/>
                  <a:pt x="155153" y="790698"/>
                  <a:pt x="181061" y="790698"/>
                </a:cubicBezTo>
                <a:cubicBezTo>
                  <a:pt x="181061" y="564384"/>
                  <a:pt x="181061" y="338070"/>
                  <a:pt x="181061" y="104898"/>
                </a:cubicBezTo>
                <a:cubicBezTo>
                  <a:pt x="155915" y="104898"/>
                  <a:pt x="130769" y="104898"/>
                  <a:pt x="104861" y="104898"/>
                </a:cubicBezTo>
                <a:close/>
              </a:path>
            </a:pathLst>
          </a:custGeom>
          <a:solidFill>
            <a:srgbClr val="0070C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71088E8B-F1EA-9F0C-76AD-9FE880DC4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1281" y="4799291"/>
            <a:ext cx="266700" cy="704850"/>
          </a:xfrm>
          <a:custGeom>
            <a:avLst/>
            <a:gdLst>
              <a:gd name="csX0" fmla="*/ 50 w 266700"/>
              <a:gd name="csY0" fmla="*/ 142 h 704850"/>
              <a:gd name="csX1" fmla="*/ 266750 w 266700"/>
              <a:gd name="csY1" fmla="*/ 142 h 704850"/>
              <a:gd name="csX2" fmla="*/ 266750 w 266700"/>
              <a:gd name="csY2" fmla="*/ 704992 h 704850"/>
              <a:gd name="csX3" fmla="*/ 50 w 266700"/>
              <a:gd name="csY3" fmla="*/ 704992 h 704850"/>
              <a:gd name="csX4" fmla="*/ 50 w 266700"/>
              <a:gd name="csY4" fmla="*/ 142 h 704850"/>
              <a:gd name="csX5" fmla="*/ 95300 w 266700"/>
              <a:gd name="csY5" fmla="*/ 95392 h 704850"/>
              <a:gd name="csX6" fmla="*/ 95300 w 266700"/>
              <a:gd name="csY6" fmla="*/ 609742 h 704850"/>
              <a:gd name="csX7" fmla="*/ 171500 w 266700"/>
              <a:gd name="csY7" fmla="*/ 609742 h 704850"/>
              <a:gd name="csX8" fmla="*/ 171500 w 266700"/>
              <a:gd name="csY8" fmla="*/ 95392 h 704850"/>
              <a:gd name="csX9" fmla="*/ 95300 w 266700"/>
              <a:gd name="csY9" fmla="*/ 95392 h 7048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6700" h="704850">
                <a:moveTo>
                  <a:pt x="50" y="142"/>
                </a:moveTo>
                <a:cubicBezTo>
                  <a:pt x="88061" y="142"/>
                  <a:pt x="176072" y="142"/>
                  <a:pt x="266750" y="142"/>
                </a:cubicBezTo>
                <a:cubicBezTo>
                  <a:pt x="266750" y="232743"/>
                  <a:pt x="266750" y="465343"/>
                  <a:pt x="266750" y="704992"/>
                </a:cubicBezTo>
                <a:cubicBezTo>
                  <a:pt x="178739" y="704992"/>
                  <a:pt x="90728" y="704992"/>
                  <a:pt x="50" y="704992"/>
                </a:cubicBezTo>
                <a:cubicBezTo>
                  <a:pt x="50" y="472392"/>
                  <a:pt x="50" y="239791"/>
                  <a:pt x="50" y="142"/>
                </a:cubicBezTo>
                <a:close/>
                <a:moveTo>
                  <a:pt x="95300" y="95392"/>
                </a:moveTo>
                <a:cubicBezTo>
                  <a:pt x="95300" y="265128"/>
                  <a:pt x="95300" y="434863"/>
                  <a:pt x="95300" y="609742"/>
                </a:cubicBezTo>
                <a:cubicBezTo>
                  <a:pt x="120446" y="609742"/>
                  <a:pt x="145592" y="609742"/>
                  <a:pt x="171500" y="609742"/>
                </a:cubicBezTo>
                <a:cubicBezTo>
                  <a:pt x="171500" y="440007"/>
                  <a:pt x="171500" y="270271"/>
                  <a:pt x="171500" y="95392"/>
                </a:cubicBezTo>
                <a:cubicBezTo>
                  <a:pt x="146354" y="95392"/>
                  <a:pt x="121208" y="95392"/>
                  <a:pt x="95300" y="95392"/>
                </a:cubicBezTo>
                <a:close/>
              </a:path>
            </a:pathLst>
          </a:custGeom>
          <a:solidFill>
            <a:srgbClr val="00B0F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75867018-448C-E15E-8ED0-84E359B16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19031" y="5227916"/>
            <a:ext cx="533400" cy="104775"/>
          </a:xfrm>
          <a:custGeom>
            <a:avLst/>
            <a:gdLst>
              <a:gd name="csX0" fmla="*/ 160 w 533400"/>
              <a:gd name="csY0" fmla="*/ 187 h 104775"/>
              <a:gd name="csX1" fmla="*/ 533560 w 533400"/>
              <a:gd name="csY1" fmla="*/ 187 h 104775"/>
              <a:gd name="csX2" fmla="*/ 533560 w 533400"/>
              <a:gd name="csY2" fmla="*/ 104962 h 104775"/>
              <a:gd name="csX3" fmla="*/ 160 w 533400"/>
              <a:gd name="csY3" fmla="*/ 104962 h 104775"/>
              <a:gd name="csX4" fmla="*/ 160 w 533400"/>
              <a:gd name="csY4" fmla="*/ 187 h 104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3400" h="104775">
                <a:moveTo>
                  <a:pt x="160" y="187"/>
                </a:moveTo>
                <a:cubicBezTo>
                  <a:pt x="176182" y="187"/>
                  <a:pt x="352204" y="187"/>
                  <a:pt x="533560" y="187"/>
                </a:cubicBezTo>
                <a:cubicBezTo>
                  <a:pt x="533560" y="34763"/>
                  <a:pt x="533560" y="69339"/>
                  <a:pt x="533560" y="104962"/>
                </a:cubicBezTo>
                <a:cubicBezTo>
                  <a:pt x="357538" y="104962"/>
                  <a:pt x="181516" y="104962"/>
                  <a:pt x="160" y="104962"/>
                </a:cubicBezTo>
                <a:cubicBezTo>
                  <a:pt x="160" y="70386"/>
                  <a:pt x="160" y="35811"/>
                  <a:pt x="160" y="187"/>
                </a:cubicBezTo>
                <a:close/>
              </a:path>
            </a:pathLst>
          </a:custGeom>
          <a:solidFill>
            <a:srgbClr val="FF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6E5530EF-B5A7-EF4E-D073-103450214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19031" y="5408891"/>
            <a:ext cx="533400" cy="95250"/>
          </a:xfrm>
          <a:custGeom>
            <a:avLst/>
            <a:gdLst>
              <a:gd name="csX0" fmla="*/ 160 w 533400"/>
              <a:gd name="csY0" fmla="*/ 206 h 95250"/>
              <a:gd name="csX1" fmla="*/ 533560 w 533400"/>
              <a:gd name="csY1" fmla="*/ 206 h 95250"/>
              <a:gd name="csX2" fmla="*/ 533560 w 533400"/>
              <a:gd name="csY2" fmla="*/ 95456 h 95250"/>
              <a:gd name="csX3" fmla="*/ 160 w 533400"/>
              <a:gd name="csY3" fmla="*/ 95456 h 95250"/>
              <a:gd name="csX4" fmla="*/ 160 w 533400"/>
              <a:gd name="csY4" fmla="*/ 206 h 95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3400" h="95250">
                <a:moveTo>
                  <a:pt x="160" y="206"/>
                </a:moveTo>
                <a:cubicBezTo>
                  <a:pt x="176182" y="206"/>
                  <a:pt x="352204" y="206"/>
                  <a:pt x="533560" y="206"/>
                </a:cubicBezTo>
                <a:cubicBezTo>
                  <a:pt x="533560" y="31639"/>
                  <a:pt x="533560" y="63071"/>
                  <a:pt x="533560" y="95456"/>
                </a:cubicBezTo>
                <a:cubicBezTo>
                  <a:pt x="357538" y="95456"/>
                  <a:pt x="181516" y="95456"/>
                  <a:pt x="160" y="95456"/>
                </a:cubicBezTo>
                <a:cubicBezTo>
                  <a:pt x="160" y="64024"/>
                  <a:pt x="160" y="32591"/>
                  <a:pt x="160" y="206"/>
                </a:cubicBezTo>
                <a:close/>
              </a:path>
            </a:pathLst>
          </a:custGeom>
          <a:solidFill>
            <a:srgbClr val="00B0F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D32F2100-84B3-97D1-2D64-0689C4F7C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19031" y="5056466"/>
            <a:ext cx="533400" cy="95250"/>
          </a:xfrm>
          <a:custGeom>
            <a:avLst/>
            <a:gdLst>
              <a:gd name="csX0" fmla="*/ 160 w 533400"/>
              <a:gd name="csY0" fmla="*/ 169 h 95250"/>
              <a:gd name="csX1" fmla="*/ 533560 w 533400"/>
              <a:gd name="csY1" fmla="*/ 169 h 95250"/>
              <a:gd name="csX2" fmla="*/ 533560 w 533400"/>
              <a:gd name="csY2" fmla="*/ 95419 h 95250"/>
              <a:gd name="csX3" fmla="*/ 160 w 533400"/>
              <a:gd name="csY3" fmla="*/ 95419 h 95250"/>
              <a:gd name="csX4" fmla="*/ 160 w 533400"/>
              <a:gd name="csY4" fmla="*/ 169 h 95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3400" h="95250">
                <a:moveTo>
                  <a:pt x="160" y="169"/>
                </a:moveTo>
                <a:cubicBezTo>
                  <a:pt x="176182" y="169"/>
                  <a:pt x="352204" y="169"/>
                  <a:pt x="533560" y="169"/>
                </a:cubicBezTo>
                <a:cubicBezTo>
                  <a:pt x="533560" y="31602"/>
                  <a:pt x="533560" y="63034"/>
                  <a:pt x="533560" y="95419"/>
                </a:cubicBezTo>
                <a:cubicBezTo>
                  <a:pt x="357538" y="95419"/>
                  <a:pt x="181516" y="95419"/>
                  <a:pt x="160" y="95419"/>
                </a:cubicBezTo>
                <a:cubicBezTo>
                  <a:pt x="160" y="63987"/>
                  <a:pt x="160" y="32554"/>
                  <a:pt x="160" y="169"/>
                </a:cubicBezTo>
                <a:close/>
              </a:path>
            </a:pathLst>
          </a:custGeom>
          <a:solidFill>
            <a:srgbClr val="92D05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105CEE6B-840D-90C4-A2B0-1F3167265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19031" y="4885016"/>
            <a:ext cx="533400" cy="95250"/>
          </a:xfrm>
          <a:custGeom>
            <a:avLst/>
            <a:gdLst>
              <a:gd name="csX0" fmla="*/ 160 w 533400"/>
              <a:gd name="csY0" fmla="*/ 151 h 95250"/>
              <a:gd name="csX1" fmla="*/ 533560 w 533400"/>
              <a:gd name="csY1" fmla="*/ 151 h 95250"/>
              <a:gd name="csX2" fmla="*/ 533560 w 533400"/>
              <a:gd name="csY2" fmla="*/ 95401 h 95250"/>
              <a:gd name="csX3" fmla="*/ 160 w 533400"/>
              <a:gd name="csY3" fmla="*/ 95401 h 95250"/>
              <a:gd name="csX4" fmla="*/ 160 w 533400"/>
              <a:gd name="csY4" fmla="*/ 151 h 95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33400" h="95250">
                <a:moveTo>
                  <a:pt x="160" y="151"/>
                </a:moveTo>
                <a:cubicBezTo>
                  <a:pt x="176182" y="151"/>
                  <a:pt x="352204" y="151"/>
                  <a:pt x="533560" y="151"/>
                </a:cubicBezTo>
                <a:cubicBezTo>
                  <a:pt x="533560" y="31584"/>
                  <a:pt x="533560" y="63016"/>
                  <a:pt x="533560" y="95401"/>
                </a:cubicBezTo>
                <a:cubicBezTo>
                  <a:pt x="357538" y="95401"/>
                  <a:pt x="181516" y="95401"/>
                  <a:pt x="160" y="95401"/>
                </a:cubicBezTo>
                <a:cubicBezTo>
                  <a:pt x="160" y="63969"/>
                  <a:pt x="160" y="32536"/>
                  <a:pt x="160" y="151"/>
                </a:cubicBezTo>
                <a:close/>
              </a:path>
            </a:pathLst>
          </a:custGeom>
          <a:solidFill>
            <a:srgbClr val="002060"/>
          </a:solidFill>
          <a:ln w="25400" cap="flat">
            <a:solidFill>
              <a:srgbClr val="EF7F0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459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95842-23B8-1F74-50B7-334C8215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EFE83F6-24D4-2639-5D7D-BA1722E996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D39F2F1-1A59-CAAF-9E52-CE5EE9F665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834268" y="2602578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CCA68EA-59BA-4C76-FBC4-E700471A47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B70D2A0-4315-DD1F-F6FF-0282DD3A5E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63" t="14430" r="11013" b="13723"/>
          <a:stretch>
            <a:fillRect/>
          </a:stretch>
        </p:blipFill>
        <p:spPr>
          <a:xfrm>
            <a:off x="2939542" y="390028"/>
            <a:ext cx="6312917" cy="607794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532F69F6-8A22-C467-C513-C19E8FFD6161}"/>
              </a:ext>
            </a:extLst>
          </p:cNvPr>
          <p:cNvSpPr txBox="1"/>
          <p:nvPr/>
        </p:nvSpPr>
        <p:spPr>
          <a:xfrm>
            <a:off x="328544" y="6858000"/>
            <a:ext cx="117936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 Rounded MT Bold" panose="020F0704030504030204" pitchFamily="34" charset="0"/>
              </a:rPr>
              <a:t>How can a single platform protect every transfer with real-time fraud detection while unifying the user's scattered bank operations in one clear view ?</a:t>
            </a:r>
          </a:p>
        </p:txBody>
      </p:sp>
    </p:spTree>
    <p:extLst>
      <p:ext uri="{BB962C8B-B14F-4D97-AF65-F5344CB8AC3E}">
        <p14:creationId xmlns:p14="http://schemas.microsoft.com/office/powerpoint/2010/main" val="2874089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8DA47-6A36-0B4D-CBC2-51BA6BB57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4C658E0-3034-2159-2E67-756E8C0A5F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126918E-FBE2-8CDE-9A05-9942BE0FE8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834268" y="2602578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F412E4A-9CDE-3EC1-0707-C055B3A27E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93D0C1E-1B77-F37A-57A1-36CFE2C85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63" t="14430" r="11013" b="13723"/>
          <a:stretch>
            <a:fillRect/>
          </a:stretch>
        </p:blipFill>
        <p:spPr>
          <a:xfrm>
            <a:off x="3927763" y="225756"/>
            <a:ext cx="4336473" cy="417506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5A3C7E4-B816-587C-3F24-91BB50A51FAF}"/>
              </a:ext>
            </a:extLst>
          </p:cNvPr>
          <p:cNvSpPr txBox="1"/>
          <p:nvPr/>
        </p:nvSpPr>
        <p:spPr>
          <a:xfrm>
            <a:off x="328544" y="4769429"/>
            <a:ext cx="117936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 Rounded MT Bold" panose="020F0704030504030204" pitchFamily="34" charset="0"/>
              </a:rPr>
              <a:t>How can a single platform protect every transfer with real-time fraud detection while unifying the user's scattered bank operations in one clear view ?</a:t>
            </a:r>
          </a:p>
        </p:txBody>
      </p:sp>
    </p:spTree>
    <p:extLst>
      <p:ext uri="{BB962C8B-B14F-4D97-AF65-F5344CB8AC3E}">
        <p14:creationId xmlns:p14="http://schemas.microsoft.com/office/powerpoint/2010/main" val="1793408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C70DE-8E67-BFB3-6277-39C1BC6B3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raphic 41">
            <a:extLst>
              <a:ext uri="{FF2B5EF4-FFF2-40B4-BE49-F238E27FC236}">
                <a16:creationId xmlns:a16="http://schemas.microsoft.com/office/drawing/2014/main" id="{6AD873ED-AEA2-B1FE-0E9C-44BDCCD9D3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F417F112-A599-0EFA-5AAD-FA9BC29815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834268" y="2602578"/>
            <a:ext cx="5176827" cy="5040595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A187F193-F6A8-BA21-907E-93DD681081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9EBC888-BED1-E311-F3F5-6726E0B7F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C8DF43-D2A1-9FB0-51DA-A7CD0C6A4287}"/>
              </a:ext>
            </a:extLst>
          </p:cNvPr>
          <p:cNvSpPr txBox="1"/>
          <p:nvPr/>
        </p:nvSpPr>
        <p:spPr>
          <a:xfrm>
            <a:off x="273698" y="2613392"/>
            <a:ext cx="1164460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0" b="1" dirty="0">
                <a:latin typeface="Aptos Slab Black" panose="020B0004020202020204" pitchFamily="34" charset="0"/>
              </a:rPr>
              <a:t>Existing Solutions</a:t>
            </a:r>
            <a:endParaRPr lang="en-US" sz="10000" dirty="0">
              <a:latin typeface="Aptos Slab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059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CBB546-8AE6-313B-4234-9A0B1D5CF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raphic 41">
            <a:extLst>
              <a:ext uri="{FF2B5EF4-FFF2-40B4-BE49-F238E27FC236}">
                <a16:creationId xmlns:a16="http://schemas.microsoft.com/office/drawing/2014/main" id="{0BBE5250-74C9-4E07-4509-34A8D8EBE9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EEA26586-2DA1-A6E3-D836-3129FB8F5E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834268" y="2602578"/>
            <a:ext cx="5176827" cy="5040595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887826E4-EF5F-C126-EED4-D98564CF12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D568A27-D17B-BA59-1B6B-1C3FD5E2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017E13-46F9-6EA5-967C-D3B62C26F707}"/>
              </a:ext>
            </a:extLst>
          </p:cNvPr>
          <p:cNvSpPr txBox="1"/>
          <p:nvPr/>
        </p:nvSpPr>
        <p:spPr>
          <a:xfrm>
            <a:off x="0" y="0"/>
            <a:ext cx="6329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Aptos Slab Black" panose="020B0004020202020204" pitchFamily="34" charset="0"/>
              </a:rPr>
              <a:t>  Existing Solutions</a:t>
            </a:r>
            <a:endParaRPr lang="en-US" sz="5400" dirty="0">
              <a:latin typeface="Aptos Slab Black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B712BC-2DC6-9C12-B163-ABFEBC48EF14}"/>
              </a:ext>
            </a:extLst>
          </p:cNvPr>
          <p:cNvSpPr txBox="1"/>
          <p:nvPr/>
        </p:nvSpPr>
        <p:spPr>
          <a:xfrm>
            <a:off x="371821" y="727055"/>
            <a:ext cx="4411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i="1" dirty="0">
                <a:latin typeface="Arial Narrow" panose="020B0606020202030204" pitchFamily="34" charset="0"/>
              </a:rPr>
              <a:t>« </a:t>
            </a:r>
            <a:r>
              <a:rPr lang="en-US" sz="2400" i="1" dirty="0">
                <a:latin typeface="Arial Narrow" panose="020B0606020202030204" pitchFamily="34" charset="0"/>
              </a:rPr>
              <a:t>How far the market has come</a:t>
            </a:r>
            <a:r>
              <a:rPr lang="fr-FR" sz="2400" i="1" dirty="0">
                <a:latin typeface="Arial Narrow" panose="020B0606020202030204" pitchFamily="34" charset="0"/>
              </a:rPr>
              <a:t> »</a:t>
            </a:r>
            <a:endParaRPr lang="en-US" sz="2400" i="1" dirty="0">
              <a:latin typeface="Arial Narrow" panose="020B0606020202030204" pitchFamily="34" charset="0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EFC3EAD-F68B-D2BD-4D79-94A3AD543AF6}"/>
              </a:ext>
            </a:extLst>
          </p:cNvPr>
          <p:cNvGraphicFramePr>
            <a:graphicFrameLocks noGrp="1"/>
          </p:cNvGraphicFramePr>
          <p:nvPr/>
        </p:nvGraphicFramePr>
        <p:xfrm>
          <a:off x="755316" y="1829200"/>
          <a:ext cx="10681368" cy="40651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51768">
                  <a:extLst>
                    <a:ext uri="{9D8B030D-6E8A-4147-A177-3AD203B41FA5}">
                      <a16:colId xmlns:a16="http://schemas.microsoft.com/office/drawing/2014/main" val="194921252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41253718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27772058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08799599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00013952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150025952"/>
                    </a:ext>
                  </a:extLst>
                </a:gridCol>
              </a:tblGrid>
              <a:tr h="5807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Bierstadt" panose="020B0004020202020204" pitchFamily="34" charset="0"/>
                        </a:rPr>
                        <a:t>Objectives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Bierstadt" panose="020B0004020202020204" pitchFamily="34" charset="0"/>
                        </a:rPr>
                        <a:t> </a:t>
                      </a:r>
                      <a:r>
                        <a:rPr lang="en-US" sz="3200" b="1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↓</a:t>
                      </a:r>
                      <a:endParaRPr lang="en-US" sz="1800" b="1" i="0" u="non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3200" dirty="0">
                          <a:latin typeface="Aptos Slab Black" panose="020B0004020202020204" pitchFamily="34" charset="0"/>
                        </a:rPr>
                        <a:t>?</a:t>
                      </a:r>
                      <a:endParaRPr lang="en-US" sz="3200" dirty="0">
                        <a:latin typeface="Aptos Slab Black" panose="020B00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87082"/>
                  </a:ext>
                </a:extLst>
              </a:tr>
              <a:tr h="580736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>
                          <a:latin typeface="Arial Narrow" panose="020B0606020202030204" pitchFamily="34" charset="0"/>
                        </a:rPr>
                        <a:t>Client App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✗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✗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459024"/>
                  </a:ext>
                </a:extLst>
              </a:tr>
              <a:tr h="580736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>
                          <a:latin typeface="Arial Narrow" panose="020B0606020202030204" pitchFamily="34" charset="0"/>
                        </a:rPr>
                        <a:t>Unified View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✗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✗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B6B6B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◐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934789"/>
                  </a:ext>
                </a:extLst>
              </a:tr>
              <a:tr h="580736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>
                          <a:latin typeface="Arial Narrow" panose="020B0606020202030204" pitchFamily="34" charset="0"/>
                        </a:rPr>
                        <a:t>Open Banking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✗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226335"/>
                  </a:ext>
                </a:extLst>
              </a:tr>
              <a:tr h="580736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>
                          <a:latin typeface="Arial Narrow" panose="020B0606020202030204" pitchFamily="34" charset="0"/>
                        </a:rPr>
                        <a:t>Fraud Detection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B6B6B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◐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B6B6B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◐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496131"/>
                  </a:ext>
                </a:extLst>
              </a:tr>
              <a:tr h="580736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>
                          <a:latin typeface="Arial Narrow" panose="020B0606020202030204" pitchFamily="34" charset="0"/>
                        </a:rPr>
                        <a:t>Real-time Alerts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✗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888345"/>
                  </a:ext>
                </a:extLst>
              </a:tr>
              <a:tr h="580736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>
                          <a:latin typeface="Arial Narrow" panose="020B0606020202030204" pitchFamily="34" charset="0"/>
                        </a:rPr>
                        <a:t>Staff Console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✗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✗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B6B6B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◐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>
                          <a:solidFill>
                            <a:srgbClr val="1A7A4A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✓</a:t>
                      </a:r>
                    </a:p>
                  </a:txBody>
                  <a:tcPr>
                    <a:solidFill>
                      <a:schemeClr val="bg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506747"/>
                  </a:ext>
                </a:extLst>
              </a:tr>
            </a:tbl>
          </a:graphicData>
        </a:graphic>
      </p:graphicFrame>
      <p:pic>
        <p:nvPicPr>
          <p:cNvPr id="31" name="Picture 30">
            <a:extLst>
              <a:ext uri="{FF2B5EF4-FFF2-40B4-BE49-F238E27FC236}">
                <a16:creationId xmlns:a16="http://schemas.microsoft.com/office/drawing/2014/main" id="{ABF0CF6A-58DE-78A8-2F2A-457EB1035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312" y="1906680"/>
            <a:ext cx="1334896" cy="43014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E9C54F8-ACAF-4689-EF8C-CD16F1A5DA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686" y="1898297"/>
            <a:ext cx="1423275" cy="44525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70BC5C3-E31D-C041-31C6-717E2D5050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858" y="1882316"/>
            <a:ext cx="1142192" cy="493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A6E73D7-0063-9FF3-F5A1-D494282AAE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955" y="1868340"/>
            <a:ext cx="916067" cy="52168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D62C2FD-2810-757D-43C0-0864C60D0F2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7001" b="16382"/>
          <a:stretch>
            <a:fillRect/>
          </a:stretch>
        </p:blipFill>
        <p:spPr>
          <a:xfrm>
            <a:off x="3738644" y="1449308"/>
            <a:ext cx="549055" cy="36576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8783A08-ABCB-DCC3-7C66-11B04F8975D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875" t="18061" r="2000" b="18062"/>
          <a:stretch>
            <a:fillRect/>
          </a:stretch>
        </p:blipFill>
        <p:spPr>
          <a:xfrm>
            <a:off x="8685038" y="1449308"/>
            <a:ext cx="550415" cy="36576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D9EFE53-6F77-BBF9-D110-D2E1D5F886F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875" t="18061" r="2479" b="18062"/>
          <a:stretch>
            <a:fillRect/>
          </a:stretch>
        </p:blipFill>
        <p:spPr>
          <a:xfrm>
            <a:off x="7039985" y="1449308"/>
            <a:ext cx="547675" cy="36576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45188D5-A540-E78D-703D-4837D178052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7114" b="16211"/>
          <a:stretch>
            <a:fillRect/>
          </a:stretch>
        </p:blipFill>
        <p:spPr>
          <a:xfrm>
            <a:off x="5394257" y="1449308"/>
            <a:ext cx="548575" cy="36576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CCC8E02-6053-E5E0-1BD6-61A6B2E7087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6371" b="16643"/>
          <a:stretch>
            <a:fillRect/>
          </a:stretch>
        </p:blipFill>
        <p:spPr>
          <a:xfrm>
            <a:off x="10331745" y="1449308"/>
            <a:ext cx="546031" cy="36576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41046A70-465E-01F9-A8FF-A3E20B348A3A}"/>
              </a:ext>
            </a:extLst>
          </p:cNvPr>
          <p:cNvSpPr txBox="1"/>
          <p:nvPr/>
        </p:nvSpPr>
        <p:spPr>
          <a:xfrm>
            <a:off x="479790" y="6052960"/>
            <a:ext cx="11552883" cy="461665"/>
          </a:xfrm>
          <a:prstGeom prst="rect">
            <a:avLst/>
          </a:prstGeom>
          <a:solidFill>
            <a:srgbClr val="F1FAEE">
              <a:alpha val="36000"/>
            </a:srgbClr>
          </a:solidFill>
        </p:spPr>
        <p:txBody>
          <a:bodyPr wrap="square" rtlCol="0">
            <a:spAutoFit/>
          </a:bodyPr>
          <a:lstStyle/>
          <a:p>
            <a:r>
              <a:rPr lang="fr-FR" sz="2400" i="1" u="sng" dirty="0">
                <a:latin typeface="Amasis MT Pro" panose="02040504050005020304" pitchFamily="18" charset="0"/>
              </a:rPr>
              <a:t> </a:t>
            </a:r>
            <a:r>
              <a:rPr lang="en-US" sz="2400" b="1" i="1" u="sng" dirty="0">
                <a:latin typeface="Amasis MT Pro" panose="02040504050005020304" pitchFamily="18" charset="0"/>
              </a:rPr>
              <a:t>Each solves one piece of the problem. But none puts them together in one system.</a:t>
            </a:r>
          </a:p>
        </p:txBody>
      </p:sp>
    </p:spTree>
    <p:extLst>
      <p:ext uri="{BB962C8B-B14F-4D97-AF65-F5344CB8AC3E}">
        <p14:creationId xmlns:p14="http://schemas.microsoft.com/office/powerpoint/2010/main" val="10338094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6CB677-AD58-AF7D-ECDA-3EA22B604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C2D3B1D-666C-BA54-F4CB-FCE8997198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9995A45-695E-6781-0846-C86E3B6CBA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0E9401A-4573-AAF6-7307-82F16BFE3D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EF09D73-0F83-9B8D-1859-AD8C01B8E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F18533-DB70-542C-BF36-540A97FEF1B4}"/>
              </a:ext>
            </a:extLst>
          </p:cNvPr>
          <p:cNvSpPr txBox="1"/>
          <p:nvPr/>
        </p:nvSpPr>
        <p:spPr>
          <a:xfrm>
            <a:off x="1" y="2613392"/>
            <a:ext cx="12192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0" b="1" i="0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ptos Slab Black" panose="020B0004020202020204" pitchFamily="34" charset="0"/>
                <a:ea typeface="+mn-ea"/>
                <a:cs typeface="+mn-cs"/>
              </a:rPr>
              <a:t>Proposed Solution</a:t>
            </a:r>
            <a:endParaRPr kumimoji="0" lang="en-US" sz="100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404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5270C2-D255-B8FB-DDD0-C5C96F70E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1DC3132-ABC8-F7C2-E58F-4636F67BAA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D770691-8A79-93E0-047F-04700DC20B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628015F-F540-44F2-B19D-8CFF2E9303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396870C-9D35-95AB-5E4C-1012BE752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2101BB-815A-FD71-E846-14EC430BB5F2}"/>
              </a:ext>
            </a:extLst>
          </p:cNvPr>
          <p:cNvSpPr txBox="1"/>
          <p:nvPr/>
        </p:nvSpPr>
        <p:spPr>
          <a:xfrm>
            <a:off x="0" y="0"/>
            <a:ext cx="6494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ptos Slab Black" panose="020B0004020202020204" pitchFamily="34" charset="0"/>
                <a:ea typeface="+mn-ea"/>
                <a:cs typeface="+mn-cs"/>
              </a:rPr>
              <a:t>  Proposed Solution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6F1DBA-760A-B3D4-7FD6-CA713676AE86}"/>
              </a:ext>
            </a:extLst>
          </p:cNvPr>
          <p:cNvSpPr txBox="1"/>
          <p:nvPr/>
        </p:nvSpPr>
        <p:spPr>
          <a:xfrm>
            <a:off x="371821" y="727055"/>
            <a:ext cx="4290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The answer to the question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1B89777-8014-08FD-0C2B-BCFD577273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3925" y="1177789"/>
            <a:ext cx="3424150" cy="2825345"/>
          </a:xfrm>
          <a:prstGeom prst="rect">
            <a:avLst/>
          </a:prstGeom>
        </p:spPr>
      </p:pic>
      <p:sp>
        <p:nvSpPr>
          <p:cNvPr id="30" name="Rectangle: Diagonal Corners Snipped 29">
            <a:extLst>
              <a:ext uri="{FF2B5EF4-FFF2-40B4-BE49-F238E27FC236}">
                <a16:creationId xmlns:a16="http://schemas.microsoft.com/office/drawing/2014/main" id="{5201C3AF-CB74-2B84-C240-8A192E9CF9D1}"/>
              </a:ext>
            </a:extLst>
          </p:cNvPr>
          <p:cNvSpPr/>
          <p:nvPr/>
        </p:nvSpPr>
        <p:spPr>
          <a:xfrm>
            <a:off x="4224814" y="4905915"/>
            <a:ext cx="3742373" cy="1394874"/>
          </a:xfrm>
          <a:prstGeom prst="snip2DiagRect">
            <a:avLst>
              <a:gd name="adj1" fmla="val 50000"/>
              <a:gd name="adj2" fmla="val 216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masis MT Pro Medium" panose="02040604050005020304" pitchFamily="18" charset="0"/>
              </a:rPr>
              <a:t>— Intelligent —</a:t>
            </a:r>
          </a:p>
          <a:p>
            <a:pPr algn="ctr"/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scoring engine</a:t>
            </a:r>
          </a:p>
        </p:txBody>
      </p:sp>
      <p:sp>
        <p:nvSpPr>
          <p:cNvPr id="31" name="Rectangle: Diagonal Corners Snipped 30">
            <a:extLst>
              <a:ext uri="{FF2B5EF4-FFF2-40B4-BE49-F238E27FC236}">
                <a16:creationId xmlns:a16="http://schemas.microsoft.com/office/drawing/2014/main" id="{232B92B9-3F3B-507B-0824-E8EA7585C179}"/>
              </a:ext>
            </a:extLst>
          </p:cNvPr>
          <p:cNvSpPr/>
          <p:nvPr/>
        </p:nvSpPr>
        <p:spPr>
          <a:xfrm>
            <a:off x="175611" y="4905915"/>
            <a:ext cx="3742372" cy="1394874"/>
          </a:xfrm>
          <a:prstGeom prst="snip2DiagRect">
            <a:avLst>
              <a:gd name="adj1" fmla="val 50000"/>
              <a:gd name="adj2" fmla="val 216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masis MT Pro Medium" panose="02040604050005020304" pitchFamily="18" charset="0"/>
              </a:rPr>
              <a:t>— Easy —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app, all banks</a:t>
            </a:r>
          </a:p>
        </p:txBody>
      </p:sp>
      <p:sp>
        <p:nvSpPr>
          <p:cNvPr id="33" name="Rectangle: Diagonal Corners Snipped 32">
            <a:extLst>
              <a:ext uri="{FF2B5EF4-FFF2-40B4-BE49-F238E27FC236}">
                <a16:creationId xmlns:a16="http://schemas.microsoft.com/office/drawing/2014/main" id="{2D544DC6-B121-75AE-696A-6008D636C350}"/>
              </a:ext>
            </a:extLst>
          </p:cNvPr>
          <p:cNvSpPr/>
          <p:nvPr/>
        </p:nvSpPr>
        <p:spPr>
          <a:xfrm>
            <a:off x="8274018" y="4905915"/>
            <a:ext cx="3742373" cy="1394874"/>
          </a:xfrm>
          <a:prstGeom prst="snip2DiagRect">
            <a:avLst>
              <a:gd name="adj1" fmla="val 50000"/>
              <a:gd name="adj2" fmla="val 216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masis MT Pro Medium" panose="02040604050005020304" pitchFamily="18" charset="0"/>
              </a:rPr>
              <a:t>— Trusted —</a:t>
            </a:r>
          </a:p>
          <a:p>
            <a:pPr algn="ctr"/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Decided by expert analyst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737237CE-398B-20BB-715B-920F5DA20A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4820" y="4137777"/>
            <a:ext cx="9382360" cy="43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743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34C19B-FEE1-D0F4-CE26-B8B80AF3D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82CECC3-AC4C-8B18-68BE-6BDE1FBEFB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1E60475-F29C-5DF2-9F8E-CFDD6C095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4646FA6-628F-79D9-793C-750A85086C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F7EEB94-D6A8-F71E-8ABE-1FE218E00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80FA88-7054-4163-8471-38FE14D842D9}"/>
              </a:ext>
            </a:extLst>
          </p:cNvPr>
          <p:cNvSpPr txBox="1"/>
          <p:nvPr/>
        </p:nvSpPr>
        <p:spPr>
          <a:xfrm>
            <a:off x="0" y="0"/>
            <a:ext cx="6494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ptos Slab Black" panose="020B0004020202020204" pitchFamily="34" charset="0"/>
                <a:ea typeface="+mn-ea"/>
                <a:cs typeface="+mn-cs"/>
              </a:rPr>
              <a:t>  Proposed Solution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2FDD0C-38EA-1927-CBBF-48AD4B97E949}"/>
              </a:ext>
            </a:extLst>
          </p:cNvPr>
          <p:cNvSpPr txBox="1"/>
          <p:nvPr/>
        </p:nvSpPr>
        <p:spPr>
          <a:xfrm>
            <a:off x="371821" y="727055"/>
            <a:ext cx="435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Why </a:t>
            </a:r>
            <a:r>
              <a:rPr lang="en-US" sz="2400" i="1" dirty="0" err="1">
                <a:solidFill>
                  <a:srgbClr val="003F76"/>
                </a:solidFill>
                <a:latin typeface="Arial Narrow" panose="020B0606020202030204" pitchFamily="34" charset="0"/>
              </a:rPr>
              <a:t>PayZo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 works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fr-FR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better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7B1EA-7B10-8763-BCC2-E721F509D8DA}"/>
              </a:ext>
            </a:extLst>
          </p:cNvPr>
          <p:cNvSpPr txBox="1"/>
          <p:nvPr/>
        </p:nvSpPr>
        <p:spPr>
          <a:xfrm>
            <a:off x="371820" y="1366936"/>
            <a:ext cx="66433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masis MT Pro" panose="02040504050005020304" pitchFamily="18" charset="0"/>
              </a:rPr>
              <a:t>To face this problem, </a:t>
            </a:r>
            <a:r>
              <a:rPr lang="en-US" sz="2400" dirty="0" err="1">
                <a:latin typeface="Amasis MT Pro" panose="02040504050005020304" pitchFamily="18" charset="0"/>
              </a:rPr>
              <a:t>PayZo</a:t>
            </a:r>
            <a:r>
              <a:rPr lang="en-US" sz="2400" dirty="0">
                <a:latin typeface="Amasis MT Pro" panose="02040504050005020304" pitchFamily="18" charset="0"/>
              </a:rPr>
              <a:t> follows a 2 layer fix: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AC85FF2D-3F3E-0F78-6B5B-63CCE9FD5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5180373" y="1977276"/>
            <a:ext cx="5067964" cy="4606404"/>
          </a:xfrm>
          <a:prstGeom prst="homePlate">
            <a:avLst>
              <a:gd name="adj" fmla="val 3014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EED341-5FEE-C031-986C-A9E4E36CA461}"/>
              </a:ext>
            </a:extLst>
          </p:cNvPr>
          <p:cNvSpPr txBox="1"/>
          <p:nvPr/>
        </p:nvSpPr>
        <p:spPr>
          <a:xfrm>
            <a:off x="-5180374" y="1975199"/>
            <a:ext cx="422779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masis MT Pro" panose="02040504050005020304" pitchFamily="18" charset="0"/>
              </a:rPr>
              <a:t>ROOT FIX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(closes the structural gap)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C61F308B-949E-07DB-0F08-C31DCC90FE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840680" y="3157978"/>
            <a:ext cx="865204" cy="865204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E0294C02-68E1-F7C4-3236-BD5650D6A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548614" y="4024220"/>
            <a:ext cx="865204" cy="865204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98CFFEC-1F26-0702-96EF-426B7141C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896512" y="4024220"/>
            <a:ext cx="865204" cy="86520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19E6745-EA1E-6035-2AF1-A1B57DFF57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4188578" y="3156940"/>
            <a:ext cx="865204" cy="865204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AADD38F0-021F-C28B-2FD9-15D80562D5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5195614" y="4024220"/>
            <a:ext cx="865204" cy="865204"/>
          </a:xfrm>
          <a:prstGeom prst="rect">
            <a:avLst/>
          </a:prstGeom>
        </p:spPr>
      </p:pic>
      <p:sp>
        <p:nvSpPr>
          <p:cNvPr id="33" name="Arrow: Right 32">
            <a:extLst>
              <a:ext uri="{FF2B5EF4-FFF2-40B4-BE49-F238E27FC236}">
                <a16:creationId xmlns:a16="http://schemas.microsoft.com/office/drawing/2014/main" id="{4778364A-8F63-DF7F-B006-12FAE0FBB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957063" y="3843556"/>
            <a:ext cx="775618" cy="565120"/>
          </a:xfrm>
          <a:prstGeom prst="rightArrow">
            <a:avLst>
              <a:gd name="adj1" fmla="val 50000"/>
              <a:gd name="adj2" fmla="val 73372"/>
            </a:avLst>
          </a:prstGeom>
          <a:gradFill flip="none" rotWithShape="1">
            <a:gsLst>
              <a:gs pos="6000">
                <a:srgbClr val="163C5E"/>
              </a:gs>
              <a:gs pos="100000">
                <a:srgbClr val="C1DAF1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F819767E-7A89-3AE9-79FA-3285D04A5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5267365" y="2826336"/>
            <a:ext cx="2363515" cy="236351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EACC64D-111E-5EB7-82DE-E94362F8CE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167370" y="3318311"/>
            <a:ext cx="1654036" cy="165403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AB2C59E-E954-D4EE-AE74-4394DFF30647}"/>
              </a:ext>
            </a:extLst>
          </p:cNvPr>
          <p:cNvSpPr txBox="1"/>
          <p:nvPr/>
        </p:nvSpPr>
        <p:spPr>
          <a:xfrm>
            <a:off x="-5195614" y="5166703"/>
            <a:ext cx="35484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 Bold" panose="020F0704030504030204" pitchFamily="34" charset="0"/>
              </a:rPr>
              <a:t>Unifies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 Bold" panose="020F0704030504030204" pitchFamily="34" charset="0"/>
              </a:rPr>
              <a:t>Improves the 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 Bold" panose="020F0704030504030204" pitchFamily="34" charset="0"/>
              </a:rPr>
              <a:t>Connect the banks</a:t>
            </a:r>
          </a:p>
        </p:txBody>
      </p:sp>
    </p:spTree>
    <p:extLst>
      <p:ext uri="{BB962C8B-B14F-4D97-AF65-F5344CB8AC3E}">
        <p14:creationId xmlns:p14="http://schemas.microsoft.com/office/powerpoint/2010/main" val="393193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298987-1086-491F-420D-5A0BB3D34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5BD67C7-4EA7-EF4A-1581-B47614233F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A5AC117-13E2-DBED-38ED-C7F81E28E1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A19FEA8F-E6D4-C6CC-56A7-3BF28E6B7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655510" y="1975199"/>
            <a:ext cx="7446412" cy="4606404"/>
          </a:xfrm>
          <a:prstGeom prst="chevron">
            <a:avLst>
              <a:gd name="adj" fmla="val 3037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6D342E-3811-666E-2C81-879BE50466B0}"/>
              </a:ext>
            </a:extLst>
          </p:cNvPr>
          <p:cNvSpPr txBox="1"/>
          <p:nvPr/>
        </p:nvSpPr>
        <p:spPr>
          <a:xfrm>
            <a:off x="-7155358" y="1980219"/>
            <a:ext cx="576949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masis MT Pro" panose="02040504050005020304" pitchFamily="18" charset="0"/>
              </a:rPr>
              <a:t>ACTIVE FIX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(detects and responds in real time)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9FD01F-846C-F39C-95A6-9188C429D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04091" y="4787015"/>
            <a:ext cx="5016879" cy="176000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E689667-9510-F906-7292-05014F36CE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400" t="12322" r="28139" b="10805"/>
          <a:stretch>
            <a:fillRect/>
          </a:stretch>
        </p:blipFill>
        <p:spPr>
          <a:xfrm>
            <a:off x="-5939253" y="3417307"/>
            <a:ext cx="1142677" cy="1060146"/>
          </a:xfrm>
          <a:prstGeom prst="ellipse">
            <a:avLst/>
          </a:prstGeom>
          <a:ln w="12700" cap="rnd">
            <a:solidFill>
              <a:schemeClr val="tx1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D8A8DE9C-427D-E968-4A67-3B5150A787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5017211" y="5481150"/>
            <a:ext cx="647315" cy="62265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8F70E56-A79F-2F93-4E0B-F1387EFA4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5917525" y="4091449"/>
            <a:ext cx="925607" cy="1829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CB52944-9693-7FC0-125D-53D109E7F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8" idx="6"/>
          </p:cNvCxnSpPr>
          <p:nvPr/>
        </p:nvCxnSpPr>
        <p:spPr>
          <a:xfrm>
            <a:off x="-4831088" y="3745794"/>
            <a:ext cx="461192" cy="20466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08A722DA-0A3F-AF96-0D99-0FEFDC6A3565}"/>
              </a:ext>
            </a:extLst>
          </p:cNvPr>
          <p:cNvSpPr txBox="1"/>
          <p:nvPr/>
        </p:nvSpPr>
        <p:spPr>
          <a:xfrm>
            <a:off x="-4431749" y="3156940"/>
            <a:ext cx="35484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 Bold" panose="020F0704030504030204" pitchFamily="34" charset="0"/>
              </a:rPr>
              <a:t>Scores transfers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 Bold" panose="020F0704030504030204" pitchFamily="34" charset="0"/>
              </a:rPr>
              <a:t>Suspends risky 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 Bold" panose="020F0704030504030204" pitchFamily="34" charset="0"/>
              </a:rPr>
              <a:t>Alert users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1B86851-A3F8-B93A-7765-8DE7E15E55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D14859-F42A-150F-C069-1F2C933FF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B3ED85-96A1-C605-4985-BD911A7F58DD}"/>
              </a:ext>
            </a:extLst>
          </p:cNvPr>
          <p:cNvSpPr txBox="1"/>
          <p:nvPr/>
        </p:nvSpPr>
        <p:spPr>
          <a:xfrm>
            <a:off x="0" y="0"/>
            <a:ext cx="6494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ptos Slab Black" panose="020B0004020202020204" pitchFamily="34" charset="0"/>
                <a:ea typeface="+mn-ea"/>
                <a:cs typeface="+mn-cs"/>
              </a:rPr>
              <a:t>  Proposed Solution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83C881-DE85-32C9-8FA7-75C6A5C3408C}"/>
              </a:ext>
            </a:extLst>
          </p:cNvPr>
          <p:cNvSpPr txBox="1"/>
          <p:nvPr/>
        </p:nvSpPr>
        <p:spPr>
          <a:xfrm>
            <a:off x="371821" y="727055"/>
            <a:ext cx="435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Why </a:t>
            </a:r>
            <a:r>
              <a:rPr lang="en-US" sz="2400" i="1" dirty="0" err="1">
                <a:solidFill>
                  <a:srgbClr val="003F76"/>
                </a:solidFill>
                <a:latin typeface="Arial Narrow" panose="020B0606020202030204" pitchFamily="34" charset="0"/>
              </a:rPr>
              <a:t>PayZo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 works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fr-FR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better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90256C-DAA5-2BB4-470B-EAC14D0717F6}"/>
              </a:ext>
            </a:extLst>
          </p:cNvPr>
          <p:cNvSpPr txBox="1"/>
          <p:nvPr/>
        </p:nvSpPr>
        <p:spPr>
          <a:xfrm>
            <a:off x="371820" y="1366936"/>
            <a:ext cx="66433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masis MT Pro" panose="02040504050005020304" pitchFamily="18" charset="0"/>
              </a:rPr>
              <a:t>To face this problem, </a:t>
            </a:r>
            <a:r>
              <a:rPr lang="en-US" sz="2400" dirty="0" err="1">
                <a:latin typeface="Amasis MT Pro" panose="02040504050005020304" pitchFamily="18" charset="0"/>
              </a:rPr>
              <a:t>PayZo</a:t>
            </a:r>
            <a:r>
              <a:rPr lang="en-US" sz="2400" dirty="0">
                <a:latin typeface="Amasis MT Pro" panose="02040504050005020304" pitchFamily="18" charset="0"/>
              </a:rPr>
              <a:t> follows a 2 layer fix: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1BF53C7B-6DE2-0C07-3487-25773B866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374" y="1977276"/>
            <a:ext cx="5067964" cy="4606404"/>
          </a:xfrm>
          <a:prstGeom prst="homePlate">
            <a:avLst>
              <a:gd name="adj" fmla="val 3014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B917C7-6077-15A5-152F-E76235F0AF4F}"/>
              </a:ext>
            </a:extLst>
          </p:cNvPr>
          <p:cNvSpPr txBox="1"/>
          <p:nvPr/>
        </p:nvSpPr>
        <p:spPr>
          <a:xfrm>
            <a:off x="614373" y="1975199"/>
            <a:ext cx="422779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masis MT Pro" panose="02040504050005020304" pitchFamily="18" charset="0"/>
              </a:rPr>
              <a:t>ROOT FIX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(closes the structural gap)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08733D87-48C2-F7F3-1DBF-362C8BCA5A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067" y="3157978"/>
            <a:ext cx="865204" cy="865204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442E232-1149-8CE5-E23B-24D098E487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133" y="4024220"/>
            <a:ext cx="865204" cy="865204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C3100E1A-E855-4FFC-2160-A5915DF281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98235" y="4024220"/>
            <a:ext cx="865204" cy="86520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D19904A1-CE37-0D3B-934E-F51F42117D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06169" y="3156940"/>
            <a:ext cx="865204" cy="865204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7752B5FE-430D-F1FD-2ABD-09722A1D82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9133" y="4024220"/>
            <a:ext cx="865204" cy="865204"/>
          </a:xfrm>
          <a:prstGeom prst="rect">
            <a:avLst/>
          </a:prstGeom>
        </p:spPr>
      </p:pic>
      <p:sp>
        <p:nvSpPr>
          <p:cNvPr id="33" name="Arrow: Right 32">
            <a:extLst>
              <a:ext uri="{FF2B5EF4-FFF2-40B4-BE49-F238E27FC236}">
                <a16:creationId xmlns:a16="http://schemas.microsoft.com/office/drawing/2014/main" id="{D7D37942-E9A7-6FB6-6ECC-D810D6F31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37684" y="3843556"/>
            <a:ext cx="775618" cy="565120"/>
          </a:xfrm>
          <a:prstGeom prst="rightArrow">
            <a:avLst>
              <a:gd name="adj1" fmla="val 50000"/>
              <a:gd name="adj2" fmla="val 73372"/>
            </a:avLst>
          </a:prstGeom>
          <a:gradFill flip="none" rotWithShape="1">
            <a:gsLst>
              <a:gs pos="6000">
                <a:srgbClr val="163C5E"/>
              </a:gs>
              <a:gs pos="100000">
                <a:srgbClr val="C1DAF1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8DD055C-95D8-8DCE-FFB1-9763ADB8AF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7382" y="2826336"/>
            <a:ext cx="2363515" cy="236351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EDBE7DD-CE05-853E-9DA5-C040F196627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27377" y="3318311"/>
            <a:ext cx="1654036" cy="165403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6A4A401-A5BC-8F14-D65B-8FAA5F13594D}"/>
              </a:ext>
            </a:extLst>
          </p:cNvPr>
          <p:cNvSpPr txBox="1"/>
          <p:nvPr/>
        </p:nvSpPr>
        <p:spPr>
          <a:xfrm>
            <a:off x="599133" y="5166703"/>
            <a:ext cx="35484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 Bold" panose="020F0704030504030204" pitchFamily="34" charset="0"/>
              </a:rPr>
              <a:t>Unifies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 Bold" panose="020F0704030504030204" pitchFamily="34" charset="0"/>
              </a:rPr>
              <a:t>Improves the 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 Bold" panose="020F0704030504030204" pitchFamily="34" charset="0"/>
              </a:rPr>
              <a:t>Connect the banks</a:t>
            </a:r>
          </a:p>
        </p:txBody>
      </p:sp>
    </p:spTree>
    <p:extLst>
      <p:ext uri="{BB962C8B-B14F-4D97-AF65-F5344CB8AC3E}">
        <p14:creationId xmlns:p14="http://schemas.microsoft.com/office/powerpoint/2010/main" val="700227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A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163EA-CE1A-48DF-504B-DC164433F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2212576-743D-2494-6938-6DB43D7CAD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F33E85-BFC9-8B9B-B4A9-4CDBFA642F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F4F4590D-6109-E808-7FA7-12E8DB50D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52548" y="1975199"/>
            <a:ext cx="7446412" cy="4606404"/>
          </a:xfrm>
          <a:prstGeom prst="chevron">
            <a:avLst>
              <a:gd name="adj" fmla="val 3037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F16EC2-F184-CAAC-FF67-2C25AB68AE5E}"/>
              </a:ext>
            </a:extLst>
          </p:cNvPr>
          <p:cNvSpPr txBox="1"/>
          <p:nvPr/>
        </p:nvSpPr>
        <p:spPr>
          <a:xfrm>
            <a:off x="5052700" y="1980219"/>
            <a:ext cx="576949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masis MT Pro" panose="02040504050005020304" pitchFamily="18" charset="0"/>
              </a:rPr>
              <a:t>ACTIVE FIX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(detects and responds in real time)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9FA1E02-73DF-9B34-0EF5-9F2CFAF798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967" y="4787015"/>
            <a:ext cx="5016879" cy="176000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9D56B28-326C-F6E5-59C7-0E9D878DA2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400" t="12322" r="28139" b="10805"/>
          <a:stretch>
            <a:fillRect/>
          </a:stretch>
        </p:blipFill>
        <p:spPr>
          <a:xfrm>
            <a:off x="6268805" y="3417307"/>
            <a:ext cx="1142677" cy="1060146"/>
          </a:xfrm>
          <a:prstGeom prst="ellipse">
            <a:avLst/>
          </a:prstGeom>
          <a:ln w="12700" cap="rnd">
            <a:solidFill>
              <a:schemeClr val="tx1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807A94C0-D2A0-26B3-025D-326A9561B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90847" y="5481150"/>
            <a:ext cx="647315" cy="62265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BA5733C-2DBB-5DF6-894D-6FFDA90EA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0533" y="4091449"/>
            <a:ext cx="925607" cy="18299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5CC4EB1-E638-650C-0F3C-A6FFC7CA3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48" idx="6"/>
          </p:cNvCxnSpPr>
          <p:nvPr/>
        </p:nvCxnSpPr>
        <p:spPr>
          <a:xfrm>
            <a:off x="7376970" y="3745794"/>
            <a:ext cx="461192" cy="20466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7172D2B6-4A64-E5CF-41FD-8EB5EA8BC573}"/>
              </a:ext>
            </a:extLst>
          </p:cNvPr>
          <p:cNvSpPr txBox="1"/>
          <p:nvPr/>
        </p:nvSpPr>
        <p:spPr>
          <a:xfrm>
            <a:off x="7776309" y="3156940"/>
            <a:ext cx="35484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 Bold" panose="020F0704030504030204" pitchFamily="34" charset="0"/>
              </a:rPr>
              <a:t>Scores transfers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 Bold" panose="020F0704030504030204" pitchFamily="34" charset="0"/>
              </a:rPr>
              <a:t>Suspends risky 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 Bold" panose="020F0704030504030204" pitchFamily="34" charset="0"/>
              </a:rPr>
              <a:t>Alert users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5F550AF-53C2-3EE5-4199-AB3E0000CC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BEE62DF-C855-8AD7-B048-0403C38D7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B5E7AE-B021-0FC3-5372-A8CFF45629A7}"/>
              </a:ext>
            </a:extLst>
          </p:cNvPr>
          <p:cNvSpPr txBox="1"/>
          <p:nvPr/>
        </p:nvSpPr>
        <p:spPr>
          <a:xfrm>
            <a:off x="0" y="0"/>
            <a:ext cx="6494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ptos Slab Black" panose="020B0004020202020204" pitchFamily="34" charset="0"/>
                <a:ea typeface="+mn-ea"/>
                <a:cs typeface="+mn-cs"/>
              </a:rPr>
              <a:t>  Proposed Solution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59501-BD73-0D6A-ED5B-9CF81A757DEC}"/>
              </a:ext>
            </a:extLst>
          </p:cNvPr>
          <p:cNvSpPr txBox="1"/>
          <p:nvPr/>
        </p:nvSpPr>
        <p:spPr>
          <a:xfrm>
            <a:off x="371821" y="727055"/>
            <a:ext cx="4350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Why </a:t>
            </a:r>
            <a:r>
              <a:rPr lang="en-US" sz="2400" i="1" dirty="0" err="1">
                <a:solidFill>
                  <a:srgbClr val="003F76"/>
                </a:solidFill>
                <a:latin typeface="Arial Narrow" panose="020B0606020202030204" pitchFamily="34" charset="0"/>
              </a:rPr>
              <a:t>PayZo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 works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fr-FR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better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55271D-7E7A-E8E0-8CF8-73E80DA3FDED}"/>
              </a:ext>
            </a:extLst>
          </p:cNvPr>
          <p:cNvSpPr txBox="1"/>
          <p:nvPr/>
        </p:nvSpPr>
        <p:spPr>
          <a:xfrm>
            <a:off x="371820" y="1366936"/>
            <a:ext cx="66433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masis MT Pro" panose="02040504050005020304" pitchFamily="18" charset="0"/>
              </a:rPr>
              <a:t>To face this problem, </a:t>
            </a:r>
            <a:r>
              <a:rPr lang="en-US" sz="2400" dirty="0" err="1">
                <a:latin typeface="Amasis MT Pro" panose="02040504050005020304" pitchFamily="18" charset="0"/>
              </a:rPr>
              <a:t>PayZo</a:t>
            </a:r>
            <a:r>
              <a:rPr lang="en-US" sz="2400" dirty="0">
                <a:latin typeface="Amasis MT Pro" panose="02040504050005020304" pitchFamily="18" charset="0"/>
              </a:rPr>
              <a:t> follows a 2 layer fix: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EE05DC75-0590-883C-415C-6F8265638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374" y="1977276"/>
            <a:ext cx="5067964" cy="4606404"/>
          </a:xfrm>
          <a:prstGeom prst="homePlate">
            <a:avLst>
              <a:gd name="adj" fmla="val 3014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C69891-1830-90D8-9CB6-5E78C03E082B}"/>
              </a:ext>
            </a:extLst>
          </p:cNvPr>
          <p:cNvSpPr txBox="1"/>
          <p:nvPr/>
        </p:nvSpPr>
        <p:spPr>
          <a:xfrm>
            <a:off x="614373" y="1975199"/>
            <a:ext cx="422779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masis MT Pro" panose="02040504050005020304" pitchFamily="18" charset="0"/>
              </a:rPr>
              <a:t>ROOT FIX 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(closes the structural gap)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D0EB265E-3E7F-29B9-05EE-0A89667D41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067" y="3157978"/>
            <a:ext cx="865204" cy="865204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E98873BB-B06F-6EBA-79A4-BD835DA0F1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6133" y="4024220"/>
            <a:ext cx="865204" cy="865204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C22F8B2A-8D1C-5A0C-3C05-23E0C93B2F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98235" y="4024220"/>
            <a:ext cx="865204" cy="86520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0F03334A-632F-29AE-442C-2D34B0F4F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06169" y="3156940"/>
            <a:ext cx="865204" cy="865204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2C719411-C60C-71EA-B3D6-060189D204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9133" y="4024220"/>
            <a:ext cx="865204" cy="865204"/>
          </a:xfrm>
          <a:prstGeom prst="rect">
            <a:avLst/>
          </a:prstGeom>
        </p:spPr>
      </p:pic>
      <p:sp>
        <p:nvSpPr>
          <p:cNvPr id="33" name="Arrow: Right 32">
            <a:extLst>
              <a:ext uri="{FF2B5EF4-FFF2-40B4-BE49-F238E27FC236}">
                <a16:creationId xmlns:a16="http://schemas.microsoft.com/office/drawing/2014/main" id="{410D4250-55B4-6E72-9250-4D142629E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37684" y="3843556"/>
            <a:ext cx="775618" cy="565120"/>
          </a:xfrm>
          <a:prstGeom prst="rightArrow">
            <a:avLst>
              <a:gd name="adj1" fmla="val 50000"/>
              <a:gd name="adj2" fmla="val 73372"/>
            </a:avLst>
          </a:prstGeom>
          <a:gradFill flip="none" rotWithShape="1">
            <a:gsLst>
              <a:gs pos="6000">
                <a:srgbClr val="163C5E"/>
              </a:gs>
              <a:gs pos="100000">
                <a:srgbClr val="C1DAF1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51C1EDC0-4E00-1E96-F910-6237C98E8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7382" y="2826336"/>
            <a:ext cx="2363515" cy="236351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6A1536F-2FDB-2BF8-C043-B26EB257B5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27377" y="3318311"/>
            <a:ext cx="1654036" cy="165403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B7428058-FF4E-2CC7-4A30-95A5107E50D9}"/>
              </a:ext>
            </a:extLst>
          </p:cNvPr>
          <p:cNvSpPr txBox="1"/>
          <p:nvPr/>
        </p:nvSpPr>
        <p:spPr>
          <a:xfrm>
            <a:off x="599133" y="5166703"/>
            <a:ext cx="35484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 Bold" panose="020F0704030504030204" pitchFamily="34" charset="0"/>
              </a:rPr>
              <a:t>Unifies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 Bold" panose="020F0704030504030204" pitchFamily="34" charset="0"/>
              </a:rPr>
              <a:t>Improves the 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Rounded MT Bold" panose="020F0704030504030204" pitchFamily="34" charset="0"/>
              </a:rPr>
              <a:t>Connect the banks</a:t>
            </a:r>
          </a:p>
        </p:txBody>
      </p:sp>
    </p:spTree>
    <p:extLst>
      <p:ext uri="{BB962C8B-B14F-4D97-AF65-F5344CB8AC3E}">
        <p14:creationId xmlns:p14="http://schemas.microsoft.com/office/powerpoint/2010/main" val="2293072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9080B4-5469-8745-5C9B-B9C66A82B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B2033F9-A78F-374E-FAA5-8B38391D3A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AABC26C-1E99-4957-4510-4EA24745A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C37E465-9025-04B4-107B-0204844A03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579FD2-859C-3669-AB1B-6EF49E87C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7249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D45B2E-A21B-A86A-E375-781703B41872}"/>
              </a:ext>
            </a:extLst>
          </p:cNvPr>
          <p:cNvSpPr txBox="1"/>
          <p:nvPr/>
        </p:nvSpPr>
        <p:spPr>
          <a:xfrm>
            <a:off x="3982720" y="2613392"/>
            <a:ext cx="42265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0" b="1" i="0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ptos Slab Black" panose="020B0004020202020204" pitchFamily="34" charset="0"/>
                <a:ea typeface="+mn-ea"/>
                <a:cs typeface="+mn-cs"/>
              </a:rPr>
              <a:t>Actors</a:t>
            </a:r>
            <a:endParaRPr kumimoji="0" lang="en-US" sz="100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5403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43264-9061-79BC-6E45-B9F856E60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43A4F88-0E04-C6F8-A5FD-86E0D5C64B6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F58375E-0E38-9F39-0AC6-CB8BFAAF0D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59FA914-E9E8-42A8-81B3-CB2243E8B5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2AA722B-5B17-2268-9FA8-C6BD110CB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C0E49-5A5D-A910-4F1F-1060263B8A16}"/>
              </a:ext>
            </a:extLst>
          </p:cNvPr>
          <p:cNvSpPr txBox="1"/>
          <p:nvPr/>
        </p:nvSpPr>
        <p:spPr>
          <a:xfrm>
            <a:off x="0" y="0"/>
            <a:ext cx="6494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ptos Slab Black" panose="020B0004020202020204" pitchFamily="34" charset="0"/>
                <a:ea typeface="+mn-ea"/>
                <a:cs typeface="+mn-cs"/>
              </a:rPr>
              <a:t>  Actors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E32A5F-2FB2-BDA4-26FB-494A3587D63A}"/>
              </a:ext>
            </a:extLst>
          </p:cNvPr>
          <p:cNvSpPr txBox="1"/>
          <p:nvPr/>
        </p:nvSpPr>
        <p:spPr>
          <a:xfrm>
            <a:off x="371821" y="727055"/>
            <a:ext cx="2612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Who does what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" name="Rectangle: Top Corners Snipped 1">
            <a:extLst>
              <a:ext uri="{FF2B5EF4-FFF2-40B4-BE49-F238E27FC236}">
                <a16:creationId xmlns:a16="http://schemas.microsoft.com/office/drawing/2014/main" id="{9A51FF9C-8EAE-4482-3914-27866F17B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8403" y="1476650"/>
            <a:ext cx="2687565" cy="4886960"/>
          </a:xfrm>
          <a:prstGeom prst="snip2SameRect">
            <a:avLst>
              <a:gd name="adj1" fmla="val 11856"/>
              <a:gd name="adj2" fmla="val 0"/>
            </a:avLst>
          </a:prstGeom>
          <a:solidFill>
            <a:srgbClr val="F1FAEE">
              <a:alpha val="7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Top Corners Snipped 2">
            <a:extLst>
              <a:ext uri="{FF2B5EF4-FFF2-40B4-BE49-F238E27FC236}">
                <a16:creationId xmlns:a16="http://schemas.microsoft.com/office/drawing/2014/main" id="{35C01736-2B18-5062-0623-FA5F81F10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170" y="1476650"/>
            <a:ext cx="6088610" cy="4886960"/>
          </a:xfrm>
          <a:prstGeom prst="snip2SameRect">
            <a:avLst>
              <a:gd name="adj1" fmla="val 6397"/>
              <a:gd name="adj2" fmla="val 0"/>
            </a:avLst>
          </a:prstGeom>
          <a:solidFill>
            <a:srgbClr val="F8F6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D9D37D-E347-4217-0A36-DE052DE20D4D}"/>
              </a:ext>
            </a:extLst>
          </p:cNvPr>
          <p:cNvSpPr txBox="1"/>
          <p:nvPr/>
        </p:nvSpPr>
        <p:spPr>
          <a:xfrm>
            <a:off x="518606" y="1482640"/>
            <a:ext cx="2267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End-</a:t>
            </a:r>
            <a:r>
              <a:rPr lang="fr-FR" sz="3200" dirty="0" err="1">
                <a:solidFill>
                  <a:srgbClr val="163C5E"/>
                </a:solidFill>
                <a:latin typeface="Arial Rounded MT Bold" panose="020F0704030504030204" pitchFamily="34" charset="0"/>
              </a:rPr>
              <a:t>Users</a:t>
            </a:r>
            <a:endParaRPr lang="en-US" sz="3200" dirty="0">
              <a:solidFill>
                <a:srgbClr val="163C5E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FF40BB-5781-D4B5-F784-9214FB4744BF}"/>
              </a:ext>
            </a:extLst>
          </p:cNvPr>
          <p:cNvSpPr txBox="1"/>
          <p:nvPr/>
        </p:nvSpPr>
        <p:spPr>
          <a:xfrm>
            <a:off x="4416998" y="1487558"/>
            <a:ext cx="3367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7A4A28"/>
                </a:solidFill>
                <a:latin typeface="Arial Rounded MT Bold" panose="020F0704030504030204" pitchFamily="34" charset="0"/>
              </a:rPr>
              <a:t>Back-Office</a:t>
            </a:r>
            <a:endParaRPr lang="en-US" sz="3200" dirty="0">
              <a:solidFill>
                <a:srgbClr val="7A4A28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89A1C77-656A-37E8-BF43-D25EC9319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903" y="6664795"/>
            <a:ext cx="1916564" cy="19165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7A27CEB-81D9-035B-F7B8-F1F93E71F2DF}"/>
              </a:ext>
            </a:extLst>
          </p:cNvPr>
          <p:cNvSpPr txBox="1"/>
          <p:nvPr/>
        </p:nvSpPr>
        <p:spPr>
          <a:xfrm>
            <a:off x="923080" y="8459257"/>
            <a:ext cx="145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225D92"/>
                </a:solidFill>
                <a:latin typeface="Amasis MT Pro Medium" panose="02040604050005020304" pitchFamily="18" charset="0"/>
              </a:rPr>
              <a:t>Clients</a:t>
            </a:r>
            <a:endParaRPr lang="en-US" sz="3200" dirty="0">
              <a:solidFill>
                <a:srgbClr val="225D92"/>
              </a:solidFill>
              <a:latin typeface="Amasis MT Pro Medium" panose="020406040500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18F647B-8528-71B9-6C4D-0710DD6973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50420" y="6858000"/>
            <a:ext cx="1554480" cy="155448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FFAFEED-C7DA-E6AB-C041-2F25D7568A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0663" y="6872490"/>
            <a:ext cx="1554480" cy="155448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FA46E45-6116-5F5C-4640-7B4ABBA5A2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115" y="6845837"/>
            <a:ext cx="1554480" cy="1554480"/>
          </a:xfrm>
          <a:prstGeom prst="rect">
            <a:avLst/>
          </a:prstGeom>
        </p:spPr>
      </p:pic>
      <p:sp>
        <p:nvSpPr>
          <p:cNvPr id="40" name="Rectangle: Top Corners Snipped 39">
            <a:extLst>
              <a:ext uri="{FF2B5EF4-FFF2-40B4-BE49-F238E27FC236}">
                <a16:creationId xmlns:a16="http://schemas.microsoft.com/office/drawing/2014/main" id="{21C58EC3-F21D-37F9-B3DC-7DF8B90E2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01178" y="1476650"/>
            <a:ext cx="2592095" cy="4886960"/>
          </a:xfrm>
          <a:prstGeom prst="snip2SameRect">
            <a:avLst>
              <a:gd name="adj1" fmla="val 11856"/>
              <a:gd name="adj2" fmla="val 0"/>
            </a:avLst>
          </a:prstGeom>
          <a:solidFill>
            <a:srgbClr val="E8E8E8">
              <a:alpha val="7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34AB56-5BF2-2E30-F45D-13DFFF1249BB}"/>
              </a:ext>
            </a:extLst>
          </p:cNvPr>
          <p:cNvSpPr txBox="1"/>
          <p:nvPr/>
        </p:nvSpPr>
        <p:spPr>
          <a:xfrm>
            <a:off x="9308982" y="1476650"/>
            <a:ext cx="25920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 err="1">
                <a:latin typeface="Arial Rounded MT Bold" panose="020F0704030504030204" pitchFamily="34" charset="0"/>
              </a:rPr>
              <a:t>External</a:t>
            </a:r>
            <a:r>
              <a:rPr lang="fr-FR" sz="3200" dirty="0">
                <a:latin typeface="Arial Rounded MT Bold" panose="020F0704030504030204" pitchFamily="34" charset="0"/>
              </a:rPr>
              <a:t> System</a:t>
            </a:r>
            <a:endParaRPr lang="en-US" sz="3200" dirty="0"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32FDA8-2850-0CF0-A67E-ACEF3D495A96}"/>
              </a:ext>
            </a:extLst>
          </p:cNvPr>
          <p:cNvSpPr txBox="1"/>
          <p:nvPr/>
        </p:nvSpPr>
        <p:spPr>
          <a:xfrm>
            <a:off x="3500629" y="8296677"/>
            <a:ext cx="1115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936435"/>
                </a:solidFill>
                <a:latin typeface="Amasis MT Pro Medium" panose="02040604050005020304" pitchFamily="18" charset="0"/>
              </a:rPr>
              <a:t>Admin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987473-11FE-CDC0-A673-8262DFD7388C}"/>
              </a:ext>
            </a:extLst>
          </p:cNvPr>
          <p:cNvSpPr txBox="1"/>
          <p:nvPr/>
        </p:nvSpPr>
        <p:spPr>
          <a:xfrm>
            <a:off x="5375390" y="8324493"/>
            <a:ext cx="1291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rgbClr val="936435"/>
                </a:solidFill>
                <a:latin typeface="Amasis MT Pro Medium" panose="02040604050005020304" pitchFamily="18" charset="0"/>
              </a:rPr>
              <a:t>Analyst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466FD4-DE38-6C22-8DE5-DE96FB3279D2}"/>
              </a:ext>
            </a:extLst>
          </p:cNvPr>
          <p:cNvSpPr txBox="1"/>
          <p:nvPr/>
        </p:nvSpPr>
        <p:spPr>
          <a:xfrm>
            <a:off x="7095938" y="8311167"/>
            <a:ext cx="2100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rgbClr val="936435"/>
                </a:solidFill>
                <a:latin typeface="Amasis MT Pro Medium" panose="02040604050005020304" pitchFamily="18" charset="0"/>
              </a:rPr>
              <a:t>SuperAdmin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94BB9F-7799-8104-9DEB-A7BB0060DF99}"/>
              </a:ext>
            </a:extLst>
          </p:cNvPr>
          <p:cNvSpPr txBox="1"/>
          <p:nvPr/>
        </p:nvSpPr>
        <p:spPr>
          <a:xfrm>
            <a:off x="308403" y="9044032"/>
            <a:ext cx="272530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Register and login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View all his accounts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Receive fraud alerts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Send money safely to anyone cross-banks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Manage account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A90B9A7-D87C-9152-37DB-8DA320180F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2119" y="6982997"/>
            <a:ext cx="1410212" cy="12801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E05C62A-A9B7-1B00-6FA0-3B4873BB14D6}"/>
              </a:ext>
            </a:extLst>
          </p:cNvPr>
          <p:cNvSpPr txBox="1"/>
          <p:nvPr/>
        </p:nvSpPr>
        <p:spPr>
          <a:xfrm>
            <a:off x="9309918" y="8297840"/>
            <a:ext cx="2574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Centralized</a:t>
            </a: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 CBS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13FBF0-62ED-44FF-5A91-D4613DA92F47}"/>
              </a:ext>
            </a:extLst>
          </p:cNvPr>
          <p:cNvSpPr txBox="1"/>
          <p:nvPr/>
        </p:nvSpPr>
        <p:spPr>
          <a:xfrm>
            <a:off x="3100773" y="8758342"/>
            <a:ext cx="188928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Decide on registrations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Block a client 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client profiles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4EFC36-7AC7-B5A9-71B6-9BA61B523527}"/>
              </a:ext>
            </a:extLst>
          </p:cNvPr>
          <p:cNvSpPr txBox="1"/>
          <p:nvPr/>
        </p:nvSpPr>
        <p:spPr>
          <a:xfrm>
            <a:off x="4853581" y="8815922"/>
            <a:ext cx="232953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Review flagged transactions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Approve or reject sus transfers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client history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3CD883-A908-DE6C-628D-F52910C6C164}"/>
              </a:ext>
            </a:extLst>
          </p:cNvPr>
          <p:cNvSpPr txBox="1"/>
          <p:nvPr/>
        </p:nvSpPr>
        <p:spPr>
          <a:xfrm>
            <a:off x="7058197" y="8802596"/>
            <a:ext cx="230683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Manage staff accounts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Configure ML thresholds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the audit log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DDC5C8-E16B-A98D-2D4D-894077E7593B}"/>
              </a:ext>
            </a:extLst>
          </p:cNvPr>
          <p:cNvSpPr txBox="1"/>
          <p:nvPr/>
        </p:nvSpPr>
        <p:spPr>
          <a:xfrm>
            <a:off x="9306992" y="8790850"/>
            <a:ext cx="258046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Verify new client identity</a:t>
            </a:r>
            <a:br>
              <a:rPr lang="en-US" sz="1600" dirty="0"/>
            </a:br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Provide accounts and balance data</a:t>
            </a:r>
            <a:br>
              <a:rPr lang="en-US" sz="1600" dirty="0"/>
            </a:br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Synchronize data between banks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BD4B7BF-59CB-ABFD-9A78-586A5B137D17}"/>
              </a:ext>
            </a:extLst>
          </p:cNvPr>
          <p:cNvCxnSpPr>
            <a:cxnSpLocks/>
          </p:cNvCxnSpPr>
          <p:nvPr/>
        </p:nvCxnSpPr>
        <p:spPr>
          <a:xfrm>
            <a:off x="4863741" y="8462974"/>
            <a:ext cx="0" cy="2237579"/>
          </a:xfrm>
          <a:prstGeom prst="line">
            <a:avLst/>
          </a:prstGeom>
          <a:ln w="28575">
            <a:solidFill>
              <a:srgbClr val="7A4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C4E7A81-FBDE-4D01-2609-310021AEB601}"/>
              </a:ext>
            </a:extLst>
          </p:cNvPr>
          <p:cNvCxnSpPr>
            <a:cxnSpLocks/>
          </p:cNvCxnSpPr>
          <p:nvPr/>
        </p:nvCxnSpPr>
        <p:spPr>
          <a:xfrm>
            <a:off x="7095938" y="8426970"/>
            <a:ext cx="0" cy="2237579"/>
          </a:xfrm>
          <a:prstGeom prst="line">
            <a:avLst/>
          </a:prstGeom>
          <a:ln w="28575">
            <a:solidFill>
              <a:srgbClr val="7A4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0230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4B7ED-1A4F-8E01-EDEB-C16945874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992A453-7A64-F1F0-8D37-9A11AC389E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0362BE3-4C6F-D21D-3E43-12BF0A9CEE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96541AD-A795-8F5A-A818-918F2C9420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7E6FB65-6F70-A0E3-C2C8-195A8FFB1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F4EF3-66D4-3331-DA6E-11E267F99FB7}"/>
              </a:ext>
            </a:extLst>
          </p:cNvPr>
          <p:cNvSpPr txBox="1"/>
          <p:nvPr/>
        </p:nvSpPr>
        <p:spPr>
          <a:xfrm>
            <a:off x="0" y="0"/>
            <a:ext cx="6494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ptos Slab Black" panose="020B0004020202020204" pitchFamily="34" charset="0"/>
                <a:ea typeface="+mn-ea"/>
                <a:cs typeface="+mn-cs"/>
              </a:rPr>
              <a:t>  Actors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F927FC-74AF-004A-64D4-530C81B7CAE1}"/>
              </a:ext>
            </a:extLst>
          </p:cNvPr>
          <p:cNvSpPr txBox="1"/>
          <p:nvPr/>
        </p:nvSpPr>
        <p:spPr>
          <a:xfrm>
            <a:off x="371821" y="727055"/>
            <a:ext cx="2612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Who does what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" name="Rectangle: Top Corners Snipped 1">
            <a:extLst>
              <a:ext uri="{FF2B5EF4-FFF2-40B4-BE49-F238E27FC236}">
                <a16:creationId xmlns:a16="http://schemas.microsoft.com/office/drawing/2014/main" id="{6B3B0DC9-CF52-1A38-4588-61DD6BF41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8403" y="1476650"/>
            <a:ext cx="2687565" cy="4886960"/>
          </a:xfrm>
          <a:prstGeom prst="snip2SameRect">
            <a:avLst>
              <a:gd name="adj1" fmla="val 11856"/>
              <a:gd name="adj2" fmla="val 0"/>
            </a:avLst>
          </a:prstGeom>
          <a:solidFill>
            <a:srgbClr val="F1FAEE">
              <a:alpha val="7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Top Corners Snipped 2">
            <a:extLst>
              <a:ext uri="{FF2B5EF4-FFF2-40B4-BE49-F238E27FC236}">
                <a16:creationId xmlns:a16="http://schemas.microsoft.com/office/drawing/2014/main" id="{1A7501DE-0989-CD7B-8969-2AB7193E9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170" y="1476650"/>
            <a:ext cx="6088610" cy="4886960"/>
          </a:xfrm>
          <a:prstGeom prst="snip2SameRect">
            <a:avLst>
              <a:gd name="adj1" fmla="val 6397"/>
              <a:gd name="adj2" fmla="val 0"/>
            </a:avLst>
          </a:prstGeom>
          <a:solidFill>
            <a:srgbClr val="F8F6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CCA635-C8EA-275F-9339-8DFDA1D572EF}"/>
              </a:ext>
            </a:extLst>
          </p:cNvPr>
          <p:cNvSpPr txBox="1"/>
          <p:nvPr/>
        </p:nvSpPr>
        <p:spPr>
          <a:xfrm>
            <a:off x="518606" y="1482640"/>
            <a:ext cx="2267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End-</a:t>
            </a:r>
            <a:r>
              <a:rPr lang="fr-FR" sz="3200" dirty="0" err="1">
                <a:solidFill>
                  <a:srgbClr val="163C5E"/>
                </a:solidFill>
                <a:latin typeface="Arial Rounded MT Bold" panose="020F0704030504030204" pitchFamily="34" charset="0"/>
              </a:rPr>
              <a:t>Users</a:t>
            </a:r>
            <a:endParaRPr lang="en-US" sz="3200" dirty="0">
              <a:solidFill>
                <a:srgbClr val="163C5E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9F5A2D-1E05-B059-4847-E7F9038C63B0}"/>
              </a:ext>
            </a:extLst>
          </p:cNvPr>
          <p:cNvSpPr txBox="1"/>
          <p:nvPr/>
        </p:nvSpPr>
        <p:spPr>
          <a:xfrm>
            <a:off x="4416998" y="1487558"/>
            <a:ext cx="3367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7A4A28"/>
                </a:solidFill>
                <a:latin typeface="Arial Rounded MT Bold" panose="020F0704030504030204" pitchFamily="34" charset="0"/>
              </a:rPr>
              <a:t>Back-Office</a:t>
            </a:r>
            <a:endParaRPr lang="en-US" sz="3200" dirty="0">
              <a:solidFill>
                <a:srgbClr val="7A4A28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BAAAD00-9B20-F1A3-3085-EB5DD7C87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903" y="2193088"/>
            <a:ext cx="1916564" cy="19165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5266AA6-5E1B-3C06-EB7C-8ACA0ECFA495}"/>
              </a:ext>
            </a:extLst>
          </p:cNvPr>
          <p:cNvSpPr txBox="1"/>
          <p:nvPr/>
        </p:nvSpPr>
        <p:spPr>
          <a:xfrm>
            <a:off x="923080" y="3987550"/>
            <a:ext cx="145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225D92"/>
                </a:solidFill>
                <a:latin typeface="Amasis MT Pro Medium" panose="02040604050005020304" pitchFamily="18" charset="0"/>
              </a:rPr>
              <a:t>Clients</a:t>
            </a:r>
            <a:endParaRPr lang="en-US" sz="3200" dirty="0">
              <a:solidFill>
                <a:srgbClr val="225D92"/>
              </a:solidFill>
              <a:latin typeface="Amasis MT Pro Medium" panose="020406040500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2D21A35-63B1-0C79-2508-7DD8A51BB5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50420" y="6858000"/>
            <a:ext cx="1554480" cy="155448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3639914-1A8A-94FD-38AC-A5DC6ECAD9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0663" y="6872490"/>
            <a:ext cx="1554480" cy="155448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F579995-E0A8-2A29-A086-7B28872DBB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115" y="6845837"/>
            <a:ext cx="1554480" cy="1554480"/>
          </a:xfrm>
          <a:prstGeom prst="rect">
            <a:avLst/>
          </a:prstGeom>
        </p:spPr>
      </p:pic>
      <p:sp>
        <p:nvSpPr>
          <p:cNvPr id="40" name="Rectangle: Top Corners Snipped 39">
            <a:extLst>
              <a:ext uri="{FF2B5EF4-FFF2-40B4-BE49-F238E27FC236}">
                <a16:creationId xmlns:a16="http://schemas.microsoft.com/office/drawing/2014/main" id="{0A2CF57D-D0F7-AF46-30B3-61A57B14F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01178" y="1476650"/>
            <a:ext cx="2592095" cy="4886960"/>
          </a:xfrm>
          <a:prstGeom prst="snip2SameRect">
            <a:avLst>
              <a:gd name="adj1" fmla="val 11856"/>
              <a:gd name="adj2" fmla="val 0"/>
            </a:avLst>
          </a:prstGeom>
          <a:solidFill>
            <a:srgbClr val="E8E8E8">
              <a:alpha val="7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32C75A-3F1A-DD48-41C8-0BB81B2D672C}"/>
              </a:ext>
            </a:extLst>
          </p:cNvPr>
          <p:cNvSpPr txBox="1"/>
          <p:nvPr/>
        </p:nvSpPr>
        <p:spPr>
          <a:xfrm>
            <a:off x="9308982" y="1476650"/>
            <a:ext cx="25920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 err="1">
                <a:latin typeface="Arial Rounded MT Bold" panose="020F0704030504030204" pitchFamily="34" charset="0"/>
              </a:rPr>
              <a:t>External</a:t>
            </a:r>
            <a:r>
              <a:rPr lang="fr-FR" sz="3200" dirty="0">
                <a:latin typeface="Arial Rounded MT Bold" panose="020F0704030504030204" pitchFamily="34" charset="0"/>
              </a:rPr>
              <a:t> System</a:t>
            </a:r>
            <a:endParaRPr lang="en-US" sz="3200" dirty="0"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549309-595D-C425-CF6E-B071E770757E}"/>
              </a:ext>
            </a:extLst>
          </p:cNvPr>
          <p:cNvSpPr txBox="1"/>
          <p:nvPr/>
        </p:nvSpPr>
        <p:spPr>
          <a:xfrm>
            <a:off x="3500629" y="8296677"/>
            <a:ext cx="1115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936435"/>
                </a:solidFill>
                <a:latin typeface="Amasis MT Pro Medium" panose="02040604050005020304" pitchFamily="18" charset="0"/>
              </a:rPr>
              <a:t>Admin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D4D02B-FBE1-1219-0BA4-BB968367509E}"/>
              </a:ext>
            </a:extLst>
          </p:cNvPr>
          <p:cNvSpPr txBox="1"/>
          <p:nvPr/>
        </p:nvSpPr>
        <p:spPr>
          <a:xfrm>
            <a:off x="5375390" y="8324493"/>
            <a:ext cx="1291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rgbClr val="936435"/>
                </a:solidFill>
                <a:latin typeface="Amasis MT Pro Medium" panose="02040604050005020304" pitchFamily="18" charset="0"/>
              </a:rPr>
              <a:t>Analyst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2826EA-8604-5E13-D8A2-F6896AD25B4B}"/>
              </a:ext>
            </a:extLst>
          </p:cNvPr>
          <p:cNvSpPr txBox="1"/>
          <p:nvPr/>
        </p:nvSpPr>
        <p:spPr>
          <a:xfrm>
            <a:off x="7095938" y="8311167"/>
            <a:ext cx="2100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rgbClr val="936435"/>
                </a:solidFill>
                <a:latin typeface="Amasis MT Pro Medium" panose="02040604050005020304" pitchFamily="18" charset="0"/>
              </a:rPr>
              <a:t>SuperAdmin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F03C43-D628-DA24-F583-0036A2648049}"/>
              </a:ext>
            </a:extLst>
          </p:cNvPr>
          <p:cNvSpPr txBox="1"/>
          <p:nvPr/>
        </p:nvSpPr>
        <p:spPr>
          <a:xfrm>
            <a:off x="308403" y="4572325"/>
            <a:ext cx="272530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Register and login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View all his accounts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Receive fraud alerts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Send money safely to anyone cross-banks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Manage account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F44458A-7451-5CE0-52CB-9900045799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2119" y="6982997"/>
            <a:ext cx="1410212" cy="12801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8EC42EB-A80E-3B0F-A6E0-A082284267A2}"/>
              </a:ext>
            </a:extLst>
          </p:cNvPr>
          <p:cNvSpPr txBox="1"/>
          <p:nvPr/>
        </p:nvSpPr>
        <p:spPr>
          <a:xfrm>
            <a:off x="9309918" y="8297840"/>
            <a:ext cx="2574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Centralized</a:t>
            </a: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 CBS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79492C-06C2-6ACF-38E4-CE9786E9A099}"/>
              </a:ext>
            </a:extLst>
          </p:cNvPr>
          <p:cNvSpPr txBox="1"/>
          <p:nvPr/>
        </p:nvSpPr>
        <p:spPr>
          <a:xfrm>
            <a:off x="3100773" y="8758342"/>
            <a:ext cx="188928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Decide on registrations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Block a client 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client profiles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14D100-CCFA-72B2-6DAB-30225C993BBA}"/>
              </a:ext>
            </a:extLst>
          </p:cNvPr>
          <p:cNvSpPr txBox="1"/>
          <p:nvPr/>
        </p:nvSpPr>
        <p:spPr>
          <a:xfrm>
            <a:off x="4853581" y="8815922"/>
            <a:ext cx="232953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Review flagged transactions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Approve or reject sus transfers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client history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F67C3C-65C8-7212-6485-404545B24B55}"/>
              </a:ext>
            </a:extLst>
          </p:cNvPr>
          <p:cNvSpPr txBox="1"/>
          <p:nvPr/>
        </p:nvSpPr>
        <p:spPr>
          <a:xfrm>
            <a:off x="7058197" y="8802596"/>
            <a:ext cx="230683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Manage staff accounts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Configure ML thresholds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the audit log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C3BE00-9A97-136F-9DB9-45DAE04C15A2}"/>
              </a:ext>
            </a:extLst>
          </p:cNvPr>
          <p:cNvSpPr txBox="1"/>
          <p:nvPr/>
        </p:nvSpPr>
        <p:spPr>
          <a:xfrm>
            <a:off x="9306992" y="8790850"/>
            <a:ext cx="258046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Verify new client identity</a:t>
            </a:r>
            <a:br>
              <a:rPr lang="en-US" sz="1600" dirty="0"/>
            </a:br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Provide accounts and balance data</a:t>
            </a:r>
            <a:br>
              <a:rPr lang="en-US" sz="1600" dirty="0"/>
            </a:br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Synchronize data between banks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1A58BD4-781B-F71E-FD1F-046F41398CDE}"/>
              </a:ext>
            </a:extLst>
          </p:cNvPr>
          <p:cNvCxnSpPr>
            <a:cxnSpLocks/>
          </p:cNvCxnSpPr>
          <p:nvPr/>
        </p:nvCxnSpPr>
        <p:spPr>
          <a:xfrm>
            <a:off x="4863741" y="8462974"/>
            <a:ext cx="0" cy="2237579"/>
          </a:xfrm>
          <a:prstGeom prst="line">
            <a:avLst/>
          </a:prstGeom>
          <a:ln w="28575">
            <a:solidFill>
              <a:srgbClr val="7A4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AF25F73-B696-02B7-A88F-5CF8B780118F}"/>
              </a:ext>
            </a:extLst>
          </p:cNvPr>
          <p:cNvCxnSpPr>
            <a:cxnSpLocks/>
          </p:cNvCxnSpPr>
          <p:nvPr/>
        </p:nvCxnSpPr>
        <p:spPr>
          <a:xfrm>
            <a:off x="7095938" y="8426970"/>
            <a:ext cx="0" cy="2237579"/>
          </a:xfrm>
          <a:prstGeom prst="line">
            <a:avLst/>
          </a:prstGeom>
          <a:ln w="28575">
            <a:solidFill>
              <a:srgbClr val="7A4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877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567A53-D903-7629-FC2C-F317639FE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384E49CF-3D18-B07B-74A1-9C460EE66C4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B4CC285-AF0B-1433-F0FD-B8BF5E3026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B59D8A-B75B-1384-E4F9-4C8D07F11D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C9D1976-E9F7-9EE1-BED6-CBB111ACA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D4A6E6-486B-5C71-91C6-496BC8BBF01A}"/>
              </a:ext>
            </a:extLst>
          </p:cNvPr>
          <p:cNvSpPr txBox="1"/>
          <p:nvPr/>
        </p:nvSpPr>
        <p:spPr>
          <a:xfrm>
            <a:off x="0" y="0"/>
            <a:ext cx="6494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ptos Slab Black" panose="020B0004020202020204" pitchFamily="34" charset="0"/>
                <a:ea typeface="+mn-ea"/>
                <a:cs typeface="+mn-cs"/>
              </a:rPr>
              <a:t>  Actors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B8644D-8D52-486E-E994-CB0A4A882F70}"/>
              </a:ext>
            </a:extLst>
          </p:cNvPr>
          <p:cNvSpPr txBox="1"/>
          <p:nvPr/>
        </p:nvSpPr>
        <p:spPr>
          <a:xfrm>
            <a:off x="371821" y="727055"/>
            <a:ext cx="2612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Who does what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" name="Rectangle: Top Corners Snipped 1">
            <a:extLst>
              <a:ext uri="{FF2B5EF4-FFF2-40B4-BE49-F238E27FC236}">
                <a16:creationId xmlns:a16="http://schemas.microsoft.com/office/drawing/2014/main" id="{42655308-7428-E0C1-233E-5E7672EC0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8403" y="1476650"/>
            <a:ext cx="2687565" cy="4886960"/>
          </a:xfrm>
          <a:prstGeom prst="snip2SameRect">
            <a:avLst>
              <a:gd name="adj1" fmla="val 11856"/>
              <a:gd name="adj2" fmla="val 0"/>
            </a:avLst>
          </a:prstGeom>
          <a:solidFill>
            <a:srgbClr val="F1FAEE">
              <a:alpha val="7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Top Corners Snipped 2">
            <a:extLst>
              <a:ext uri="{FF2B5EF4-FFF2-40B4-BE49-F238E27FC236}">
                <a16:creationId xmlns:a16="http://schemas.microsoft.com/office/drawing/2014/main" id="{0AF625A1-00B9-3C68-A9AE-E387EA1F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170" y="1476650"/>
            <a:ext cx="6088610" cy="4886960"/>
          </a:xfrm>
          <a:prstGeom prst="snip2SameRect">
            <a:avLst>
              <a:gd name="adj1" fmla="val 6397"/>
              <a:gd name="adj2" fmla="val 0"/>
            </a:avLst>
          </a:prstGeom>
          <a:solidFill>
            <a:srgbClr val="F8F6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953DA5-416C-F371-6DE5-89829FDB17E0}"/>
              </a:ext>
            </a:extLst>
          </p:cNvPr>
          <p:cNvSpPr txBox="1"/>
          <p:nvPr/>
        </p:nvSpPr>
        <p:spPr>
          <a:xfrm>
            <a:off x="518606" y="1482640"/>
            <a:ext cx="2267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End-</a:t>
            </a:r>
            <a:r>
              <a:rPr lang="fr-FR" sz="3200" dirty="0" err="1">
                <a:solidFill>
                  <a:srgbClr val="163C5E"/>
                </a:solidFill>
                <a:latin typeface="Arial Rounded MT Bold" panose="020F0704030504030204" pitchFamily="34" charset="0"/>
              </a:rPr>
              <a:t>Users</a:t>
            </a:r>
            <a:endParaRPr lang="en-US" sz="3200" dirty="0">
              <a:solidFill>
                <a:srgbClr val="163C5E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4A787A-DD71-208D-30D7-A9E532C969C3}"/>
              </a:ext>
            </a:extLst>
          </p:cNvPr>
          <p:cNvSpPr txBox="1"/>
          <p:nvPr/>
        </p:nvSpPr>
        <p:spPr>
          <a:xfrm>
            <a:off x="4416998" y="1487558"/>
            <a:ext cx="3367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7A4A28"/>
                </a:solidFill>
                <a:latin typeface="Arial Rounded MT Bold" panose="020F0704030504030204" pitchFamily="34" charset="0"/>
              </a:rPr>
              <a:t>Back-Office</a:t>
            </a:r>
            <a:endParaRPr lang="en-US" sz="3200" dirty="0">
              <a:solidFill>
                <a:srgbClr val="7A4A28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0D697F9-F0C9-FEDF-3E62-4D1FADF68F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903" y="2193088"/>
            <a:ext cx="1916564" cy="19165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94E0EC6-DE85-F4B6-C94D-8027B1711351}"/>
              </a:ext>
            </a:extLst>
          </p:cNvPr>
          <p:cNvSpPr txBox="1"/>
          <p:nvPr/>
        </p:nvSpPr>
        <p:spPr>
          <a:xfrm>
            <a:off x="923080" y="3987550"/>
            <a:ext cx="145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225D92"/>
                </a:solidFill>
                <a:latin typeface="Amasis MT Pro Medium" panose="02040604050005020304" pitchFamily="18" charset="0"/>
              </a:rPr>
              <a:t>Clients</a:t>
            </a:r>
            <a:endParaRPr lang="en-US" sz="3200" dirty="0">
              <a:solidFill>
                <a:srgbClr val="225D92"/>
              </a:solidFill>
              <a:latin typeface="Amasis MT Pro Medium" panose="020406040500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2744F27-450C-590C-2A4C-C32F9DEC91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50420" y="2548873"/>
            <a:ext cx="1554480" cy="155448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F8BAC86-CADB-E026-C716-075033CC29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0663" y="6872490"/>
            <a:ext cx="1554480" cy="155448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B35E0A4-21D0-70DC-DE30-E155583924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115" y="6845837"/>
            <a:ext cx="1554480" cy="1554480"/>
          </a:xfrm>
          <a:prstGeom prst="rect">
            <a:avLst/>
          </a:prstGeom>
        </p:spPr>
      </p:pic>
      <p:sp>
        <p:nvSpPr>
          <p:cNvPr id="40" name="Rectangle: Top Corners Snipped 39">
            <a:extLst>
              <a:ext uri="{FF2B5EF4-FFF2-40B4-BE49-F238E27FC236}">
                <a16:creationId xmlns:a16="http://schemas.microsoft.com/office/drawing/2014/main" id="{FB905D67-A70F-57E0-9695-4E245A315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01178" y="1476650"/>
            <a:ext cx="2592095" cy="4886960"/>
          </a:xfrm>
          <a:prstGeom prst="snip2SameRect">
            <a:avLst>
              <a:gd name="adj1" fmla="val 11856"/>
              <a:gd name="adj2" fmla="val 0"/>
            </a:avLst>
          </a:prstGeom>
          <a:solidFill>
            <a:srgbClr val="E8E8E8">
              <a:alpha val="7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9CE498-68AE-6707-BBCB-4AA5FD82DFB6}"/>
              </a:ext>
            </a:extLst>
          </p:cNvPr>
          <p:cNvSpPr txBox="1"/>
          <p:nvPr/>
        </p:nvSpPr>
        <p:spPr>
          <a:xfrm>
            <a:off x="9308982" y="1476650"/>
            <a:ext cx="25920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 err="1">
                <a:latin typeface="Arial Rounded MT Bold" panose="020F0704030504030204" pitchFamily="34" charset="0"/>
              </a:rPr>
              <a:t>External</a:t>
            </a:r>
            <a:r>
              <a:rPr lang="fr-FR" sz="3200" dirty="0">
                <a:latin typeface="Arial Rounded MT Bold" panose="020F0704030504030204" pitchFamily="34" charset="0"/>
              </a:rPr>
              <a:t> System</a:t>
            </a:r>
            <a:endParaRPr lang="en-US" sz="3200" dirty="0"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127B8A-3551-B079-FADD-A729BDDE92A3}"/>
              </a:ext>
            </a:extLst>
          </p:cNvPr>
          <p:cNvSpPr txBox="1"/>
          <p:nvPr/>
        </p:nvSpPr>
        <p:spPr>
          <a:xfrm>
            <a:off x="3500629" y="3987550"/>
            <a:ext cx="1115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936435"/>
                </a:solidFill>
                <a:latin typeface="Amasis MT Pro Medium" panose="02040604050005020304" pitchFamily="18" charset="0"/>
              </a:rPr>
              <a:t>Admin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911689-B26C-3BEA-F663-34BDFC56034E}"/>
              </a:ext>
            </a:extLst>
          </p:cNvPr>
          <p:cNvSpPr txBox="1"/>
          <p:nvPr/>
        </p:nvSpPr>
        <p:spPr>
          <a:xfrm>
            <a:off x="5375390" y="8324493"/>
            <a:ext cx="1291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rgbClr val="936435"/>
                </a:solidFill>
                <a:latin typeface="Amasis MT Pro Medium" panose="02040604050005020304" pitchFamily="18" charset="0"/>
              </a:rPr>
              <a:t>Analyst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9E818E-1309-D888-BD56-0572512FE4B9}"/>
              </a:ext>
            </a:extLst>
          </p:cNvPr>
          <p:cNvSpPr txBox="1"/>
          <p:nvPr/>
        </p:nvSpPr>
        <p:spPr>
          <a:xfrm>
            <a:off x="7095938" y="8311167"/>
            <a:ext cx="2100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rgbClr val="936435"/>
                </a:solidFill>
                <a:latin typeface="Amasis MT Pro Medium" panose="02040604050005020304" pitchFamily="18" charset="0"/>
              </a:rPr>
              <a:t>SuperAdmin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DD4C96-2922-C1B3-616A-F673F27DF288}"/>
              </a:ext>
            </a:extLst>
          </p:cNvPr>
          <p:cNvSpPr txBox="1"/>
          <p:nvPr/>
        </p:nvSpPr>
        <p:spPr>
          <a:xfrm>
            <a:off x="308403" y="4572325"/>
            <a:ext cx="272530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Register and login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View all his accounts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Receive fraud alerts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Send money safely to anyone cross-banks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Manage account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6013D32-A0CC-9393-F70A-08071474B4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2119" y="6982997"/>
            <a:ext cx="1410212" cy="12801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CF27007-4332-3DFA-5F78-CA3AF90995A0}"/>
              </a:ext>
            </a:extLst>
          </p:cNvPr>
          <p:cNvSpPr txBox="1"/>
          <p:nvPr/>
        </p:nvSpPr>
        <p:spPr>
          <a:xfrm>
            <a:off x="9309918" y="8297840"/>
            <a:ext cx="2574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Centralized</a:t>
            </a: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 CBS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0E54C3-D1FC-44F1-9E8D-44EFED89F7D6}"/>
              </a:ext>
            </a:extLst>
          </p:cNvPr>
          <p:cNvSpPr txBox="1"/>
          <p:nvPr/>
        </p:nvSpPr>
        <p:spPr>
          <a:xfrm>
            <a:off x="3100773" y="4449215"/>
            <a:ext cx="188928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Decide on registrations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Block a client 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client profiles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8FD7E1-55ED-0E8E-FF37-96C83780B73B}"/>
              </a:ext>
            </a:extLst>
          </p:cNvPr>
          <p:cNvSpPr txBox="1"/>
          <p:nvPr/>
        </p:nvSpPr>
        <p:spPr>
          <a:xfrm>
            <a:off x="4853581" y="8815922"/>
            <a:ext cx="232953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Review flagged transactions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Approve or reject sus transfers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client history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35A670-0EAD-1612-5726-3370B4C3BB3E}"/>
              </a:ext>
            </a:extLst>
          </p:cNvPr>
          <p:cNvSpPr txBox="1"/>
          <p:nvPr/>
        </p:nvSpPr>
        <p:spPr>
          <a:xfrm>
            <a:off x="7058197" y="8802596"/>
            <a:ext cx="230683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Manage staff accounts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Configure ML thresholds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the audit log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C1D836-E1FB-EB2E-30B1-D9192898BB58}"/>
              </a:ext>
            </a:extLst>
          </p:cNvPr>
          <p:cNvSpPr txBox="1"/>
          <p:nvPr/>
        </p:nvSpPr>
        <p:spPr>
          <a:xfrm>
            <a:off x="9306992" y="8790850"/>
            <a:ext cx="258046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Verify new client identity</a:t>
            </a:r>
            <a:br>
              <a:rPr lang="en-US" sz="1600" dirty="0"/>
            </a:br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Provide accounts and balance data</a:t>
            </a:r>
            <a:br>
              <a:rPr lang="en-US" sz="1600" dirty="0"/>
            </a:br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Synchronize data between banks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7775CE0-74BB-D68A-82C8-67C2C16DBCAC}"/>
              </a:ext>
            </a:extLst>
          </p:cNvPr>
          <p:cNvCxnSpPr>
            <a:cxnSpLocks/>
          </p:cNvCxnSpPr>
          <p:nvPr/>
        </p:nvCxnSpPr>
        <p:spPr>
          <a:xfrm>
            <a:off x="4863741" y="8462974"/>
            <a:ext cx="0" cy="2237579"/>
          </a:xfrm>
          <a:prstGeom prst="line">
            <a:avLst/>
          </a:prstGeom>
          <a:ln w="28575">
            <a:solidFill>
              <a:srgbClr val="7A4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C4EE5A5-9C0B-F320-9449-F6658D78FA20}"/>
              </a:ext>
            </a:extLst>
          </p:cNvPr>
          <p:cNvCxnSpPr>
            <a:cxnSpLocks/>
          </p:cNvCxnSpPr>
          <p:nvPr/>
        </p:nvCxnSpPr>
        <p:spPr>
          <a:xfrm>
            <a:off x="7095938" y="8426970"/>
            <a:ext cx="0" cy="2237579"/>
          </a:xfrm>
          <a:prstGeom prst="line">
            <a:avLst/>
          </a:prstGeom>
          <a:ln w="28575">
            <a:solidFill>
              <a:srgbClr val="7A4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750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0D86A4-670A-FFE1-3908-3DC0E63F2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981B6D9-80B5-15BB-C005-CA3E3FA1DC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BF7AFD2-7E69-9BB8-FF48-BB75F304B2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6B48148-7AD3-6025-EF75-03CF7001B0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069FAF8-97A5-0DAB-1FBB-6A87E3B46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05A780-7DF0-EDC5-4872-B71146C92908}"/>
              </a:ext>
            </a:extLst>
          </p:cNvPr>
          <p:cNvSpPr txBox="1"/>
          <p:nvPr/>
        </p:nvSpPr>
        <p:spPr>
          <a:xfrm>
            <a:off x="0" y="0"/>
            <a:ext cx="6494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ptos Slab Black" panose="020B0004020202020204" pitchFamily="34" charset="0"/>
                <a:ea typeface="+mn-ea"/>
                <a:cs typeface="+mn-cs"/>
              </a:rPr>
              <a:t>  Actors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3FA535-7686-C4B3-A179-270021672E2A}"/>
              </a:ext>
            </a:extLst>
          </p:cNvPr>
          <p:cNvSpPr txBox="1"/>
          <p:nvPr/>
        </p:nvSpPr>
        <p:spPr>
          <a:xfrm>
            <a:off x="371821" y="727055"/>
            <a:ext cx="2612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Who does what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" name="Rectangle: Top Corners Snipped 1">
            <a:extLst>
              <a:ext uri="{FF2B5EF4-FFF2-40B4-BE49-F238E27FC236}">
                <a16:creationId xmlns:a16="http://schemas.microsoft.com/office/drawing/2014/main" id="{85B65737-8F1B-7AF7-416D-2062D1BE4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8403" y="1476650"/>
            <a:ext cx="2687565" cy="4886960"/>
          </a:xfrm>
          <a:prstGeom prst="snip2SameRect">
            <a:avLst>
              <a:gd name="adj1" fmla="val 11856"/>
              <a:gd name="adj2" fmla="val 0"/>
            </a:avLst>
          </a:prstGeom>
          <a:solidFill>
            <a:srgbClr val="F1FAEE">
              <a:alpha val="7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Top Corners Snipped 2">
            <a:extLst>
              <a:ext uri="{FF2B5EF4-FFF2-40B4-BE49-F238E27FC236}">
                <a16:creationId xmlns:a16="http://schemas.microsoft.com/office/drawing/2014/main" id="{9AA33C72-C985-5C93-D6F7-B1A6CAF49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170" y="1476650"/>
            <a:ext cx="6088610" cy="4886960"/>
          </a:xfrm>
          <a:prstGeom prst="snip2SameRect">
            <a:avLst>
              <a:gd name="adj1" fmla="val 6397"/>
              <a:gd name="adj2" fmla="val 0"/>
            </a:avLst>
          </a:prstGeom>
          <a:solidFill>
            <a:srgbClr val="F8F6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787127-0E2A-AA05-5C69-1BDA3AA8D1E9}"/>
              </a:ext>
            </a:extLst>
          </p:cNvPr>
          <p:cNvSpPr txBox="1"/>
          <p:nvPr/>
        </p:nvSpPr>
        <p:spPr>
          <a:xfrm>
            <a:off x="518606" y="1482640"/>
            <a:ext cx="2267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End-</a:t>
            </a:r>
            <a:r>
              <a:rPr lang="fr-FR" sz="3200" dirty="0" err="1">
                <a:solidFill>
                  <a:srgbClr val="163C5E"/>
                </a:solidFill>
                <a:latin typeface="Arial Rounded MT Bold" panose="020F0704030504030204" pitchFamily="34" charset="0"/>
              </a:rPr>
              <a:t>Users</a:t>
            </a:r>
            <a:endParaRPr lang="en-US" sz="3200" dirty="0">
              <a:solidFill>
                <a:srgbClr val="163C5E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3A1880-FE54-0758-4FD2-96F7666F2AE0}"/>
              </a:ext>
            </a:extLst>
          </p:cNvPr>
          <p:cNvSpPr txBox="1"/>
          <p:nvPr/>
        </p:nvSpPr>
        <p:spPr>
          <a:xfrm>
            <a:off x="4416998" y="1487558"/>
            <a:ext cx="3367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7A4A28"/>
                </a:solidFill>
                <a:latin typeface="Arial Rounded MT Bold" panose="020F0704030504030204" pitchFamily="34" charset="0"/>
              </a:rPr>
              <a:t>Back-Office</a:t>
            </a:r>
            <a:endParaRPr lang="en-US" sz="3200" dirty="0">
              <a:solidFill>
                <a:srgbClr val="7A4A28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D3F5884-F05D-204E-AF29-BD64BC86F6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903" y="2193088"/>
            <a:ext cx="1916564" cy="19165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103BDD-0D98-D79F-85D6-13F3550285EF}"/>
              </a:ext>
            </a:extLst>
          </p:cNvPr>
          <p:cNvSpPr txBox="1"/>
          <p:nvPr/>
        </p:nvSpPr>
        <p:spPr>
          <a:xfrm>
            <a:off x="923080" y="3987550"/>
            <a:ext cx="145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225D92"/>
                </a:solidFill>
                <a:latin typeface="Amasis MT Pro Medium" panose="02040604050005020304" pitchFamily="18" charset="0"/>
              </a:rPr>
              <a:t>Clients</a:t>
            </a:r>
            <a:endParaRPr lang="en-US" sz="3200" dirty="0">
              <a:solidFill>
                <a:srgbClr val="225D92"/>
              </a:solidFill>
              <a:latin typeface="Amasis MT Pro Medium" panose="020406040500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3B61CF7-29E9-E7AF-945B-6F293A6596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50420" y="2548873"/>
            <a:ext cx="1554480" cy="155448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DD1C4BA-945F-AFD1-2894-7142D64655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0663" y="2535547"/>
            <a:ext cx="1554480" cy="155448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B74BC65-9565-B99A-EF89-1A4919CFDF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115" y="6845837"/>
            <a:ext cx="1554480" cy="1554480"/>
          </a:xfrm>
          <a:prstGeom prst="rect">
            <a:avLst/>
          </a:prstGeom>
        </p:spPr>
      </p:pic>
      <p:sp>
        <p:nvSpPr>
          <p:cNvPr id="40" name="Rectangle: Top Corners Snipped 39">
            <a:extLst>
              <a:ext uri="{FF2B5EF4-FFF2-40B4-BE49-F238E27FC236}">
                <a16:creationId xmlns:a16="http://schemas.microsoft.com/office/drawing/2014/main" id="{EF6F07DF-03D8-C605-6D75-3F74405AC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01178" y="1476650"/>
            <a:ext cx="2592095" cy="4886960"/>
          </a:xfrm>
          <a:prstGeom prst="snip2SameRect">
            <a:avLst>
              <a:gd name="adj1" fmla="val 11856"/>
              <a:gd name="adj2" fmla="val 0"/>
            </a:avLst>
          </a:prstGeom>
          <a:solidFill>
            <a:srgbClr val="E8E8E8">
              <a:alpha val="7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226CE4-0B6C-D561-15AC-EF2FBC5FBDA7}"/>
              </a:ext>
            </a:extLst>
          </p:cNvPr>
          <p:cNvSpPr txBox="1"/>
          <p:nvPr/>
        </p:nvSpPr>
        <p:spPr>
          <a:xfrm>
            <a:off x="9308982" y="1476650"/>
            <a:ext cx="25920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 err="1">
                <a:latin typeface="Arial Rounded MT Bold" panose="020F0704030504030204" pitchFamily="34" charset="0"/>
              </a:rPr>
              <a:t>External</a:t>
            </a:r>
            <a:r>
              <a:rPr lang="fr-FR" sz="3200" dirty="0">
                <a:latin typeface="Arial Rounded MT Bold" panose="020F0704030504030204" pitchFamily="34" charset="0"/>
              </a:rPr>
              <a:t> System</a:t>
            </a:r>
            <a:endParaRPr lang="en-US" sz="3200" dirty="0"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53C955-B0C6-D030-A405-246A0C6FB259}"/>
              </a:ext>
            </a:extLst>
          </p:cNvPr>
          <p:cNvSpPr txBox="1"/>
          <p:nvPr/>
        </p:nvSpPr>
        <p:spPr>
          <a:xfrm>
            <a:off x="3500629" y="3987550"/>
            <a:ext cx="1115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936435"/>
                </a:solidFill>
                <a:latin typeface="Amasis MT Pro Medium" panose="02040604050005020304" pitchFamily="18" charset="0"/>
              </a:rPr>
              <a:t>Admin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384C12-DBDE-9FFD-D1A6-BAC3678ECC04}"/>
              </a:ext>
            </a:extLst>
          </p:cNvPr>
          <p:cNvSpPr txBox="1"/>
          <p:nvPr/>
        </p:nvSpPr>
        <p:spPr>
          <a:xfrm>
            <a:off x="5375390" y="3987550"/>
            <a:ext cx="1291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rgbClr val="936435"/>
                </a:solidFill>
                <a:latin typeface="Amasis MT Pro Medium" panose="02040604050005020304" pitchFamily="18" charset="0"/>
              </a:rPr>
              <a:t>Analyst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71E72C-4E72-2791-3E41-A1A830FC76D8}"/>
              </a:ext>
            </a:extLst>
          </p:cNvPr>
          <p:cNvSpPr txBox="1"/>
          <p:nvPr/>
        </p:nvSpPr>
        <p:spPr>
          <a:xfrm>
            <a:off x="7095938" y="8311167"/>
            <a:ext cx="2100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rgbClr val="936435"/>
                </a:solidFill>
                <a:latin typeface="Amasis MT Pro Medium" panose="02040604050005020304" pitchFamily="18" charset="0"/>
              </a:rPr>
              <a:t>SuperAdmin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DE6414-93E6-F078-D3AB-AA575F5427C5}"/>
              </a:ext>
            </a:extLst>
          </p:cNvPr>
          <p:cNvSpPr txBox="1"/>
          <p:nvPr/>
        </p:nvSpPr>
        <p:spPr>
          <a:xfrm>
            <a:off x="308403" y="4572325"/>
            <a:ext cx="272530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Register and login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View all his accounts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Receive fraud alerts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Send money safely to anyone cross-banks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Manage account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23BB6B1-05EA-6A4A-1577-D405126FCC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2119" y="6982997"/>
            <a:ext cx="1410212" cy="12801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C2963B3-D004-0B02-DF42-B699123CCEF4}"/>
              </a:ext>
            </a:extLst>
          </p:cNvPr>
          <p:cNvSpPr txBox="1"/>
          <p:nvPr/>
        </p:nvSpPr>
        <p:spPr>
          <a:xfrm>
            <a:off x="9309918" y="8297840"/>
            <a:ext cx="2574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Centralized</a:t>
            </a: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 CBS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6DAB0C-ABBA-AC2D-B3DA-DA34D0FC59A2}"/>
              </a:ext>
            </a:extLst>
          </p:cNvPr>
          <p:cNvSpPr txBox="1"/>
          <p:nvPr/>
        </p:nvSpPr>
        <p:spPr>
          <a:xfrm>
            <a:off x="3100773" y="4449215"/>
            <a:ext cx="188928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Decide on registrations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Block a client 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client profiles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9FEE76-A287-DC1D-107C-695E875E1A58}"/>
              </a:ext>
            </a:extLst>
          </p:cNvPr>
          <p:cNvSpPr txBox="1"/>
          <p:nvPr/>
        </p:nvSpPr>
        <p:spPr>
          <a:xfrm>
            <a:off x="4853581" y="4478979"/>
            <a:ext cx="232953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Review flagged transactions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Approve or reject sus transfers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client history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83EEBE-1EF3-765D-11E3-CE18157300CA}"/>
              </a:ext>
            </a:extLst>
          </p:cNvPr>
          <p:cNvSpPr txBox="1"/>
          <p:nvPr/>
        </p:nvSpPr>
        <p:spPr>
          <a:xfrm>
            <a:off x="7058197" y="8802596"/>
            <a:ext cx="230683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Manage staff accounts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Configure ML thresholds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the audit log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23741C-43F1-E277-1EE6-6E6F78DF4C8E}"/>
              </a:ext>
            </a:extLst>
          </p:cNvPr>
          <p:cNvSpPr txBox="1"/>
          <p:nvPr/>
        </p:nvSpPr>
        <p:spPr>
          <a:xfrm>
            <a:off x="9306992" y="8790850"/>
            <a:ext cx="258046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Verify new client identity</a:t>
            </a:r>
            <a:br>
              <a:rPr lang="en-US" sz="1600" dirty="0"/>
            </a:br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Provide accounts and balance data</a:t>
            </a:r>
            <a:br>
              <a:rPr lang="en-US" sz="1600" dirty="0"/>
            </a:br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Synchronize data between banks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B5A33EC-4973-2EAE-9752-B5203246007F}"/>
              </a:ext>
            </a:extLst>
          </p:cNvPr>
          <p:cNvCxnSpPr>
            <a:cxnSpLocks/>
          </p:cNvCxnSpPr>
          <p:nvPr/>
        </p:nvCxnSpPr>
        <p:spPr>
          <a:xfrm>
            <a:off x="4863741" y="4126031"/>
            <a:ext cx="0" cy="2237579"/>
          </a:xfrm>
          <a:prstGeom prst="line">
            <a:avLst/>
          </a:prstGeom>
          <a:ln w="28575">
            <a:solidFill>
              <a:srgbClr val="7A4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77E8BFB-DBFD-49D3-1E7D-319E1FEC94A5}"/>
              </a:ext>
            </a:extLst>
          </p:cNvPr>
          <p:cNvCxnSpPr>
            <a:cxnSpLocks/>
          </p:cNvCxnSpPr>
          <p:nvPr/>
        </p:nvCxnSpPr>
        <p:spPr>
          <a:xfrm>
            <a:off x="7095938" y="8426970"/>
            <a:ext cx="0" cy="2237579"/>
          </a:xfrm>
          <a:prstGeom prst="line">
            <a:avLst/>
          </a:prstGeom>
          <a:ln w="28575">
            <a:solidFill>
              <a:srgbClr val="7A4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942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21C186-7770-276F-521E-C21722217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83499206-4E6B-706B-021E-1575CC4576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2321057-F5E1-F5F5-CE71-CE35E8ED93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3B69F1C-B49B-CB2E-A3F7-176D4B1C74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15908B-7E33-5ACE-5873-CAF7EC897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12C42-BA09-39C6-A800-513BF5B41F9A}"/>
              </a:ext>
            </a:extLst>
          </p:cNvPr>
          <p:cNvSpPr txBox="1"/>
          <p:nvPr/>
        </p:nvSpPr>
        <p:spPr>
          <a:xfrm>
            <a:off x="0" y="0"/>
            <a:ext cx="6494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ptos Slab Black" panose="020B0004020202020204" pitchFamily="34" charset="0"/>
                <a:ea typeface="+mn-ea"/>
                <a:cs typeface="+mn-cs"/>
              </a:rPr>
              <a:t>  Actors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8411C3-F45B-C8EA-EF1E-0B9EC70180F6}"/>
              </a:ext>
            </a:extLst>
          </p:cNvPr>
          <p:cNvSpPr txBox="1"/>
          <p:nvPr/>
        </p:nvSpPr>
        <p:spPr>
          <a:xfrm>
            <a:off x="371821" y="727055"/>
            <a:ext cx="2612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Who does what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" name="Rectangle: Top Corners Snipped 1">
            <a:extLst>
              <a:ext uri="{FF2B5EF4-FFF2-40B4-BE49-F238E27FC236}">
                <a16:creationId xmlns:a16="http://schemas.microsoft.com/office/drawing/2014/main" id="{9A6F4D92-9786-B543-CF33-A018C75B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8403" y="1476650"/>
            <a:ext cx="2687565" cy="4886960"/>
          </a:xfrm>
          <a:prstGeom prst="snip2SameRect">
            <a:avLst>
              <a:gd name="adj1" fmla="val 11856"/>
              <a:gd name="adj2" fmla="val 0"/>
            </a:avLst>
          </a:prstGeom>
          <a:solidFill>
            <a:srgbClr val="F1FAEE">
              <a:alpha val="7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Top Corners Snipped 2">
            <a:extLst>
              <a:ext uri="{FF2B5EF4-FFF2-40B4-BE49-F238E27FC236}">
                <a16:creationId xmlns:a16="http://schemas.microsoft.com/office/drawing/2014/main" id="{11235080-AA53-A7EA-7215-DCA44E96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170" y="1476650"/>
            <a:ext cx="6088610" cy="4886960"/>
          </a:xfrm>
          <a:prstGeom prst="snip2SameRect">
            <a:avLst>
              <a:gd name="adj1" fmla="val 6397"/>
              <a:gd name="adj2" fmla="val 0"/>
            </a:avLst>
          </a:prstGeom>
          <a:solidFill>
            <a:srgbClr val="F8F6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2A74D3-B7E2-9D95-4EE7-2368CC6768C6}"/>
              </a:ext>
            </a:extLst>
          </p:cNvPr>
          <p:cNvSpPr txBox="1"/>
          <p:nvPr/>
        </p:nvSpPr>
        <p:spPr>
          <a:xfrm>
            <a:off x="518606" y="1482640"/>
            <a:ext cx="2267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End-</a:t>
            </a:r>
            <a:r>
              <a:rPr lang="fr-FR" sz="3200" dirty="0" err="1">
                <a:solidFill>
                  <a:srgbClr val="163C5E"/>
                </a:solidFill>
                <a:latin typeface="Arial Rounded MT Bold" panose="020F0704030504030204" pitchFamily="34" charset="0"/>
              </a:rPr>
              <a:t>Users</a:t>
            </a:r>
            <a:endParaRPr lang="en-US" sz="3200" dirty="0">
              <a:solidFill>
                <a:srgbClr val="163C5E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971EDA-881D-0978-53C2-7ED76E7A2942}"/>
              </a:ext>
            </a:extLst>
          </p:cNvPr>
          <p:cNvSpPr txBox="1"/>
          <p:nvPr/>
        </p:nvSpPr>
        <p:spPr>
          <a:xfrm>
            <a:off x="4416998" y="1487558"/>
            <a:ext cx="3367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7A4A28"/>
                </a:solidFill>
                <a:latin typeface="Arial Rounded MT Bold" panose="020F0704030504030204" pitchFamily="34" charset="0"/>
              </a:rPr>
              <a:t>Back-Office</a:t>
            </a:r>
            <a:endParaRPr lang="en-US" sz="3200" dirty="0">
              <a:solidFill>
                <a:srgbClr val="7A4A28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549AD43-8B79-0E64-7918-2F9ADAA20E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903" y="2193088"/>
            <a:ext cx="1916564" cy="19165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78136D7-E0FC-4C19-0512-65CEE4182FC5}"/>
              </a:ext>
            </a:extLst>
          </p:cNvPr>
          <p:cNvSpPr txBox="1"/>
          <p:nvPr/>
        </p:nvSpPr>
        <p:spPr>
          <a:xfrm>
            <a:off x="923080" y="3987550"/>
            <a:ext cx="145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225D92"/>
                </a:solidFill>
                <a:latin typeface="Amasis MT Pro Medium" panose="02040604050005020304" pitchFamily="18" charset="0"/>
              </a:rPr>
              <a:t>Clients</a:t>
            </a:r>
            <a:endParaRPr lang="en-US" sz="3200" dirty="0">
              <a:solidFill>
                <a:srgbClr val="225D92"/>
              </a:solidFill>
              <a:latin typeface="Amasis MT Pro Medium" panose="020406040500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C6AE702-72AD-47E9-497E-6A2C8E21E6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50420" y="2548873"/>
            <a:ext cx="1554480" cy="155448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CA8BB32-C3F8-FFD4-6130-05EA60F090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0663" y="2535547"/>
            <a:ext cx="1554480" cy="155448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FAABD96-B509-74B4-133C-54E235E42D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115" y="2522220"/>
            <a:ext cx="1554480" cy="1554480"/>
          </a:xfrm>
          <a:prstGeom prst="rect">
            <a:avLst/>
          </a:prstGeom>
        </p:spPr>
      </p:pic>
      <p:sp>
        <p:nvSpPr>
          <p:cNvPr id="40" name="Rectangle: Top Corners Snipped 39">
            <a:extLst>
              <a:ext uri="{FF2B5EF4-FFF2-40B4-BE49-F238E27FC236}">
                <a16:creationId xmlns:a16="http://schemas.microsoft.com/office/drawing/2014/main" id="{8E63244A-6A1D-8A4D-2662-96F09F8AB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01178" y="1476650"/>
            <a:ext cx="2592095" cy="4886960"/>
          </a:xfrm>
          <a:prstGeom prst="snip2SameRect">
            <a:avLst>
              <a:gd name="adj1" fmla="val 11856"/>
              <a:gd name="adj2" fmla="val 0"/>
            </a:avLst>
          </a:prstGeom>
          <a:solidFill>
            <a:srgbClr val="E8E8E8">
              <a:alpha val="7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F2C4CA-DB3D-146D-9CBC-55CDC4105B5B}"/>
              </a:ext>
            </a:extLst>
          </p:cNvPr>
          <p:cNvSpPr txBox="1"/>
          <p:nvPr/>
        </p:nvSpPr>
        <p:spPr>
          <a:xfrm>
            <a:off x="9308982" y="1476650"/>
            <a:ext cx="25920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 err="1">
                <a:latin typeface="Arial Rounded MT Bold" panose="020F0704030504030204" pitchFamily="34" charset="0"/>
              </a:rPr>
              <a:t>External</a:t>
            </a:r>
            <a:r>
              <a:rPr lang="fr-FR" sz="3200" dirty="0">
                <a:latin typeface="Arial Rounded MT Bold" panose="020F0704030504030204" pitchFamily="34" charset="0"/>
              </a:rPr>
              <a:t> System</a:t>
            </a:r>
            <a:endParaRPr lang="en-US" sz="3200" dirty="0"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0C128-2589-DD38-DE86-373D44F7CE56}"/>
              </a:ext>
            </a:extLst>
          </p:cNvPr>
          <p:cNvSpPr txBox="1"/>
          <p:nvPr/>
        </p:nvSpPr>
        <p:spPr>
          <a:xfrm>
            <a:off x="3500629" y="3987550"/>
            <a:ext cx="1115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936435"/>
                </a:solidFill>
                <a:latin typeface="Amasis MT Pro Medium" panose="02040604050005020304" pitchFamily="18" charset="0"/>
              </a:rPr>
              <a:t>Admin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B68846-7611-98A2-E8FB-275C410DF726}"/>
              </a:ext>
            </a:extLst>
          </p:cNvPr>
          <p:cNvSpPr txBox="1"/>
          <p:nvPr/>
        </p:nvSpPr>
        <p:spPr>
          <a:xfrm>
            <a:off x="5375390" y="3987550"/>
            <a:ext cx="1291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rgbClr val="936435"/>
                </a:solidFill>
                <a:latin typeface="Amasis MT Pro Medium" panose="02040604050005020304" pitchFamily="18" charset="0"/>
              </a:rPr>
              <a:t>Analyst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BDD04D-F06F-EE4D-AFCA-3BBEFD9A4087}"/>
              </a:ext>
            </a:extLst>
          </p:cNvPr>
          <p:cNvSpPr txBox="1"/>
          <p:nvPr/>
        </p:nvSpPr>
        <p:spPr>
          <a:xfrm>
            <a:off x="7095938" y="3987550"/>
            <a:ext cx="2100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rgbClr val="936435"/>
                </a:solidFill>
                <a:latin typeface="Amasis MT Pro Medium" panose="02040604050005020304" pitchFamily="18" charset="0"/>
              </a:rPr>
              <a:t>SuperAdmin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1D191B-8775-E21C-E361-071BAA849A22}"/>
              </a:ext>
            </a:extLst>
          </p:cNvPr>
          <p:cNvSpPr txBox="1"/>
          <p:nvPr/>
        </p:nvSpPr>
        <p:spPr>
          <a:xfrm>
            <a:off x="308403" y="4572325"/>
            <a:ext cx="272530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Register and login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View all his accounts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Receive fraud alerts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Send money safely to anyone cross-banks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Manage account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8DE08E7-7576-11A8-5961-B715628C46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2119" y="6982997"/>
            <a:ext cx="1410212" cy="12801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660D3A1-1026-9635-05CA-FE7DDBCA1A86}"/>
              </a:ext>
            </a:extLst>
          </p:cNvPr>
          <p:cNvSpPr txBox="1"/>
          <p:nvPr/>
        </p:nvSpPr>
        <p:spPr>
          <a:xfrm>
            <a:off x="9309918" y="8297840"/>
            <a:ext cx="2574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Centralized</a:t>
            </a: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 CBS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A1B1F7-4C89-5545-1B78-EB1C9D089C9B}"/>
              </a:ext>
            </a:extLst>
          </p:cNvPr>
          <p:cNvSpPr txBox="1"/>
          <p:nvPr/>
        </p:nvSpPr>
        <p:spPr>
          <a:xfrm>
            <a:off x="3100773" y="4449215"/>
            <a:ext cx="188928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Decide on registrations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Block a client 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client profiles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75F821-F440-3909-7E9D-D3BD1EEA3F75}"/>
              </a:ext>
            </a:extLst>
          </p:cNvPr>
          <p:cNvSpPr txBox="1"/>
          <p:nvPr/>
        </p:nvSpPr>
        <p:spPr>
          <a:xfrm>
            <a:off x="4853581" y="4478979"/>
            <a:ext cx="232953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Review flagged transactions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Approve or reject sus transfers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client history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AEB9AC-7DD6-A476-1186-C4DEF6D07976}"/>
              </a:ext>
            </a:extLst>
          </p:cNvPr>
          <p:cNvSpPr txBox="1"/>
          <p:nvPr/>
        </p:nvSpPr>
        <p:spPr>
          <a:xfrm>
            <a:off x="7058197" y="4478979"/>
            <a:ext cx="230683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Manage staff accounts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Configure ML thresholds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the audit log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4A121F-A534-6515-0CC7-59156C7F629A}"/>
              </a:ext>
            </a:extLst>
          </p:cNvPr>
          <p:cNvSpPr txBox="1"/>
          <p:nvPr/>
        </p:nvSpPr>
        <p:spPr>
          <a:xfrm>
            <a:off x="9306992" y="8790850"/>
            <a:ext cx="258046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Verify new client identity</a:t>
            </a:r>
            <a:br>
              <a:rPr lang="en-US" sz="1600" dirty="0"/>
            </a:br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Provide accounts and balance data</a:t>
            </a:r>
            <a:br>
              <a:rPr lang="en-US" sz="1600" dirty="0"/>
            </a:br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Synchronize data between banks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5482058-9C74-B67F-0C87-26E6F143476B}"/>
              </a:ext>
            </a:extLst>
          </p:cNvPr>
          <p:cNvCxnSpPr>
            <a:cxnSpLocks/>
          </p:cNvCxnSpPr>
          <p:nvPr/>
        </p:nvCxnSpPr>
        <p:spPr>
          <a:xfrm>
            <a:off x="4863741" y="4126031"/>
            <a:ext cx="0" cy="2237579"/>
          </a:xfrm>
          <a:prstGeom prst="line">
            <a:avLst/>
          </a:prstGeom>
          <a:ln w="28575">
            <a:solidFill>
              <a:srgbClr val="7A4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82C7087-1154-7FDA-674F-C79296DD1D26}"/>
              </a:ext>
            </a:extLst>
          </p:cNvPr>
          <p:cNvCxnSpPr>
            <a:cxnSpLocks/>
          </p:cNvCxnSpPr>
          <p:nvPr/>
        </p:nvCxnSpPr>
        <p:spPr>
          <a:xfrm>
            <a:off x="7095938" y="4103353"/>
            <a:ext cx="0" cy="2237579"/>
          </a:xfrm>
          <a:prstGeom prst="line">
            <a:avLst/>
          </a:prstGeom>
          <a:ln w="28575">
            <a:solidFill>
              <a:srgbClr val="7A4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531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7C0BC-C414-9AF2-AC10-14FAD85B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C685BA2-DC56-CEF9-BD6B-DE86E4E3E3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E453605-707C-BCBC-C0F9-CBCA8A439E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584EFF3-888D-C18A-62CD-B1305F80A7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BE8F5C-CEE9-C364-3257-89A6A7769A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38D94E-2539-AE9F-0AB9-F8BCA18EBC49}"/>
              </a:ext>
            </a:extLst>
          </p:cNvPr>
          <p:cNvSpPr txBox="1"/>
          <p:nvPr/>
        </p:nvSpPr>
        <p:spPr>
          <a:xfrm>
            <a:off x="0" y="0"/>
            <a:ext cx="6494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ptos Slab Black" panose="020B0004020202020204" pitchFamily="34" charset="0"/>
                <a:ea typeface="+mn-ea"/>
                <a:cs typeface="+mn-cs"/>
              </a:rPr>
              <a:t>  Actors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3485B0-7C82-D4EA-CAAF-9BBF53014D59}"/>
              </a:ext>
            </a:extLst>
          </p:cNvPr>
          <p:cNvSpPr txBox="1"/>
          <p:nvPr/>
        </p:nvSpPr>
        <p:spPr>
          <a:xfrm>
            <a:off x="371821" y="727055"/>
            <a:ext cx="2612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Who does what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" name="Rectangle: Top Corners Snipped 1">
            <a:extLst>
              <a:ext uri="{FF2B5EF4-FFF2-40B4-BE49-F238E27FC236}">
                <a16:creationId xmlns:a16="http://schemas.microsoft.com/office/drawing/2014/main" id="{D0AC4C4F-992D-0810-D4CA-257172EE2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8403" y="1476650"/>
            <a:ext cx="2687565" cy="4886960"/>
          </a:xfrm>
          <a:prstGeom prst="snip2SameRect">
            <a:avLst>
              <a:gd name="adj1" fmla="val 11856"/>
              <a:gd name="adj2" fmla="val 0"/>
            </a:avLst>
          </a:prstGeom>
          <a:solidFill>
            <a:srgbClr val="F1FAEE">
              <a:alpha val="7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Top Corners Snipped 2">
            <a:extLst>
              <a:ext uri="{FF2B5EF4-FFF2-40B4-BE49-F238E27FC236}">
                <a16:creationId xmlns:a16="http://schemas.microsoft.com/office/drawing/2014/main" id="{4DDF4DC5-86CB-3828-2BA7-E228A502B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170" y="1476650"/>
            <a:ext cx="6088610" cy="4886960"/>
          </a:xfrm>
          <a:prstGeom prst="snip2SameRect">
            <a:avLst>
              <a:gd name="adj1" fmla="val 6397"/>
              <a:gd name="adj2" fmla="val 0"/>
            </a:avLst>
          </a:prstGeom>
          <a:solidFill>
            <a:srgbClr val="F8F6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097B20-C7FA-BDDE-6DBB-E587E37F0163}"/>
              </a:ext>
            </a:extLst>
          </p:cNvPr>
          <p:cNvSpPr txBox="1"/>
          <p:nvPr/>
        </p:nvSpPr>
        <p:spPr>
          <a:xfrm>
            <a:off x="518606" y="1482640"/>
            <a:ext cx="2267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End-</a:t>
            </a:r>
            <a:r>
              <a:rPr lang="fr-FR" sz="3200" dirty="0" err="1">
                <a:solidFill>
                  <a:srgbClr val="163C5E"/>
                </a:solidFill>
                <a:latin typeface="Arial Rounded MT Bold" panose="020F0704030504030204" pitchFamily="34" charset="0"/>
              </a:rPr>
              <a:t>Users</a:t>
            </a:r>
            <a:endParaRPr lang="en-US" sz="3200" dirty="0">
              <a:solidFill>
                <a:srgbClr val="163C5E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BFFC2B-3777-4B55-C745-8B69C2216784}"/>
              </a:ext>
            </a:extLst>
          </p:cNvPr>
          <p:cNvSpPr txBox="1"/>
          <p:nvPr/>
        </p:nvSpPr>
        <p:spPr>
          <a:xfrm>
            <a:off x="4416998" y="1487558"/>
            <a:ext cx="3367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7A4A28"/>
                </a:solidFill>
                <a:latin typeface="Arial Rounded MT Bold" panose="020F0704030504030204" pitchFamily="34" charset="0"/>
              </a:rPr>
              <a:t>Back-Office</a:t>
            </a:r>
            <a:endParaRPr lang="en-US" sz="3200" dirty="0">
              <a:solidFill>
                <a:srgbClr val="7A4A28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230A056C-E96F-1DE8-86DD-14EAEED21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903" y="2193088"/>
            <a:ext cx="1916564" cy="19165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5ADA576-D5AF-C94E-519C-DCB248B0B6D4}"/>
              </a:ext>
            </a:extLst>
          </p:cNvPr>
          <p:cNvSpPr txBox="1"/>
          <p:nvPr/>
        </p:nvSpPr>
        <p:spPr>
          <a:xfrm>
            <a:off x="923080" y="3987550"/>
            <a:ext cx="145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rgbClr val="225D92"/>
                </a:solidFill>
                <a:latin typeface="Amasis MT Pro Medium" panose="02040604050005020304" pitchFamily="18" charset="0"/>
              </a:rPr>
              <a:t>Clients</a:t>
            </a:r>
            <a:endParaRPr lang="en-US" sz="3200" dirty="0">
              <a:solidFill>
                <a:srgbClr val="225D92"/>
              </a:solidFill>
              <a:latin typeface="Amasis MT Pro Medium" panose="020406040500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6825200-C55C-9F1C-116B-2A7971A2BD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50420" y="2548873"/>
            <a:ext cx="1554480" cy="155448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51E4544-FB27-FE07-6525-AB486288A7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0663" y="2535547"/>
            <a:ext cx="1554480" cy="155448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3A00838-684E-0FF9-4833-DD97008A0B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69115" y="2522220"/>
            <a:ext cx="1554480" cy="1554480"/>
          </a:xfrm>
          <a:prstGeom prst="rect">
            <a:avLst/>
          </a:prstGeom>
        </p:spPr>
      </p:pic>
      <p:sp>
        <p:nvSpPr>
          <p:cNvPr id="40" name="Rectangle: Top Corners Snipped 39">
            <a:extLst>
              <a:ext uri="{FF2B5EF4-FFF2-40B4-BE49-F238E27FC236}">
                <a16:creationId xmlns:a16="http://schemas.microsoft.com/office/drawing/2014/main" id="{F6CCD94B-03B4-4B16-3238-9CF524A20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01178" y="1476650"/>
            <a:ext cx="2592095" cy="4886960"/>
          </a:xfrm>
          <a:prstGeom prst="snip2SameRect">
            <a:avLst>
              <a:gd name="adj1" fmla="val 11856"/>
              <a:gd name="adj2" fmla="val 0"/>
            </a:avLst>
          </a:prstGeom>
          <a:solidFill>
            <a:srgbClr val="E8E8E8">
              <a:alpha val="7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007BA2-60C7-80E6-6A4F-03F798727435}"/>
              </a:ext>
            </a:extLst>
          </p:cNvPr>
          <p:cNvSpPr txBox="1"/>
          <p:nvPr/>
        </p:nvSpPr>
        <p:spPr>
          <a:xfrm>
            <a:off x="9308982" y="1476650"/>
            <a:ext cx="25920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 err="1">
                <a:latin typeface="Arial Rounded MT Bold" panose="020F0704030504030204" pitchFamily="34" charset="0"/>
              </a:rPr>
              <a:t>External</a:t>
            </a:r>
            <a:r>
              <a:rPr lang="fr-FR" sz="3200" dirty="0">
                <a:latin typeface="Arial Rounded MT Bold" panose="020F0704030504030204" pitchFamily="34" charset="0"/>
              </a:rPr>
              <a:t> System</a:t>
            </a:r>
            <a:endParaRPr lang="en-US" sz="3200" dirty="0">
              <a:latin typeface="Arial Rounded MT Bold" panose="020F07040305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72ABC-CF00-96CA-9259-C22435CF56B9}"/>
              </a:ext>
            </a:extLst>
          </p:cNvPr>
          <p:cNvSpPr txBox="1"/>
          <p:nvPr/>
        </p:nvSpPr>
        <p:spPr>
          <a:xfrm>
            <a:off x="3500629" y="3987550"/>
            <a:ext cx="1115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rgbClr val="936435"/>
                </a:solidFill>
                <a:latin typeface="Amasis MT Pro Medium" panose="02040604050005020304" pitchFamily="18" charset="0"/>
              </a:rPr>
              <a:t>Admin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CED32-3AD0-6756-B1F5-318A8C88CA68}"/>
              </a:ext>
            </a:extLst>
          </p:cNvPr>
          <p:cNvSpPr txBox="1"/>
          <p:nvPr/>
        </p:nvSpPr>
        <p:spPr>
          <a:xfrm>
            <a:off x="5375390" y="3987550"/>
            <a:ext cx="1291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rgbClr val="936435"/>
                </a:solidFill>
                <a:latin typeface="Amasis MT Pro Medium" panose="02040604050005020304" pitchFamily="18" charset="0"/>
              </a:rPr>
              <a:t>Analyst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C8958C-A77F-5DF4-C79F-71CC90D96A17}"/>
              </a:ext>
            </a:extLst>
          </p:cNvPr>
          <p:cNvSpPr txBox="1"/>
          <p:nvPr/>
        </p:nvSpPr>
        <p:spPr>
          <a:xfrm>
            <a:off x="7095938" y="3987550"/>
            <a:ext cx="2100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rgbClr val="936435"/>
                </a:solidFill>
                <a:latin typeface="Amasis MT Pro Medium" panose="02040604050005020304" pitchFamily="18" charset="0"/>
              </a:rPr>
              <a:t>SuperAdmin</a:t>
            </a:r>
            <a:endParaRPr lang="en-US" sz="2400" dirty="0">
              <a:solidFill>
                <a:srgbClr val="936435"/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2928C2-D0B8-11EB-6914-DED92517E869}"/>
              </a:ext>
            </a:extLst>
          </p:cNvPr>
          <p:cNvSpPr txBox="1"/>
          <p:nvPr/>
        </p:nvSpPr>
        <p:spPr>
          <a:xfrm>
            <a:off x="308403" y="4572325"/>
            <a:ext cx="272530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Register and login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View all his accounts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Receive fraud alerts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Send money safely to anyone cross-banks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900" dirty="0"/>
              <a:t>Manage account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39674D2-8EE8-0D8B-9AD7-9CF8A1C363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2119" y="2672707"/>
            <a:ext cx="1410212" cy="12801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9DF79FB-7BB4-786E-3798-A7D6D920BEF0}"/>
              </a:ext>
            </a:extLst>
          </p:cNvPr>
          <p:cNvSpPr txBox="1"/>
          <p:nvPr/>
        </p:nvSpPr>
        <p:spPr>
          <a:xfrm>
            <a:off x="9309918" y="3987550"/>
            <a:ext cx="2574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Centralized</a:t>
            </a: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 CBS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69B78D-7807-1856-1BFA-ADFC41E13F04}"/>
              </a:ext>
            </a:extLst>
          </p:cNvPr>
          <p:cNvSpPr txBox="1"/>
          <p:nvPr/>
        </p:nvSpPr>
        <p:spPr>
          <a:xfrm>
            <a:off x="3100773" y="4449215"/>
            <a:ext cx="188928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Decide on registrations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Block a client 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client profiles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2547D5-11DA-60A5-819B-4E14A1B42931}"/>
              </a:ext>
            </a:extLst>
          </p:cNvPr>
          <p:cNvSpPr txBox="1"/>
          <p:nvPr/>
        </p:nvSpPr>
        <p:spPr>
          <a:xfrm>
            <a:off x="4853581" y="4478979"/>
            <a:ext cx="232953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Review flagged transactions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Approve or reject sus transfers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client history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D56BCF-0A68-DF1E-051F-61ED984EBD26}"/>
              </a:ext>
            </a:extLst>
          </p:cNvPr>
          <p:cNvSpPr txBox="1"/>
          <p:nvPr/>
        </p:nvSpPr>
        <p:spPr>
          <a:xfrm>
            <a:off x="7058197" y="4478979"/>
            <a:ext cx="230683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Manage staff accounts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Configure ML thresholds</a:t>
            </a:r>
            <a:br>
              <a:rPr lang="en-US" dirty="0"/>
            </a:br>
            <a:endParaRPr lang="en-US" sz="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View the audit log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3FF16E-4294-9EA7-0532-861C1AD8B4F6}"/>
              </a:ext>
            </a:extLst>
          </p:cNvPr>
          <p:cNvSpPr txBox="1"/>
          <p:nvPr/>
        </p:nvSpPr>
        <p:spPr>
          <a:xfrm>
            <a:off x="9306992" y="4480560"/>
            <a:ext cx="258046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Verify new client identity</a:t>
            </a:r>
            <a:br>
              <a:rPr lang="en-US" sz="1600" dirty="0"/>
            </a:br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Provide accounts and balance data</a:t>
            </a:r>
            <a:br>
              <a:rPr lang="en-US" sz="1600" dirty="0"/>
            </a:br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600" dirty="0"/>
              <a:t>Synchronize data between banks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CF35DE-A2D3-0E89-9CD6-A79B8FA9A027}"/>
              </a:ext>
            </a:extLst>
          </p:cNvPr>
          <p:cNvCxnSpPr>
            <a:cxnSpLocks/>
          </p:cNvCxnSpPr>
          <p:nvPr/>
        </p:nvCxnSpPr>
        <p:spPr>
          <a:xfrm>
            <a:off x="4863741" y="4126031"/>
            <a:ext cx="0" cy="2237579"/>
          </a:xfrm>
          <a:prstGeom prst="line">
            <a:avLst/>
          </a:prstGeom>
          <a:ln w="28575">
            <a:solidFill>
              <a:srgbClr val="7A4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5D31139-E722-7234-5B9B-2D62595C32E6}"/>
              </a:ext>
            </a:extLst>
          </p:cNvPr>
          <p:cNvCxnSpPr>
            <a:cxnSpLocks/>
          </p:cNvCxnSpPr>
          <p:nvPr/>
        </p:nvCxnSpPr>
        <p:spPr>
          <a:xfrm>
            <a:off x="7095938" y="4103353"/>
            <a:ext cx="0" cy="2237579"/>
          </a:xfrm>
          <a:prstGeom prst="line">
            <a:avLst/>
          </a:prstGeom>
          <a:ln w="28575">
            <a:solidFill>
              <a:srgbClr val="7A4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763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D7C2B-4AE6-5385-829E-4606B054F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959CE74-7F7C-FEBA-8BE4-D23E7341AF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089ECF5-3247-78DD-DE35-AC550D3E70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E1FC3B3-3B3E-DB64-B42A-0C1360117A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0C0608-399D-B635-B8C2-B3A07F20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43848A-F022-FF43-5A11-1B1A8E5EECB7}"/>
              </a:ext>
            </a:extLst>
          </p:cNvPr>
          <p:cNvSpPr txBox="1"/>
          <p:nvPr/>
        </p:nvSpPr>
        <p:spPr>
          <a:xfrm>
            <a:off x="0" y="0"/>
            <a:ext cx="10861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ptos Slab Black" panose="020B0004020202020204" pitchFamily="34" charset="0"/>
                <a:ea typeface="+mn-ea"/>
                <a:cs typeface="+mn-cs"/>
              </a:rPr>
              <a:t>  Non-Functional Needs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38C315-7F25-7F59-832D-DC862FD49F06}"/>
              </a:ext>
            </a:extLst>
          </p:cNvPr>
          <p:cNvSpPr txBox="1"/>
          <p:nvPr/>
        </p:nvSpPr>
        <p:spPr>
          <a:xfrm>
            <a:off x="371820" y="727055"/>
            <a:ext cx="43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What the system must guarantee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6037CC2-5E07-5AC9-BC3C-D2EB3A0422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36" y="1474566"/>
            <a:ext cx="2286000" cy="2286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CFF0791-762F-6F39-42A3-022E09DF33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208" y="1296766"/>
            <a:ext cx="2743200" cy="18288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B5257E1-15FB-889F-0212-919FC59127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432" y="3770726"/>
            <a:ext cx="2286000" cy="2286000"/>
          </a:xfrm>
          <a:prstGeom prst="rect">
            <a:avLst/>
          </a:prstGeom>
        </p:spPr>
      </p:pic>
      <p:pic>
        <p:nvPicPr>
          <p:cNvPr id="33" name="Picture 32" descr="Audit - Free business and finance icons">
            <a:extLst>
              <a:ext uri="{FF2B5EF4-FFF2-40B4-BE49-F238E27FC236}">
                <a16:creationId xmlns:a16="http://schemas.microsoft.com/office/drawing/2014/main" id="{11D984A9-522B-C2E2-25C2-B3156B9FB2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4144" y="3841846"/>
            <a:ext cx="2103120" cy="210312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E3DFB50-D989-7BB8-E023-7DA1E79CE36F}"/>
              </a:ext>
            </a:extLst>
          </p:cNvPr>
          <p:cNvSpPr txBox="1"/>
          <p:nvPr/>
        </p:nvSpPr>
        <p:spPr>
          <a:xfrm>
            <a:off x="663818" y="3702535"/>
            <a:ext cx="2064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Security</a:t>
            </a:r>
            <a:endParaRPr lang="en-US" sz="3600" dirty="0">
              <a:solidFill>
                <a:srgbClr val="163C5E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8A6688-2376-478C-C5A4-C1F97F3627A5}"/>
              </a:ext>
            </a:extLst>
          </p:cNvPr>
          <p:cNvSpPr txBox="1"/>
          <p:nvPr/>
        </p:nvSpPr>
        <p:spPr>
          <a:xfrm>
            <a:off x="3634168" y="6050797"/>
            <a:ext cx="2438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 err="1">
                <a:solidFill>
                  <a:srgbClr val="163C5E"/>
                </a:solidFill>
                <a:latin typeface="Arial Rounded MT Bold" panose="020F0704030504030204" pitchFamily="34" charset="0"/>
              </a:rPr>
              <a:t>Reliability</a:t>
            </a:r>
            <a:endParaRPr lang="en-US" sz="3600" dirty="0">
              <a:solidFill>
                <a:srgbClr val="163C5E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FC6DA6-9708-4F19-9791-B244F6F38278}"/>
              </a:ext>
            </a:extLst>
          </p:cNvPr>
          <p:cNvSpPr txBox="1"/>
          <p:nvPr/>
        </p:nvSpPr>
        <p:spPr>
          <a:xfrm>
            <a:off x="6063488" y="3009999"/>
            <a:ext cx="3086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Performance</a:t>
            </a:r>
            <a:endParaRPr lang="en-US" sz="3600" dirty="0">
              <a:solidFill>
                <a:srgbClr val="163C5E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FC1B1F-17FB-28E1-F219-99BC32E43134}"/>
              </a:ext>
            </a:extLst>
          </p:cNvPr>
          <p:cNvSpPr txBox="1"/>
          <p:nvPr/>
        </p:nvSpPr>
        <p:spPr>
          <a:xfrm>
            <a:off x="9084056" y="5946625"/>
            <a:ext cx="3003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 err="1">
                <a:solidFill>
                  <a:srgbClr val="163C5E"/>
                </a:solidFill>
                <a:latin typeface="Arial Rounded MT Bold" panose="020F0704030504030204" pitchFamily="34" charset="0"/>
              </a:rPr>
              <a:t>Auditability</a:t>
            </a:r>
            <a:endParaRPr lang="en-US" sz="3600" dirty="0">
              <a:solidFill>
                <a:srgbClr val="163C5E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430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02E92-BE53-8E4E-8878-71BF4E703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62ED7E3E-A7BC-78F0-90DC-4AB38DE126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C1B6EC5-BA17-C669-1599-253148ABB1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45C502A-43AA-DCF1-81CE-D407F75419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90A2B9F-0251-FEBD-5D58-3325D80E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018D14-240C-E378-D3E9-D1106648DEC8}"/>
              </a:ext>
            </a:extLst>
          </p:cNvPr>
          <p:cNvSpPr txBox="1"/>
          <p:nvPr/>
        </p:nvSpPr>
        <p:spPr>
          <a:xfrm>
            <a:off x="0" y="0"/>
            <a:ext cx="3634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ptos Slab Black" panose="020B0004020202020204" pitchFamily="34" charset="0"/>
                <a:ea typeface="+mn-ea"/>
                <a:cs typeface="+mn-cs"/>
              </a:rPr>
              <a:t>  Security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488026-9E3F-CA3D-406C-EE8BC050800A}"/>
              </a:ext>
            </a:extLst>
          </p:cNvPr>
          <p:cNvSpPr txBox="1"/>
          <p:nvPr/>
        </p:nvSpPr>
        <p:spPr>
          <a:xfrm>
            <a:off x="371820" y="727055"/>
            <a:ext cx="43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Security is not an option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5C1F68-4F0A-2D7E-0E86-27D12636A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135" y="1880449"/>
            <a:ext cx="1590675" cy="1333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CAC7EE-6996-A1D2-FA04-E897CBA726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9" t="25785" r="9853" b="23685"/>
          <a:stretch>
            <a:fillRect/>
          </a:stretch>
        </p:blipFill>
        <p:spPr>
          <a:xfrm>
            <a:off x="1005656" y="1915775"/>
            <a:ext cx="3120895" cy="1037207"/>
          </a:xfrm>
          <a:prstGeom prst="rect">
            <a:avLst/>
          </a:prstGeom>
        </p:spPr>
      </p:pic>
      <p:pic>
        <p:nvPicPr>
          <p:cNvPr id="15" name="Picture 14" descr="Referenz: Webdesign, Webentwicklung, Online Konfigurator">
            <a:extLst>
              <a:ext uri="{FF2B5EF4-FFF2-40B4-BE49-F238E27FC236}">
                <a16:creationId xmlns:a16="http://schemas.microsoft.com/office/drawing/2014/main" id="{B065CFC0-6222-A8DD-366D-8AAB2E5DD0C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7406" b="17402"/>
          <a:stretch>
            <a:fillRect/>
          </a:stretch>
        </p:blipFill>
        <p:spPr>
          <a:xfrm>
            <a:off x="1601932" y="4638716"/>
            <a:ext cx="2045511" cy="1333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4DB6CC-B65B-C1DE-13A1-658ED05429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5503" y="4282596"/>
            <a:ext cx="1536454" cy="1536454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FC160D2-B907-4A71-D7F8-308BDF69FF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5440" y="3951224"/>
            <a:ext cx="2708484" cy="27084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1E61959-8A49-78A6-12B4-474624F2EE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301" y="1612100"/>
            <a:ext cx="2412779" cy="16085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040F84-201E-A85D-D283-C5649364747B}"/>
              </a:ext>
            </a:extLst>
          </p:cNvPr>
          <p:cNvSpPr txBox="1"/>
          <p:nvPr/>
        </p:nvSpPr>
        <p:spPr>
          <a:xfrm>
            <a:off x="5703109" y="5804459"/>
            <a:ext cx="952726" cy="461665"/>
          </a:xfrm>
          <a:prstGeom prst="rect">
            <a:avLst/>
          </a:prstGeom>
          <a:solidFill>
            <a:srgbClr val="FFE66D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7990AC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 </a:t>
            </a:r>
            <a:r>
              <a:rPr lang="fr-FR" sz="2400" b="1" dirty="0">
                <a:solidFill>
                  <a:srgbClr val="7990AC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OTP</a:t>
            </a:r>
            <a:endParaRPr lang="en-US" sz="2400" b="1" dirty="0">
              <a:solidFill>
                <a:srgbClr val="7990AC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62943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D6481-88DD-993D-AE86-B549958ED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03BB5E8-D54F-B84E-9EFC-70F07CE6B5C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F1F1F76-2C97-7E65-9675-3387451B35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8B9449C-C44E-5974-3C82-1698BDC907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5C92565-4515-E174-11E3-E7AD8E5B6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63B7E4-DFCC-91B1-E763-684E253D813C}"/>
              </a:ext>
            </a:extLst>
          </p:cNvPr>
          <p:cNvSpPr txBox="1"/>
          <p:nvPr/>
        </p:nvSpPr>
        <p:spPr>
          <a:xfrm>
            <a:off x="2049780" y="1843951"/>
            <a:ext cx="809244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10000" b="1" dirty="0">
                <a:solidFill>
                  <a:srgbClr val="003F76"/>
                </a:solidFill>
                <a:latin typeface="Aptos Slab Black" panose="020B0004020202020204" pitchFamily="34" charset="0"/>
              </a:rPr>
              <a:t>Methodology &amp; Planning</a:t>
            </a:r>
            <a:endParaRPr kumimoji="0" lang="en-US" sz="100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324170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908D7-5C4D-13E9-6796-13C6C7A9C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258B663-EDFA-88AD-6548-20B8A93E08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6CC3A54-207F-AD9A-D367-1951A9BE9C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43930AF-4606-C74C-F778-760E178A61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26143E-FB10-7068-423E-FE9BE059A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AFCA61-46A7-0242-114F-1131A34A0336}"/>
              </a:ext>
            </a:extLst>
          </p:cNvPr>
          <p:cNvSpPr txBox="1"/>
          <p:nvPr/>
        </p:nvSpPr>
        <p:spPr>
          <a:xfrm>
            <a:off x="371820" y="727055"/>
            <a:ext cx="43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2TUP &amp; Gantt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0008595E-9813-0344-8446-89179B5541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03707" y="1761538"/>
            <a:ext cx="4547412" cy="42464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3D16E0-254F-5F0B-7FA3-3E40624252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053" y="1761538"/>
            <a:ext cx="6313208" cy="38305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13C0B9-7364-6CB2-E77A-447851EC3B7E}"/>
              </a:ext>
            </a:extLst>
          </p:cNvPr>
          <p:cNvSpPr txBox="1"/>
          <p:nvPr/>
        </p:nvSpPr>
        <p:spPr>
          <a:xfrm>
            <a:off x="-574040" y="0"/>
            <a:ext cx="99872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5400" b="1" dirty="0">
                <a:solidFill>
                  <a:srgbClr val="003F76"/>
                </a:solidFill>
                <a:latin typeface="Aptos Slab Black" panose="020B0004020202020204" pitchFamily="34" charset="0"/>
              </a:rPr>
              <a:t>Methodology &amp; Planning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368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49306-4D0A-B554-EBFC-242E37AEA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85A1AA1-62C2-4806-FD95-5D4424CEC61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ACF6AC0-EEB4-38DF-9E15-FFCCC40FCE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4DBD6E6-8352-849B-B5BF-DE00BCBBDA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3E998E-5F54-65B1-00C0-87FD81F3E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7BA88D-3CEE-0DF5-C140-6443E4CEEF4A}"/>
              </a:ext>
            </a:extLst>
          </p:cNvPr>
          <p:cNvSpPr txBox="1"/>
          <p:nvPr/>
        </p:nvSpPr>
        <p:spPr>
          <a:xfrm>
            <a:off x="2103119" y="2613392"/>
            <a:ext cx="79857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0000" b="1" dirty="0">
                <a:solidFill>
                  <a:srgbClr val="003F76"/>
                </a:solidFill>
                <a:latin typeface="Aptos Slab Black" panose="020B0004020202020204" pitchFamily="34" charset="0"/>
              </a:rPr>
              <a:t>Architecture</a:t>
            </a:r>
            <a:endParaRPr kumimoji="0" lang="en-US" sz="100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3658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B98DD-EA0F-9C93-9E84-F06B103E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B1A0D5E-3A1A-4E18-FF05-BDFB4869283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B3B61B9-D190-6765-41FF-4633A714C9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34C93F3C-6C4E-2A63-C7A8-836E8CAE14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65D2BD-8697-882E-1B0A-93FD30A5F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D01382-889A-96A8-BBC9-EDEDD0888FDC}"/>
              </a:ext>
            </a:extLst>
          </p:cNvPr>
          <p:cNvSpPr txBox="1"/>
          <p:nvPr/>
        </p:nvSpPr>
        <p:spPr>
          <a:xfrm>
            <a:off x="-1" y="0"/>
            <a:ext cx="47772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rgbClr val="003F76"/>
                </a:solidFill>
                <a:latin typeface="Aptos Slab Black" panose="020B0004020202020204" pitchFamily="34" charset="0"/>
              </a:rPr>
              <a:t>  Architecture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E0CE4B-BDB1-F6F6-E540-BF61D38B2700}"/>
              </a:ext>
            </a:extLst>
          </p:cNvPr>
          <p:cNvSpPr txBox="1"/>
          <p:nvPr/>
        </p:nvSpPr>
        <p:spPr>
          <a:xfrm>
            <a:off x="371820" y="727055"/>
            <a:ext cx="2394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N-Tier structure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B749144-95EB-7744-6C49-3B6E359BB6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14226"/>
            <a:ext cx="12191999" cy="554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634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5EECB-F161-FD4C-2EE4-8CF9BD8C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1D5D50B-C2E0-1BBD-9709-45A67B9791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098DB04-DA67-ECB2-A90E-E948B37E30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35A9317-C005-195D-1D55-D790E8558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597B84E-99AC-A0B3-D1C6-291AF5CBD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827B1D-331E-5D94-0EEC-9B4CD963DAF8}"/>
              </a:ext>
            </a:extLst>
          </p:cNvPr>
          <p:cNvSpPr txBox="1"/>
          <p:nvPr/>
        </p:nvSpPr>
        <p:spPr>
          <a:xfrm>
            <a:off x="1554479" y="2613392"/>
            <a:ext cx="90830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0000" b="1" dirty="0">
                <a:solidFill>
                  <a:srgbClr val="003F76"/>
                </a:solidFill>
                <a:latin typeface="Aptos Slab Black" panose="020B0004020202020204" pitchFamily="34" charset="0"/>
              </a:rPr>
              <a:t>Class Diagram</a:t>
            </a:r>
            <a:endParaRPr kumimoji="0" lang="en-US" sz="100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6446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0483D-3D54-DE6F-F6E6-D14769266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3B0EADF-2240-A7AD-0A96-EB94790A02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8C592BF-478D-F05B-BA1F-3E12BE482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4A26F9B-302A-356F-5E86-4F5FA9DF74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436D5F9-2005-D034-12A4-FE8CC52E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F833BD-0EE1-737F-9075-0BD855B53C6F}"/>
              </a:ext>
            </a:extLst>
          </p:cNvPr>
          <p:cNvSpPr txBox="1"/>
          <p:nvPr/>
        </p:nvSpPr>
        <p:spPr>
          <a:xfrm>
            <a:off x="-1" y="0"/>
            <a:ext cx="18592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rgbClr val="003F76"/>
                </a:solidFill>
                <a:latin typeface="Aptos Slab Black" panose="020B0004020202020204" pitchFamily="34" charset="0"/>
              </a:rPr>
              <a:t>  CBS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5050EB-2C53-F714-AC00-1697970562A5}"/>
              </a:ext>
            </a:extLst>
          </p:cNvPr>
          <p:cNvSpPr txBox="1"/>
          <p:nvPr/>
        </p:nvSpPr>
        <p:spPr>
          <a:xfrm>
            <a:off x="371820" y="727055"/>
            <a:ext cx="5637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The core that gathers every bank's data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AFA489B-C90B-72A2-94A3-6948249E41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2264" y="1304540"/>
            <a:ext cx="5527472" cy="54532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A4939C-6F25-9C2F-6CD1-8E6E14C5BEEF}"/>
              </a:ext>
            </a:extLst>
          </p:cNvPr>
          <p:cNvSpPr txBox="1"/>
          <p:nvPr/>
        </p:nvSpPr>
        <p:spPr>
          <a:xfrm>
            <a:off x="1750540" y="0"/>
            <a:ext cx="4968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rgbClr val="003F76"/>
                </a:solidFill>
                <a:latin typeface="Aptos Slab Black" panose="020B0004020202020204" pitchFamily="34" charset="0"/>
              </a:rPr>
              <a:t>Class Diagram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00705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FDF43-F601-7C03-FB0C-C7DDAEDAC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6B281B1-FC77-990D-C679-ED67A016B9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56D1D35-0548-3B1D-480D-30999DEF62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5053339-11B8-C9A6-B03C-BFCFEDEE78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863560-4750-319E-20A4-3E236B9F5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60FDC-63FB-EA4F-0D51-9D4248053A10}"/>
              </a:ext>
            </a:extLst>
          </p:cNvPr>
          <p:cNvSpPr txBox="1"/>
          <p:nvPr/>
        </p:nvSpPr>
        <p:spPr>
          <a:xfrm>
            <a:off x="-1" y="0"/>
            <a:ext cx="74168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rgbClr val="003F76"/>
                </a:solidFill>
                <a:latin typeface="Aptos Slab Black" panose="020B0004020202020204" pitchFamily="34" charset="0"/>
              </a:rPr>
              <a:t>  </a:t>
            </a:r>
            <a:r>
              <a:rPr lang="en-US" sz="5400" b="1" dirty="0" err="1">
                <a:solidFill>
                  <a:srgbClr val="003F76"/>
                </a:solidFill>
                <a:latin typeface="Aptos Slab Black" panose="020B0004020202020204" pitchFamily="34" charset="0"/>
              </a:rPr>
              <a:t>PayZo</a:t>
            </a:r>
            <a:r>
              <a:rPr lang="en-US" sz="5400" b="1" dirty="0">
                <a:solidFill>
                  <a:srgbClr val="003F76"/>
                </a:solidFill>
                <a:latin typeface="Aptos Slab Black" panose="020B0004020202020204" pitchFamily="34" charset="0"/>
              </a:rPr>
              <a:t> Class Diagram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ptos Slab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CAFA73-F81E-6C50-BC3D-57571EFC5AA2}"/>
              </a:ext>
            </a:extLst>
          </p:cNvPr>
          <p:cNvSpPr txBox="1"/>
          <p:nvPr/>
        </p:nvSpPr>
        <p:spPr>
          <a:xfrm>
            <a:off x="371820" y="727055"/>
            <a:ext cx="432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How the pieces connect together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72455F2-98A7-C529-CD49-8D5EEEEC50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4677" y="1281194"/>
            <a:ext cx="12002646" cy="547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265159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2D370-D4A5-A345-B7BD-DD2734E3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335A64F-06E3-FBAC-1195-70CE99EF0F6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4CA643D-B026-6111-9558-F57A1F6578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366C276-F677-E3B4-4896-6AD157581A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09555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D15953-F06B-128E-2A35-EDD7DD99D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263197-198A-BC6E-1F8B-D854E2B70351}"/>
              </a:ext>
            </a:extLst>
          </p:cNvPr>
          <p:cNvSpPr txBox="1"/>
          <p:nvPr/>
        </p:nvSpPr>
        <p:spPr>
          <a:xfrm>
            <a:off x="2735580" y="2613392"/>
            <a:ext cx="67208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0000" b="1" dirty="0">
                <a:solidFill>
                  <a:srgbClr val="003F76"/>
                </a:solidFill>
                <a:latin typeface="Aptos Slab Black" panose="020B0004020202020204" pitchFamily="34" charset="0"/>
              </a:rPr>
              <a:t>ML System </a:t>
            </a:r>
          </a:p>
        </p:txBody>
      </p:sp>
    </p:spTree>
    <p:extLst>
      <p:ext uri="{BB962C8B-B14F-4D97-AF65-F5344CB8AC3E}">
        <p14:creationId xmlns:p14="http://schemas.microsoft.com/office/powerpoint/2010/main" val="16801057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F413A-3177-7CA6-CD75-F876EF40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F6535AD-1DE1-475E-9891-AD0BF186161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95290D4-7583-AABB-5A51-E94806B4B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16CB9ED-CC15-BA0F-0366-7DB85FEEDC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FC73AB9-A7B4-80D5-83D2-F06176FE5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7254A6-C332-AE4E-3511-900CE8DAC00F}"/>
              </a:ext>
            </a:extLst>
          </p:cNvPr>
          <p:cNvSpPr txBox="1"/>
          <p:nvPr/>
        </p:nvSpPr>
        <p:spPr>
          <a:xfrm>
            <a:off x="-1" y="0"/>
            <a:ext cx="7406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rgbClr val="003F76"/>
                </a:solidFill>
                <a:latin typeface="Aptos Slab Black" panose="020B0004020202020204" pitchFamily="34" charset="0"/>
              </a:rPr>
              <a:t>  ML System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7A4FCA-F7C1-16AA-3C21-F7D95D7AE68A}"/>
              </a:ext>
            </a:extLst>
          </p:cNvPr>
          <p:cNvSpPr txBox="1"/>
          <p:nvPr/>
        </p:nvSpPr>
        <p:spPr>
          <a:xfrm>
            <a:off x="371821" y="727055"/>
            <a:ext cx="2889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« Training and </a:t>
            </a:r>
            <a:r>
              <a:rPr lang="fr-FR" sz="2400" i="1" dirty="0" err="1">
                <a:solidFill>
                  <a:srgbClr val="003F76"/>
                </a:solidFill>
                <a:latin typeface="Arial Narrow" panose="020B0606020202030204" pitchFamily="34" charset="0"/>
              </a:rPr>
              <a:t>Testing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 </a:t>
            </a:r>
            <a:r>
              <a:rPr lang="fr-FR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»</a:t>
            </a:r>
            <a:endParaRPr lang="en-US" sz="2400" i="1" dirty="0">
              <a:solidFill>
                <a:srgbClr val="003F76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EB2260-5CB1-5360-ECDD-23CEC37AC0E0}"/>
              </a:ext>
            </a:extLst>
          </p:cNvPr>
          <p:cNvSpPr txBox="1"/>
          <p:nvPr/>
        </p:nvSpPr>
        <p:spPr>
          <a:xfrm>
            <a:off x="442452" y="1306533"/>
            <a:ext cx="3746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Data </a:t>
            </a:r>
            <a:r>
              <a:rPr lang="fr-FR" sz="3600" dirty="0" err="1">
                <a:solidFill>
                  <a:srgbClr val="163C5E"/>
                </a:solidFill>
                <a:latin typeface="Arial Rounded MT Bold" panose="020F0704030504030204" pitchFamily="34" charset="0"/>
              </a:rPr>
              <a:t>generated</a:t>
            </a:r>
            <a:r>
              <a:rPr lang="fr-FR" sz="36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:</a:t>
            </a:r>
            <a:endParaRPr lang="en-US" sz="3600" dirty="0">
              <a:solidFill>
                <a:srgbClr val="163C5E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EC7E6A-CE32-4ED8-3722-A8EBB3D56C6B}"/>
              </a:ext>
            </a:extLst>
          </p:cNvPr>
          <p:cNvSpPr/>
          <p:nvPr/>
        </p:nvSpPr>
        <p:spPr>
          <a:xfrm>
            <a:off x="651889" y="2026865"/>
            <a:ext cx="3019624" cy="4762555"/>
          </a:xfrm>
          <a:prstGeom prst="rect">
            <a:avLst/>
          </a:prstGeom>
          <a:effectLst>
            <a:outerShdw blurRad="190500" sx="101000" sy="101000" algn="ctr" rotWithShape="0">
              <a:prstClr val="black">
                <a:alpha val="26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2D9D6B-9744-F018-11C9-619FF34756B7}"/>
              </a:ext>
            </a:extLst>
          </p:cNvPr>
          <p:cNvSpPr/>
          <p:nvPr/>
        </p:nvSpPr>
        <p:spPr>
          <a:xfrm>
            <a:off x="850697" y="7027455"/>
            <a:ext cx="3017520" cy="783165"/>
          </a:xfrm>
          <a:custGeom>
            <a:avLst/>
            <a:gdLst>
              <a:gd name="csX0" fmla="*/ 0 w 4016415"/>
              <a:gd name="csY0" fmla="*/ 0 h 976136"/>
              <a:gd name="csX1" fmla="*/ 686768 w 4016415"/>
              <a:gd name="csY1" fmla="*/ 0 h 976136"/>
              <a:gd name="csX2" fmla="*/ 893879 w 4016415"/>
              <a:gd name="csY2" fmla="*/ 0 h 976136"/>
              <a:gd name="csX3" fmla="*/ 3815783 w 4016415"/>
              <a:gd name="csY3" fmla="*/ 0 h 976136"/>
              <a:gd name="csX4" fmla="*/ 4016415 w 4016415"/>
              <a:gd name="csY4" fmla="*/ 200632 h 976136"/>
              <a:gd name="csX5" fmla="*/ 4016415 w 4016415"/>
              <a:gd name="csY5" fmla="*/ 976136 h 976136"/>
              <a:gd name="csX6" fmla="*/ 3815783 w 4016415"/>
              <a:gd name="csY6" fmla="*/ 775504 h 976136"/>
              <a:gd name="csX7" fmla="*/ 486136 w 4016415"/>
              <a:gd name="csY7" fmla="*/ 775504 h 976136"/>
              <a:gd name="csX8" fmla="*/ 486136 w 4016415"/>
              <a:gd name="csY8" fmla="*/ 772562 h 976136"/>
              <a:gd name="csX9" fmla="*/ 0 w 4016415"/>
              <a:gd name="csY9" fmla="*/ 772562 h 976136"/>
              <a:gd name="csX10" fmla="*/ 386281 w 4016415"/>
              <a:gd name="csY10" fmla="*/ 386281 h 9761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016415" h="976136">
                <a:moveTo>
                  <a:pt x="0" y="0"/>
                </a:moveTo>
                <a:lnTo>
                  <a:pt x="686768" y="0"/>
                </a:lnTo>
                <a:lnTo>
                  <a:pt x="893879" y="0"/>
                </a:lnTo>
                <a:lnTo>
                  <a:pt x="3815783" y="0"/>
                </a:lnTo>
                <a:cubicBezTo>
                  <a:pt x="3926589" y="0"/>
                  <a:pt x="4016415" y="89826"/>
                  <a:pt x="4016415" y="200632"/>
                </a:cubicBezTo>
                <a:lnTo>
                  <a:pt x="4016415" y="976136"/>
                </a:lnTo>
                <a:cubicBezTo>
                  <a:pt x="4016415" y="865330"/>
                  <a:pt x="3926589" y="775504"/>
                  <a:pt x="3815783" y="775504"/>
                </a:cubicBezTo>
                <a:lnTo>
                  <a:pt x="486136" y="775504"/>
                </a:lnTo>
                <a:lnTo>
                  <a:pt x="486136" y="772562"/>
                </a:lnTo>
                <a:lnTo>
                  <a:pt x="0" y="772562"/>
                </a:lnTo>
                <a:lnTo>
                  <a:pt x="386281" y="386281"/>
                </a:lnTo>
                <a:close/>
              </a:path>
            </a:pathLst>
          </a:custGeom>
          <a:effectLst>
            <a:outerShdw blurRad="101600" dist="76200" dir="8100000" algn="tr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masis MT Pro Black" panose="02040A04050005020304" pitchFamily="18" charset="0"/>
              </a:rPr>
              <a:t>10,000 User</a:t>
            </a:r>
            <a:endParaRPr lang="en-US" sz="20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F7B5654-70B0-C1B3-C642-1E9C395DFB56}"/>
              </a:ext>
            </a:extLst>
          </p:cNvPr>
          <p:cNvSpPr/>
          <p:nvPr/>
        </p:nvSpPr>
        <p:spPr>
          <a:xfrm flipH="1">
            <a:off x="455185" y="7948633"/>
            <a:ext cx="3017520" cy="783165"/>
          </a:xfrm>
          <a:custGeom>
            <a:avLst/>
            <a:gdLst>
              <a:gd name="csX0" fmla="*/ 3815783 w 4016415"/>
              <a:gd name="csY0" fmla="*/ 0 h 976136"/>
              <a:gd name="csX1" fmla="*/ 892536 w 4016415"/>
              <a:gd name="csY1" fmla="*/ 0 h 976136"/>
              <a:gd name="csX2" fmla="*/ 686768 w 4016415"/>
              <a:gd name="csY2" fmla="*/ 0 h 976136"/>
              <a:gd name="csX3" fmla="*/ 0 w 4016415"/>
              <a:gd name="csY3" fmla="*/ 0 h 976136"/>
              <a:gd name="csX4" fmla="*/ 387624 w 4016415"/>
              <a:gd name="csY4" fmla="*/ 387624 h 976136"/>
              <a:gd name="csX5" fmla="*/ 0 w 4016415"/>
              <a:gd name="csY5" fmla="*/ 775248 h 976136"/>
              <a:gd name="csX6" fmla="*/ 486136 w 4016415"/>
              <a:gd name="csY6" fmla="*/ 775248 h 976136"/>
              <a:gd name="csX7" fmla="*/ 486136 w 4016415"/>
              <a:gd name="csY7" fmla="*/ 775504 h 976136"/>
              <a:gd name="csX8" fmla="*/ 3815783 w 4016415"/>
              <a:gd name="csY8" fmla="*/ 775504 h 976136"/>
              <a:gd name="csX9" fmla="*/ 4016415 w 4016415"/>
              <a:gd name="csY9" fmla="*/ 976136 h 976136"/>
              <a:gd name="csX10" fmla="*/ 4016415 w 4016415"/>
              <a:gd name="csY10" fmla="*/ 200632 h 976136"/>
              <a:gd name="csX11" fmla="*/ 3815783 w 4016415"/>
              <a:gd name="csY11" fmla="*/ 0 h 9761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4016415" h="976136">
                <a:moveTo>
                  <a:pt x="3815783" y="0"/>
                </a:moveTo>
                <a:lnTo>
                  <a:pt x="892536" y="0"/>
                </a:lnTo>
                <a:lnTo>
                  <a:pt x="686768" y="0"/>
                </a:lnTo>
                <a:lnTo>
                  <a:pt x="0" y="0"/>
                </a:lnTo>
                <a:lnTo>
                  <a:pt x="387624" y="387624"/>
                </a:lnTo>
                <a:lnTo>
                  <a:pt x="0" y="775248"/>
                </a:lnTo>
                <a:lnTo>
                  <a:pt x="486136" y="775248"/>
                </a:lnTo>
                <a:lnTo>
                  <a:pt x="486136" y="775504"/>
                </a:lnTo>
                <a:lnTo>
                  <a:pt x="3815783" y="775504"/>
                </a:lnTo>
                <a:cubicBezTo>
                  <a:pt x="3926589" y="775504"/>
                  <a:pt x="4016415" y="865330"/>
                  <a:pt x="4016415" y="976136"/>
                </a:cubicBezTo>
                <a:lnTo>
                  <a:pt x="4016415" y="200632"/>
                </a:lnTo>
                <a:cubicBezTo>
                  <a:pt x="4016415" y="89826"/>
                  <a:pt x="3926589" y="0"/>
                  <a:pt x="3815783" y="0"/>
                </a:cubicBezTo>
                <a:close/>
              </a:path>
            </a:pathLst>
          </a:custGeom>
          <a:effectLst>
            <a:outerShdw blurRad="101600" dist="762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masis MT Pro Black" panose="02040A04050005020304" pitchFamily="18" charset="0"/>
              </a:rPr>
              <a:t>12,000 </a:t>
            </a:r>
            <a:r>
              <a:rPr lang="fr-FR" sz="2000" dirty="0" err="1">
                <a:solidFill>
                  <a:schemeClr val="bg1"/>
                </a:solidFill>
                <a:latin typeface="Amasis MT Pro Black" panose="02040A04050005020304" pitchFamily="18" charset="0"/>
              </a:rPr>
              <a:t>Account</a:t>
            </a:r>
            <a:endParaRPr lang="en-US" sz="20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20BAE5CD-09B5-CF33-0A7B-C7B051F4CE74}"/>
              </a:ext>
            </a:extLst>
          </p:cNvPr>
          <p:cNvSpPr/>
          <p:nvPr/>
        </p:nvSpPr>
        <p:spPr>
          <a:xfrm rot="5400000">
            <a:off x="3636056" y="7689211"/>
            <a:ext cx="270686" cy="19363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dk2">
                  <a:tint val="93000"/>
                  <a:satMod val="150000"/>
                  <a:shade val="98000"/>
                  <a:lumMod val="102000"/>
                </a:schemeClr>
              </a:gs>
              <a:gs pos="50000">
                <a:schemeClr val="dk2">
                  <a:tint val="98000"/>
                  <a:satMod val="130000"/>
                  <a:shade val="90000"/>
                  <a:lumMod val="103000"/>
                </a:schemeClr>
              </a:gs>
              <a:gs pos="0">
                <a:schemeClr val="dk2">
                  <a:shade val="63000"/>
                  <a:satMod val="120000"/>
                </a:schemeClr>
              </a:gs>
            </a:gsLst>
          </a:gradFill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: Top Corners Rounded 38">
            <a:extLst>
              <a:ext uri="{FF2B5EF4-FFF2-40B4-BE49-F238E27FC236}">
                <a16:creationId xmlns:a16="http://schemas.microsoft.com/office/drawing/2014/main" id="{298F516D-6BD5-2B05-892D-B5FDBAF0340C}"/>
              </a:ext>
            </a:extLst>
          </p:cNvPr>
          <p:cNvSpPr/>
          <p:nvPr/>
        </p:nvSpPr>
        <p:spPr>
          <a:xfrm rot="16200000">
            <a:off x="412156" y="8610227"/>
            <a:ext cx="270686" cy="19363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dk2">
                  <a:tint val="93000"/>
                  <a:satMod val="150000"/>
                  <a:shade val="98000"/>
                  <a:lumMod val="102000"/>
                </a:schemeClr>
              </a:gs>
              <a:gs pos="50000">
                <a:schemeClr val="dk2">
                  <a:tint val="98000"/>
                  <a:satMod val="130000"/>
                  <a:shade val="90000"/>
                  <a:lumMod val="103000"/>
                </a:schemeClr>
              </a:gs>
              <a:gs pos="0">
                <a:schemeClr val="dk2">
                  <a:shade val="63000"/>
                  <a:satMod val="120000"/>
                </a:schemeClr>
              </a:gs>
            </a:gsLst>
          </a:gradFill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56D56CD0-57FA-7A6B-09C6-5B551E26451A}"/>
              </a:ext>
            </a:extLst>
          </p:cNvPr>
          <p:cNvSpPr/>
          <p:nvPr/>
        </p:nvSpPr>
        <p:spPr>
          <a:xfrm>
            <a:off x="850697" y="8859068"/>
            <a:ext cx="3017520" cy="783165"/>
          </a:xfrm>
          <a:custGeom>
            <a:avLst/>
            <a:gdLst>
              <a:gd name="csX0" fmla="*/ 0 w 4016415"/>
              <a:gd name="csY0" fmla="*/ 0 h 976136"/>
              <a:gd name="csX1" fmla="*/ 686768 w 4016415"/>
              <a:gd name="csY1" fmla="*/ 0 h 976136"/>
              <a:gd name="csX2" fmla="*/ 893879 w 4016415"/>
              <a:gd name="csY2" fmla="*/ 0 h 976136"/>
              <a:gd name="csX3" fmla="*/ 3815783 w 4016415"/>
              <a:gd name="csY3" fmla="*/ 0 h 976136"/>
              <a:gd name="csX4" fmla="*/ 4016415 w 4016415"/>
              <a:gd name="csY4" fmla="*/ 200632 h 976136"/>
              <a:gd name="csX5" fmla="*/ 4016415 w 4016415"/>
              <a:gd name="csY5" fmla="*/ 976136 h 976136"/>
              <a:gd name="csX6" fmla="*/ 3815783 w 4016415"/>
              <a:gd name="csY6" fmla="*/ 775504 h 976136"/>
              <a:gd name="csX7" fmla="*/ 486136 w 4016415"/>
              <a:gd name="csY7" fmla="*/ 775504 h 976136"/>
              <a:gd name="csX8" fmla="*/ 486136 w 4016415"/>
              <a:gd name="csY8" fmla="*/ 772562 h 976136"/>
              <a:gd name="csX9" fmla="*/ 0 w 4016415"/>
              <a:gd name="csY9" fmla="*/ 772562 h 976136"/>
              <a:gd name="csX10" fmla="*/ 386281 w 4016415"/>
              <a:gd name="csY10" fmla="*/ 386281 h 9761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016415" h="976136">
                <a:moveTo>
                  <a:pt x="0" y="0"/>
                </a:moveTo>
                <a:lnTo>
                  <a:pt x="686768" y="0"/>
                </a:lnTo>
                <a:lnTo>
                  <a:pt x="893879" y="0"/>
                </a:lnTo>
                <a:lnTo>
                  <a:pt x="3815783" y="0"/>
                </a:lnTo>
                <a:cubicBezTo>
                  <a:pt x="3926589" y="0"/>
                  <a:pt x="4016415" y="89826"/>
                  <a:pt x="4016415" y="200632"/>
                </a:cubicBezTo>
                <a:lnTo>
                  <a:pt x="4016415" y="976136"/>
                </a:lnTo>
                <a:cubicBezTo>
                  <a:pt x="4016415" y="865330"/>
                  <a:pt x="3926589" y="775504"/>
                  <a:pt x="3815783" y="775504"/>
                </a:cubicBezTo>
                <a:lnTo>
                  <a:pt x="486136" y="775504"/>
                </a:lnTo>
                <a:lnTo>
                  <a:pt x="486136" y="772562"/>
                </a:lnTo>
                <a:lnTo>
                  <a:pt x="0" y="772562"/>
                </a:lnTo>
                <a:lnTo>
                  <a:pt x="386281" y="386281"/>
                </a:lnTo>
                <a:close/>
              </a:path>
            </a:pathLst>
          </a:custGeom>
          <a:effectLst>
            <a:outerShdw blurRad="101600" dist="76200" dir="8100000" algn="tr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masis MT Pro Black" panose="02040A04050005020304" pitchFamily="18" charset="0"/>
              </a:rPr>
              <a:t>  </a:t>
            </a:r>
            <a:r>
              <a:rPr lang="fr-FR" sz="1900" dirty="0">
                <a:solidFill>
                  <a:schemeClr val="bg1"/>
                </a:solidFill>
                <a:latin typeface="Amasis MT Pro Black" panose="02040A04050005020304" pitchFamily="18" charset="0"/>
              </a:rPr>
              <a:t>500,000 Transaction</a:t>
            </a:r>
            <a:endParaRPr lang="en-US" sz="19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295FA54D-6859-7AEE-3984-5D5FF0EF97F3}"/>
              </a:ext>
            </a:extLst>
          </p:cNvPr>
          <p:cNvSpPr/>
          <p:nvPr/>
        </p:nvSpPr>
        <p:spPr>
          <a:xfrm flipH="1">
            <a:off x="455185" y="9780246"/>
            <a:ext cx="3017520" cy="783165"/>
          </a:xfrm>
          <a:custGeom>
            <a:avLst/>
            <a:gdLst>
              <a:gd name="csX0" fmla="*/ 3815783 w 4016415"/>
              <a:gd name="csY0" fmla="*/ 0 h 976136"/>
              <a:gd name="csX1" fmla="*/ 892536 w 4016415"/>
              <a:gd name="csY1" fmla="*/ 0 h 976136"/>
              <a:gd name="csX2" fmla="*/ 686768 w 4016415"/>
              <a:gd name="csY2" fmla="*/ 0 h 976136"/>
              <a:gd name="csX3" fmla="*/ 0 w 4016415"/>
              <a:gd name="csY3" fmla="*/ 0 h 976136"/>
              <a:gd name="csX4" fmla="*/ 387624 w 4016415"/>
              <a:gd name="csY4" fmla="*/ 387624 h 976136"/>
              <a:gd name="csX5" fmla="*/ 0 w 4016415"/>
              <a:gd name="csY5" fmla="*/ 775248 h 976136"/>
              <a:gd name="csX6" fmla="*/ 486136 w 4016415"/>
              <a:gd name="csY6" fmla="*/ 775248 h 976136"/>
              <a:gd name="csX7" fmla="*/ 486136 w 4016415"/>
              <a:gd name="csY7" fmla="*/ 775504 h 976136"/>
              <a:gd name="csX8" fmla="*/ 3815783 w 4016415"/>
              <a:gd name="csY8" fmla="*/ 775504 h 976136"/>
              <a:gd name="csX9" fmla="*/ 4016415 w 4016415"/>
              <a:gd name="csY9" fmla="*/ 976136 h 976136"/>
              <a:gd name="csX10" fmla="*/ 4016415 w 4016415"/>
              <a:gd name="csY10" fmla="*/ 200632 h 976136"/>
              <a:gd name="csX11" fmla="*/ 3815783 w 4016415"/>
              <a:gd name="csY11" fmla="*/ 0 h 9761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4016415" h="976136">
                <a:moveTo>
                  <a:pt x="3815783" y="0"/>
                </a:moveTo>
                <a:lnTo>
                  <a:pt x="892536" y="0"/>
                </a:lnTo>
                <a:lnTo>
                  <a:pt x="686768" y="0"/>
                </a:lnTo>
                <a:lnTo>
                  <a:pt x="0" y="0"/>
                </a:lnTo>
                <a:lnTo>
                  <a:pt x="387624" y="387624"/>
                </a:lnTo>
                <a:lnTo>
                  <a:pt x="0" y="775248"/>
                </a:lnTo>
                <a:lnTo>
                  <a:pt x="486136" y="775248"/>
                </a:lnTo>
                <a:lnTo>
                  <a:pt x="486136" y="775504"/>
                </a:lnTo>
                <a:lnTo>
                  <a:pt x="3815783" y="775504"/>
                </a:lnTo>
                <a:cubicBezTo>
                  <a:pt x="3926589" y="775504"/>
                  <a:pt x="4016415" y="865330"/>
                  <a:pt x="4016415" y="976136"/>
                </a:cubicBezTo>
                <a:lnTo>
                  <a:pt x="4016415" y="200632"/>
                </a:lnTo>
                <a:cubicBezTo>
                  <a:pt x="4016415" y="89826"/>
                  <a:pt x="3926589" y="0"/>
                  <a:pt x="3815783" y="0"/>
                </a:cubicBezTo>
                <a:close/>
              </a:path>
            </a:pathLst>
          </a:custGeom>
          <a:effectLst>
            <a:outerShdw blurRad="101600" dist="762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masis MT Pro Black" panose="02040A04050005020304" pitchFamily="18" charset="0"/>
              </a:rPr>
              <a:t>1.5% </a:t>
            </a:r>
            <a:r>
              <a:rPr lang="fr-FR" sz="2000" dirty="0" err="1">
                <a:solidFill>
                  <a:schemeClr val="bg1"/>
                </a:solidFill>
                <a:latin typeface="Amasis MT Pro Black" panose="02040A04050005020304" pitchFamily="18" charset="0"/>
              </a:rPr>
              <a:t>Fraud</a:t>
            </a:r>
            <a:r>
              <a:rPr lang="fr-FR" sz="2000" dirty="0">
                <a:solidFill>
                  <a:schemeClr val="bg1"/>
                </a:solidFill>
                <a:latin typeface="Amasis MT Pro Black" panose="02040A04050005020304" pitchFamily="18" charset="0"/>
              </a:rPr>
              <a:t> rate</a:t>
            </a:r>
            <a:endParaRPr lang="en-US" sz="20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CE906F94-E506-233F-9C67-26D4E847A989}"/>
              </a:ext>
            </a:extLst>
          </p:cNvPr>
          <p:cNvSpPr/>
          <p:nvPr/>
        </p:nvSpPr>
        <p:spPr>
          <a:xfrm rot="5400000">
            <a:off x="3636056" y="9520824"/>
            <a:ext cx="270686" cy="19363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dk2">
                  <a:tint val="93000"/>
                  <a:satMod val="150000"/>
                  <a:shade val="98000"/>
                  <a:lumMod val="102000"/>
                </a:schemeClr>
              </a:gs>
              <a:gs pos="50000">
                <a:schemeClr val="dk2">
                  <a:tint val="98000"/>
                  <a:satMod val="130000"/>
                  <a:shade val="90000"/>
                  <a:lumMod val="103000"/>
                </a:schemeClr>
              </a:gs>
              <a:gs pos="0">
                <a:schemeClr val="dk2">
                  <a:shade val="63000"/>
                  <a:satMod val="120000"/>
                </a:schemeClr>
              </a:gs>
            </a:gsLst>
          </a:gradFill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: Top Corners Rounded 46">
            <a:extLst>
              <a:ext uri="{FF2B5EF4-FFF2-40B4-BE49-F238E27FC236}">
                <a16:creationId xmlns:a16="http://schemas.microsoft.com/office/drawing/2014/main" id="{E46083FD-DC58-72C5-70C3-C00A40E7CBEC}"/>
              </a:ext>
            </a:extLst>
          </p:cNvPr>
          <p:cNvSpPr/>
          <p:nvPr/>
        </p:nvSpPr>
        <p:spPr>
          <a:xfrm rot="16200000">
            <a:off x="412156" y="10441840"/>
            <a:ext cx="270686" cy="19363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dk2">
                  <a:tint val="93000"/>
                  <a:satMod val="150000"/>
                  <a:shade val="98000"/>
                  <a:lumMod val="102000"/>
                </a:schemeClr>
              </a:gs>
              <a:gs pos="50000">
                <a:schemeClr val="dk2">
                  <a:tint val="98000"/>
                  <a:satMod val="130000"/>
                  <a:shade val="90000"/>
                  <a:lumMod val="103000"/>
                </a:schemeClr>
              </a:gs>
              <a:gs pos="0">
                <a:schemeClr val="dk2">
                  <a:shade val="63000"/>
                  <a:satMod val="120000"/>
                </a:schemeClr>
              </a:gs>
            </a:gsLst>
          </a:gradFill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68BE38C0-F3A6-9E7E-5BDC-C0ECCF79120D}"/>
              </a:ext>
            </a:extLst>
          </p:cNvPr>
          <p:cNvSpPr/>
          <p:nvPr/>
        </p:nvSpPr>
        <p:spPr>
          <a:xfrm>
            <a:off x="850697" y="10674001"/>
            <a:ext cx="3017520" cy="783165"/>
          </a:xfrm>
          <a:custGeom>
            <a:avLst/>
            <a:gdLst>
              <a:gd name="csX0" fmla="*/ 0 w 4016415"/>
              <a:gd name="csY0" fmla="*/ 0 h 976136"/>
              <a:gd name="csX1" fmla="*/ 686768 w 4016415"/>
              <a:gd name="csY1" fmla="*/ 0 h 976136"/>
              <a:gd name="csX2" fmla="*/ 893879 w 4016415"/>
              <a:gd name="csY2" fmla="*/ 0 h 976136"/>
              <a:gd name="csX3" fmla="*/ 3815783 w 4016415"/>
              <a:gd name="csY3" fmla="*/ 0 h 976136"/>
              <a:gd name="csX4" fmla="*/ 4016415 w 4016415"/>
              <a:gd name="csY4" fmla="*/ 200632 h 976136"/>
              <a:gd name="csX5" fmla="*/ 4016415 w 4016415"/>
              <a:gd name="csY5" fmla="*/ 976136 h 976136"/>
              <a:gd name="csX6" fmla="*/ 3815783 w 4016415"/>
              <a:gd name="csY6" fmla="*/ 775504 h 976136"/>
              <a:gd name="csX7" fmla="*/ 486136 w 4016415"/>
              <a:gd name="csY7" fmla="*/ 775504 h 976136"/>
              <a:gd name="csX8" fmla="*/ 486136 w 4016415"/>
              <a:gd name="csY8" fmla="*/ 772562 h 976136"/>
              <a:gd name="csX9" fmla="*/ 0 w 4016415"/>
              <a:gd name="csY9" fmla="*/ 772562 h 976136"/>
              <a:gd name="csX10" fmla="*/ 386281 w 4016415"/>
              <a:gd name="csY10" fmla="*/ 386281 h 9761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016415" h="976136">
                <a:moveTo>
                  <a:pt x="0" y="0"/>
                </a:moveTo>
                <a:lnTo>
                  <a:pt x="686768" y="0"/>
                </a:lnTo>
                <a:lnTo>
                  <a:pt x="893879" y="0"/>
                </a:lnTo>
                <a:lnTo>
                  <a:pt x="3815783" y="0"/>
                </a:lnTo>
                <a:cubicBezTo>
                  <a:pt x="3926589" y="0"/>
                  <a:pt x="4016415" y="89826"/>
                  <a:pt x="4016415" y="200632"/>
                </a:cubicBezTo>
                <a:lnTo>
                  <a:pt x="4016415" y="976136"/>
                </a:lnTo>
                <a:cubicBezTo>
                  <a:pt x="4016415" y="865330"/>
                  <a:pt x="3926589" y="775504"/>
                  <a:pt x="3815783" y="775504"/>
                </a:cubicBezTo>
                <a:lnTo>
                  <a:pt x="486136" y="775504"/>
                </a:lnTo>
                <a:lnTo>
                  <a:pt x="486136" y="772562"/>
                </a:lnTo>
                <a:lnTo>
                  <a:pt x="0" y="772562"/>
                </a:lnTo>
                <a:lnTo>
                  <a:pt x="386281" y="386281"/>
                </a:lnTo>
                <a:close/>
              </a:path>
            </a:pathLst>
          </a:custGeom>
          <a:effectLst>
            <a:outerShdw blurRad="101600" dist="76200" dir="8100000" algn="tr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masis MT Pro Black" panose="02040A04050005020304" pitchFamily="18" charset="0"/>
              </a:rPr>
              <a:t>15 Bank</a:t>
            </a:r>
            <a:endParaRPr lang="en-US" sz="20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9456037D-EB49-1DC1-6B26-28E88CC7F312}"/>
              </a:ext>
            </a:extLst>
          </p:cNvPr>
          <p:cNvSpPr/>
          <p:nvPr/>
        </p:nvSpPr>
        <p:spPr>
          <a:xfrm rot="5400000">
            <a:off x="3636056" y="11335757"/>
            <a:ext cx="270686" cy="19363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dk2">
                  <a:tint val="93000"/>
                  <a:satMod val="150000"/>
                  <a:shade val="98000"/>
                  <a:lumMod val="102000"/>
                </a:schemeClr>
              </a:gs>
              <a:gs pos="50000">
                <a:schemeClr val="dk2">
                  <a:tint val="98000"/>
                  <a:satMod val="130000"/>
                  <a:shade val="90000"/>
                  <a:lumMod val="103000"/>
                </a:schemeClr>
              </a:gs>
              <a:gs pos="0">
                <a:schemeClr val="dk2">
                  <a:shade val="63000"/>
                  <a:satMod val="120000"/>
                </a:schemeClr>
              </a:gs>
            </a:gsLst>
          </a:gradFill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217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">
        <p159:morph option="byObject"/>
      </p:transition>
    </mc:Choice>
    <mc:Fallback xmlns="">
      <p:transition spd="slow" advClick="0" advTm="10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44CA8-9ECE-16F2-BF98-B22E62A72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8C26CEF9-0BA0-2E79-45C6-150C95A167B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1D888F2-B8B0-AC85-ED20-C2BADD358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5ABA5AB-2F7F-63E2-0D86-7357C0B08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FEB1834-A988-5053-C973-E04D2125E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3A4AD4-011E-B525-7E99-2F9A0E23CB65}"/>
              </a:ext>
            </a:extLst>
          </p:cNvPr>
          <p:cNvSpPr txBox="1"/>
          <p:nvPr/>
        </p:nvSpPr>
        <p:spPr>
          <a:xfrm>
            <a:off x="-1" y="0"/>
            <a:ext cx="7406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rgbClr val="003F76"/>
                </a:solidFill>
                <a:latin typeface="Aptos Slab Black" panose="020B0004020202020204" pitchFamily="34" charset="0"/>
              </a:rPr>
              <a:t>  ML System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C1084E-AC7D-016D-8740-1DE80D7B56FF}"/>
              </a:ext>
            </a:extLst>
          </p:cNvPr>
          <p:cNvSpPr txBox="1"/>
          <p:nvPr/>
        </p:nvSpPr>
        <p:spPr>
          <a:xfrm>
            <a:off x="371821" y="727055"/>
            <a:ext cx="2889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« Training and </a:t>
            </a:r>
            <a:r>
              <a:rPr lang="fr-FR" sz="2400" i="1" dirty="0" err="1">
                <a:solidFill>
                  <a:srgbClr val="003F76"/>
                </a:solidFill>
                <a:latin typeface="Arial Narrow" panose="020B0606020202030204" pitchFamily="34" charset="0"/>
              </a:rPr>
              <a:t>Testing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 </a:t>
            </a:r>
            <a:r>
              <a:rPr lang="fr-FR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»</a:t>
            </a:r>
            <a:endParaRPr lang="en-US" sz="2400" i="1" dirty="0">
              <a:solidFill>
                <a:srgbClr val="003F76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5CD54E-1EEE-7E8D-2004-6188155E2964}"/>
              </a:ext>
            </a:extLst>
          </p:cNvPr>
          <p:cNvSpPr txBox="1"/>
          <p:nvPr/>
        </p:nvSpPr>
        <p:spPr>
          <a:xfrm>
            <a:off x="442452" y="1306533"/>
            <a:ext cx="3746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Data </a:t>
            </a:r>
            <a:r>
              <a:rPr lang="fr-FR" sz="3600" dirty="0" err="1">
                <a:solidFill>
                  <a:srgbClr val="163C5E"/>
                </a:solidFill>
                <a:latin typeface="Arial Rounded MT Bold" panose="020F0704030504030204" pitchFamily="34" charset="0"/>
              </a:rPr>
              <a:t>generated</a:t>
            </a:r>
            <a:r>
              <a:rPr lang="fr-FR" sz="36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:</a:t>
            </a:r>
            <a:endParaRPr lang="en-US" sz="3600" dirty="0">
              <a:solidFill>
                <a:srgbClr val="163C5E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4E2E8C-3FBE-1770-03C5-FE0C1CB49C2E}"/>
              </a:ext>
            </a:extLst>
          </p:cNvPr>
          <p:cNvSpPr txBox="1"/>
          <p:nvPr/>
        </p:nvSpPr>
        <p:spPr>
          <a:xfrm>
            <a:off x="5005511" y="1306533"/>
            <a:ext cx="4277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 err="1">
                <a:solidFill>
                  <a:srgbClr val="163C5E"/>
                </a:solidFill>
                <a:latin typeface="Arial Rounded MT Bold" panose="020F0704030504030204" pitchFamily="34" charset="0"/>
              </a:rPr>
              <a:t>Algorithms</a:t>
            </a:r>
            <a:r>
              <a:rPr lang="fr-FR" sz="36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 </a:t>
            </a:r>
            <a:r>
              <a:rPr lang="fr-FR" sz="3600" dirty="0" err="1">
                <a:solidFill>
                  <a:srgbClr val="163C5E"/>
                </a:solidFill>
                <a:latin typeface="Arial Rounded MT Bold" panose="020F0704030504030204" pitchFamily="34" charset="0"/>
              </a:rPr>
              <a:t>tested</a:t>
            </a:r>
            <a:r>
              <a:rPr lang="fr-FR" sz="36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:</a:t>
            </a:r>
            <a:endParaRPr lang="en-US" sz="3600" dirty="0">
              <a:solidFill>
                <a:srgbClr val="163C5E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31792D3-248B-5B27-079C-AF6F73A1E3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511" y="2411981"/>
            <a:ext cx="7186489" cy="444601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CB32791-675F-CEA8-6257-45985006E10C}"/>
              </a:ext>
            </a:extLst>
          </p:cNvPr>
          <p:cNvSpPr txBox="1"/>
          <p:nvPr/>
        </p:nvSpPr>
        <p:spPr>
          <a:xfrm>
            <a:off x="5005511" y="1931429"/>
            <a:ext cx="413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5</a:t>
            </a:r>
            <a:r>
              <a:rPr lang="fr-FR" b="1" dirty="0"/>
              <a:t> </a:t>
            </a:r>
            <a:r>
              <a:rPr lang="fr-FR" b="1" dirty="0" err="1"/>
              <a:t>algorithms</a:t>
            </a:r>
            <a:r>
              <a:rPr lang="fr-FR" b="1" dirty="0"/>
              <a:t> </a:t>
            </a:r>
            <a:r>
              <a:rPr lang="fr-FR" b="1" dirty="0" err="1"/>
              <a:t>trained</a:t>
            </a:r>
            <a:r>
              <a:rPr lang="fr-FR" b="1" dirty="0"/>
              <a:t> on </a:t>
            </a:r>
            <a:r>
              <a:rPr lang="fr-FR" sz="2800" b="1" dirty="0"/>
              <a:t>24</a:t>
            </a:r>
            <a:r>
              <a:rPr lang="fr-FR" b="1" dirty="0"/>
              <a:t> </a:t>
            </a:r>
            <a:r>
              <a:rPr lang="fr-FR" b="1" dirty="0" err="1"/>
              <a:t>features</a:t>
            </a:r>
            <a:endParaRPr lang="en-US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F54D55-5B0E-EECA-D95A-A11CCE4F80B1}"/>
              </a:ext>
            </a:extLst>
          </p:cNvPr>
          <p:cNvSpPr/>
          <p:nvPr/>
        </p:nvSpPr>
        <p:spPr>
          <a:xfrm>
            <a:off x="651889" y="2026865"/>
            <a:ext cx="3019624" cy="4762555"/>
          </a:xfrm>
          <a:prstGeom prst="rect">
            <a:avLst/>
          </a:prstGeom>
          <a:effectLst>
            <a:outerShdw blurRad="190500" sx="101000" sy="101000" algn="ctr" rotWithShape="0">
              <a:prstClr val="black">
                <a:alpha val="26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BBEED11-BEE3-57AB-712A-B7DBE06372A6}"/>
              </a:ext>
            </a:extLst>
          </p:cNvPr>
          <p:cNvSpPr/>
          <p:nvPr/>
        </p:nvSpPr>
        <p:spPr>
          <a:xfrm>
            <a:off x="850697" y="2164878"/>
            <a:ext cx="3017520" cy="783165"/>
          </a:xfrm>
          <a:custGeom>
            <a:avLst/>
            <a:gdLst>
              <a:gd name="csX0" fmla="*/ 0 w 4016415"/>
              <a:gd name="csY0" fmla="*/ 0 h 976136"/>
              <a:gd name="csX1" fmla="*/ 686768 w 4016415"/>
              <a:gd name="csY1" fmla="*/ 0 h 976136"/>
              <a:gd name="csX2" fmla="*/ 893879 w 4016415"/>
              <a:gd name="csY2" fmla="*/ 0 h 976136"/>
              <a:gd name="csX3" fmla="*/ 3815783 w 4016415"/>
              <a:gd name="csY3" fmla="*/ 0 h 976136"/>
              <a:gd name="csX4" fmla="*/ 4016415 w 4016415"/>
              <a:gd name="csY4" fmla="*/ 200632 h 976136"/>
              <a:gd name="csX5" fmla="*/ 4016415 w 4016415"/>
              <a:gd name="csY5" fmla="*/ 976136 h 976136"/>
              <a:gd name="csX6" fmla="*/ 3815783 w 4016415"/>
              <a:gd name="csY6" fmla="*/ 775504 h 976136"/>
              <a:gd name="csX7" fmla="*/ 486136 w 4016415"/>
              <a:gd name="csY7" fmla="*/ 775504 h 976136"/>
              <a:gd name="csX8" fmla="*/ 486136 w 4016415"/>
              <a:gd name="csY8" fmla="*/ 772562 h 976136"/>
              <a:gd name="csX9" fmla="*/ 0 w 4016415"/>
              <a:gd name="csY9" fmla="*/ 772562 h 976136"/>
              <a:gd name="csX10" fmla="*/ 386281 w 4016415"/>
              <a:gd name="csY10" fmla="*/ 386281 h 9761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016415" h="976136">
                <a:moveTo>
                  <a:pt x="0" y="0"/>
                </a:moveTo>
                <a:lnTo>
                  <a:pt x="686768" y="0"/>
                </a:lnTo>
                <a:lnTo>
                  <a:pt x="893879" y="0"/>
                </a:lnTo>
                <a:lnTo>
                  <a:pt x="3815783" y="0"/>
                </a:lnTo>
                <a:cubicBezTo>
                  <a:pt x="3926589" y="0"/>
                  <a:pt x="4016415" y="89826"/>
                  <a:pt x="4016415" y="200632"/>
                </a:cubicBezTo>
                <a:lnTo>
                  <a:pt x="4016415" y="976136"/>
                </a:lnTo>
                <a:cubicBezTo>
                  <a:pt x="4016415" y="865330"/>
                  <a:pt x="3926589" y="775504"/>
                  <a:pt x="3815783" y="775504"/>
                </a:cubicBezTo>
                <a:lnTo>
                  <a:pt x="486136" y="775504"/>
                </a:lnTo>
                <a:lnTo>
                  <a:pt x="486136" y="772562"/>
                </a:lnTo>
                <a:lnTo>
                  <a:pt x="0" y="772562"/>
                </a:lnTo>
                <a:lnTo>
                  <a:pt x="386281" y="386281"/>
                </a:lnTo>
                <a:close/>
              </a:path>
            </a:pathLst>
          </a:custGeom>
          <a:effectLst>
            <a:outerShdw blurRad="101600" dist="76200" dir="8100000" algn="tr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masis MT Pro Black" panose="02040A04050005020304" pitchFamily="18" charset="0"/>
              </a:rPr>
              <a:t>10,000 User</a:t>
            </a:r>
            <a:endParaRPr lang="en-US" sz="20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81841DD-AF62-F7CB-ABE8-61054740DA15}"/>
              </a:ext>
            </a:extLst>
          </p:cNvPr>
          <p:cNvSpPr/>
          <p:nvPr/>
        </p:nvSpPr>
        <p:spPr>
          <a:xfrm flipH="1">
            <a:off x="455185" y="3086056"/>
            <a:ext cx="3017520" cy="783165"/>
          </a:xfrm>
          <a:custGeom>
            <a:avLst/>
            <a:gdLst>
              <a:gd name="csX0" fmla="*/ 3815783 w 4016415"/>
              <a:gd name="csY0" fmla="*/ 0 h 976136"/>
              <a:gd name="csX1" fmla="*/ 892536 w 4016415"/>
              <a:gd name="csY1" fmla="*/ 0 h 976136"/>
              <a:gd name="csX2" fmla="*/ 686768 w 4016415"/>
              <a:gd name="csY2" fmla="*/ 0 h 976136"/>
              <a:gd name="csX3" fmla="*/ 0 w 4016415"/>
              <a:gd name="csY3" fmla="*/ 0 h 976136"/>
              <a:gd name="csX4" fmla="*/ 387624 w 4016415"/>
              <a:gd name="csY4" fmla="*/ 387624 h 976136"/>
              <a:gd name="csX5" fmla="*/ 0 w 4016415"/>
              <a:gd name="csY5" fmla="*/ 775248 h 976136"/>
              <a:gd name="csX6" fmla="*/ 486136 w 4016415"/>
              <a:gd name="csY6" fmla="*/ 775248 h 976136"/>
              <a:gd name="csX7" fmla="*/ 486136 w 4016415"/>
              <a:gd name="csY7" fmla="*/ 775504 h 976136"/>
              <a:gd name="csX8" fmla="*/ 3815783 w 4016415"/>
              <a:gd name="csY8" fmla="*/ 775504 h 976136"/>
              <a:gd name="csX9" fmla="*/ 4016415 w 4016415"/>
              <a:gd name="csY9" fmla="*/ 976136 h 976136"/>
              <a:gd name="csX10" fmla="*/ 4016415 w 4016415"/>
              <a:gd name="csY10" fmla="*/ 200632 h 976136"/>
              <a:gd name="csX11" fmla="*/ 3815783 w 4016415"/>
              <a:gd name="csY11" fmla="*/ 0 h 9761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4016415" h="976136">
                <a:moveTo>
                  <a:pt x="3815783" y="0"/>
                </a:moveTo>
                <a:lnTo>
                  <a:pt x="892536" y="0"/>
                </a:lnTo>
                <a:lnTo>
                  <a:pt x="686768" y="0"/>
                </a:lnTo>
                <a:lnTo>
                  <a:pt x="0" y="0"/>
                </a:lnTo>
                <a:lnTo>
                  <a:pt x="387624" y="387624"/>
                </a:lnTo>
                <a:lnTo>
                  <a:pt x="0" y="775248"/>
                </a:lnTo>
                <a:lnTo>
                  <a:pt x="486136" y="775248"/>
                </a:lnTo>
                <a:lnTo>
                  <a:pt x="486136" y="775504"/>
                </a:lnTo>
                <a:lnTo>
                  <a:pt x="3815783" y="775504"/>
                </a:lnTo>
                <a:cubicBezTo>
                  <a:pt x="3926589" y="775504"/>
                  <a:pt x="4016415" y="865330"/>
                  <a:pt x="4016415" y="976136"/>
                </a:cubicBezTo>
                <a:lnTo>
                  <a:pt x="4016415" y="200632"/>
                </a:lnTo>
                <a:cubicBezTo>
                  <a:pt x="4016415" y="89826"/>
                  <a:pt x="3926589" y="0"/>
                  <a:pt x="3815783" y="0"/>
                </a:cubicBezTo>
                <a:close/>
              </a:path>
            </a:pathLst>
          </a:custGeom>
          <a:effectLst>
            <a:outerShdw blurRad="101600" dist="762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masis MT Pro Black" panose="02040A04050005020304" pitchFamily="18" charset="0"/>
              </a:rPr>
              <a:t>12,000 </a:t>
            </a:r>
            <a:r>
              <a:rPr lang="fr-FR" sz="2000" dirty="0" err="1">
                <a:solidFill>
                  <a:schemeClr val="bg1"/>
                </a:solidFill>
                <a:latin typeface="Amasis MT Pro Black" panose="02040A04050005020304" pitchFamily="18" charset="0"/>
              </a:rPr>
              <a:t>Account</a:t>
            </a:r>
            <a:endParaRPr lang="en-US" sz="20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1" name="Rectangle: Top Corners Rounded 30">
            <a:extLst>
              <a:ext uri="{FF2B5EF4-FFF2-40B4-BE49-F238E27FC236}">
                <a16:creationId xmlns:a16="http://schemas.microsoft.com/office/drawing/2014/main" id="{E5808792-3A4E-F5E1-8BA3-A04A9BEB0EBE}"/>
              </a:ext>
            </a:extLst>
          </p:cNvPr>
          <p:cNvSpPr/>
          <p:nvPr/>
        </p:nvSpPr>
        <p:spPr>
          <a:xfrm rot="5400000">
            <a:off x="3636056" y="2826634"/>
            <a:ext cx="270686" cy="19363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dk2">
                  <a:tint val="93000"/>
                  <a:satMod val="150000"/>
                  <a:shade val="98000"/>
                  <a:lumMod val="102000"/>
                </a:schemeClr>
              </a:gs>
              <a:gs pos="50000">
                <a:schemeClr val="dk2">
                  <a:tint val="98000"/>
                  <a:satMod val="130000"/>
                  <a:shade val="90000"/>
                  <a:lumMod val="103000"/>
                </a:schemeClr>
              </a:gs>
              <a:gs pos="0">
                <a:schemeClr val="dk2">
                  <a:shade val="63000"/>
                  <a:satMod val="120000"/>
                </a:schemeClr>
              </a:gs>
            </a:gsLst>
          </a:gradFill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: Top Corners Rounded 38">
            <a:extLst>
              <a:ext uri="{FF2B5EF4-FFF2-40B4-BE49-F238E27FC236}">
                <a16:creationId xmlns:a16="http://schemas.microsoft.com/office/drawing/2014/main" id="{DB988D15-E9B3-96FA-A078-32C9983502DB}"/>
              </a:ext>
            </a:extLst>
          </p:cNvPr>
          <p:cNvSpPr/>
          <p:nvPr/>
        </p:nvSpPr>
        <p:spPr>
          <a:xfrm rot="16200000">
            <a:off x="412156" y="3747650"/>
            <a:ext cx="270686" cy="19363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dk2">
                  <a:tint val="93000"/>
                  <a:satMod val="150000"/>
                  <a:shade val="98000"/>
                  <a:lumMod val="102000"/>
                </a:schemeClr>
              </a:gs>
              <a:gs pos="50000">
                <a:schemeClr val="dk2">
                  <a:tint val="98000"/>
                  <a:satMod val="130000"/>
                  <a:shade val="90000"/>
                  <a:lumMod val="103000"/>
                </a:schemeClr>
              </a:gs>
              <a:gs pos="0">
                <a:schemeClr val="dk2">
                  <a:shade val="63000"/>
                  <a:satMod val="120000"/>
                </a:schemeClr>
              </a:gs>
            </a:gsLst>
          </a:gradFill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B277C9B-0FFF-E24A-1328-554C98801CAD}"/>
              </a:ext>
            </a:extLst>
          </p:cNvPr>
          <p:cNvSpPr/>
          <p:nvPr/>
        </p:nvSpPr>
        <p:spPr>
          <a:xfrm>
            <a:off x="850697" y="3996491"/>
            <a:ext cx="3017520" cy="783165"/>
          </a:xfrm>
          <a:custGeom>
            <a:avLst/>
            <a:gdLst>
              <a:gd name="csX0" fmla="*/ 0 w 4016415"/>
              <a:gd name="csY0" fmla="*/ 0 h 976136"/>
              <a:gd name="csX1" fmla="*/ 686768 w 4016415"/>
              <a:gd name="csY1" fmla="*/ 0 h 976136"/>
              <a:gd name="csX2" fmla="*/ 893879 w 4016415"/>
              <a:gd name="csY2" fmla="*/ 0 h 976136"/>
              <a:gd name="csX3" fmla="*/ 3815783 w 4016415"/>
              <a:gd name="csY3" fmla="*/ 0 h 976136"/>
              <a:gd name="csX4" fmla="*/ 4016415 w 4016415"/>
              <a:gd name="csY4" fmla="*/ 200632 h 976136"/>
              <a:gd name="csX5" fmla="*/ 4016415 w 4016415"/>
              <a:gd name="csY5" fmla="*/ 976136 h 976136"/>
              <a:gd name="csX6" fmla="*/ 3815783 w 4016415"/>
              <a:gd name="csY6" fmla="*/ 775504 h 976136"/>
              <a:gd name="csX7" fmla="*/ 486136 w 4016415"/>
              <a:gd name="csY7" fmla="*/ 775504 h 976136"/>
              <a:gd name="csX8" fmla="*/ 486136 w 4016415"/>
              <a:gd name="csY8" fmla="*/ 772562 h 976136"/>
              <a:gd name="csX9" fmla="*/ 0 w 4016415"/>
              <a:gd name="csY9" fmla="*/ 772562 h 976136"/>
              <a:gd name="csX10" fmla="*/ 386281 w 4016415"/>
              <a:gd name="csY10" fmla="*/ 386281 h 9761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016415" h="976136">
                <a:moveTo>
                  <a:pt x="0" y="0"/>
                </a:moveTo>
                <a:lnTo>
                  <a:pt x="686768" y="0"/>
                </a:lnTo>
                <a:lnTo>
                  <a:pt x="893879" y="0"/>
                </a:lnTo>
                <a:lnTo>
                  <a:pt x="3815783" y="0"/>
                </a:lnTo>
                <a:cubicBezTo>
                  <a:pt x="3926589" y="0"/>
                  <a:pt x="4016415" y="89826"/>
                  <a:pt x="4016415" y="200632"/>
                </a:cubicBezTo>
                <a:lnTo>
                  <a:pt x="4016415" y="976136"/>
                </a:lnTo>
                <a:cubicBezTo>
                  <a:pt x="4016415" y="865330"/>
                  <a:pt x="3926589" y="775504"/>
                  <a:pt x="3815783" y="775504"/>
                </a:cubicBezTo>
                <a:lnTo>
                  <a:pt x="486136" y="775504"/>
                </a:lnTo>
                <a:lnTo>
                  <a:pt x="486136" y="772562"/>
                </a:lnTo>
                <a:lnTo>
                  <a:pt x="0" y="772562"/>
                </a:lnTo>
                <a:lnTo>
                  <a:pt x="386281" y="386281"/>
                </a:lnTo>
                <a:close/>
              </a:path>
            </a:pathLst>
          </a:custGeom>
          <a:effectLst>
            <a:outerShdw blurRad="101600" dist="76200" dir="8100000" algn="tr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masis MT Pro Black" panose="02040A04050005020304" pitchFamily="18" charset="0"/>
              </a:rPr>
              <a:t>  </a:t>
            </a:r>
            <a:r>
              <a:rPr lang="fr-FR" sz="1900" dirty="0">
                <a:solidFill>
                  <a:schemeClr val="bg1"/>
                </a:solidFill>
                <a:latin typeface="Amasis MT Pro Black" panose="02040A04050005020304" pitchFamily="18" charset="0"/>
              </a:rPr>
              <a:t>500,000 Transaction</a:t>
            </a:r>
            <a:endParaRPr lang="en-US" sz="19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4F7AFC6-AB6C-0A1A-EBF0-30351CA4E0B8}"/>
              </a:ext>
            </a:extLst>
          </p:cNvPr>
          <p:cNvSpPr/>
          <p:nvPr/>
        </p:nvSpPr>
        <p:spPr>
          <a:xfrm flipH="1">
            <a:off x="455185" y="4917669"/>
            <a:ext cx="3017520" cy="783165"/>
          </a:xfrm>
          <a:custGeom>
            <a:avLst/>
            <a:gdLst>
              <a:gd name="csX0" fmla="*/ 3815783 w 4016415"/>
              <a:gd name="csY0" fmla="*/ 0 h 976136"/>
              <a:gd name="csX1" fmla="*/ 892536 w 4016415"/>
              <a:gd name="csY1" fmla="*/ 0 h 976136"/>
              <a:gd name="csX2" fmla="*/ 686768 w 4016415"/>
              <a:gd name="csY2" fmla="*/ 0 h 976136"/>
              <a:gd name="csX3" fmla="*/ 0 w 4016415"/>
              <a:gd name="csY3" fmla="*/ 0 h 976136"/>
              <a:gd name="csX4" fmla="*/ 387624 w 4016415"/>
              <a:gd name="csY4" fmla="*/ 387624 h 976136"/>
              <a:gd name="csX5" fmla="*/ 0 w 4016415"/>
              <a:gd name="csY5" fmla="*/ 775248 h 976136"/>
              <a:gd name="csX6" fmla="*/ 486136 w 4016415"/>
              <a:gd name="csY6" fmla="*/ 775248 h 976136"/>
              <a:gd name="csX7" fmla="*/ 486136 w 4016415"/>
              <a:gd name="csY7" fmla="*/ 775504 h 976136"/>
              <a:gd name="csX8" fmla="*/ 3815783 w 4016415"/>
              <a:gd name="csY8" fmla="*/ 775504 h 976136"/>
              <a:gd name="csX9" fmla="*/ 4016415 w 4016415"/>
              <a:gd name="csY9" fmla="*/ 976136 h 976136"/>
              <a:gd name="csX10" fmla="*/ 4016415 w 4016415"/>
              <a:gd name="csY10" fmla="*/ 200632 h 976136"/>
              <a:gd name="csX11" fmla="*/ 3815783 w 4016415"/>
              <a:gd name="csY11" fmla="*/ 0 h 9761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4016415" h="976136">
                <a:moveTo>
                  <a:pt x="3815783" y="0"/>
                </a:moveTo>
                <a:lnTo>
                  <a:pt x="892536" y="0"/>
                </a:lnTo>
                <a:lnTo>
                  <a:pt x="686768" y="0"/>
                </a:lnTo>
                <a:lnTo>
                  <a:pt x="0" y="0"/>
                </a:lnTo>
                <a:lnTo>
                  <a:pt x="387624" y="387624"/>
                </a:lnTo>
                <a:lnTo>
                  <a:pt x="0" y="775248"/>
                </a:lnTo>
                <a:lnTo>
                  <a:pt x="486136" y="775248"/>
                </a:lnTo>
                <a:lnTo>
                  <a:pt x="486136" y="775504"/>
                </a:lnTo>
                <a:lnTo>
                  <a:pt x="3815783" y="775504"/>
                </a:lnTo>
                <a:cubicBezTo>
                  <a:pt x="3926589" y="775504"/>
                  <a:pt x="4016415" y="865330"/>
                  <a:pt x="4016415" y="976136"/>
                </a:cubicBezTo>
                <a:lnTo>
                  <a:pt x="4016415" y="200632"/>
                </a:lnTo>
                <a:cubicBezTo>
                  <a:pt x="4016415" y="89826"/>
                  <a:pt x="3926589" y="0"/>
                  <a:pt x="3815783" y="0"/>
                </a:cubicBezTo>
                <a:close/>
              </a:path>
            </a:pathLst>
          </a:custGeom>
          <a:effectLst>
            <a:outerShdw blurRad="101600" dist="762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masis MT Pro Black" panose="02040A04050005020304" pitchFamily="18" charset="0"/>
              </a:rPr>
              <a:t>1.5% </a:t>
            </a:r>
            <a:r>
              <a:rPr lang="fr-FR" sz="2000" dirty="0" err="1">
                <a:solidFill>
                  <a:schemeClr val="bg1"/>
                </a:solidFill>
                <a:latin typeface="Amasis MT Pro Black" panose="02040A04050005020304" pitchFamily="18" charset="0"/>
              </a:rPr>
              <a:t>Fraud</a:t>
            </a:r>
            <a:r>
              <a:rPr lang="fr-FR" sz="2000" dirty="0">
                <a:solidFill>
                  <a:schemeClr val="bg1"/>
                </a:solidFill>
                <a:latin typeface="Amasis MT Pro Black" panose="02040A04050005020304" pitchFamily="18" charset="0"/>
              </a:rPr>
              <a:t> rate</a:t>
            </a:r>
            <a:endParaRPr lang="en-US" sz="20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65F505C4-F69F-DBF2-E77D-93F4F8083C77}"/>
              </a:ext>
            </a:extLst>
          </p:cNvPr>
          <p:cNvSpPr/>
          <p:nvPr/>
        </p:nvSpPr>
        <p:spPr>
          <a:xfrm rot="5400000">
            <a:off x="3636056" y="4658247"/>
            <a:ext cx="270686" cy="19363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dk2">
                  <a:tint val="93000"/>
                  <a:satMod val="150000"/>
                  <a:shade val="98000"/>
                  <a:lumMod val="102000"/>
                </a:schemeClr>
              </a:gs>
              <a:gs pos="50000">
                <a:schemeClr val="dk2">
                  <a:tint val="98000"/>
                  <a:satMod val="130000"/>
                  <a:shade val="90000"/>
                  <a:lumMod val="103000"/>
                </a:schemeClr>
              </a:gs>
              <a:gs pos="0">
                <a:schemeClr val="dk2">
                  <a:shade val="63000"/>
                  <a:satMod val="120000"/>
                </a:schemeClr>
              </a:gs>
            </a:gsLst>
          </a:gradFill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: Top Corners Rounded 46">
            <a:extLst>
              <a:ext uri="{FF2B5EF4-FFF2-40B4-BE49-F238E27FC236}">
                <a16:creationId xmlns:a16="http://schemas.microsoft.com/office/drawing/2014/main" id="{A13E8FBD-CC76-6741-2113-7CCB3055E938}"/>
              </a:ext>
            </a:extLst>
          </p:cNvPr>
          <p:cNvSpPr/>
          <p:nvPr/>
        </p:nvSpPr>
        <p:spPr>
          <a:xfrm rot="16200000">
            <a:off x="412156" y="5579263"/>
            <a:ext cx="270686" cy="19363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dk2">
                  <a:tint val="93000"/>
                  <a:satMod val="150000"/>
                  <a:shade val="98000"/>
                  <a:lumMod val="102000"/>
                </a:schemeClr>
              </a:gs>
              <a:gs pos="50000">
                <a:schemeClr val="dk2">
                  <a:tint val="98000"/>
                  <a:satMod val="130000"/>
                  <a:shade val="90000"/>
                  <a:lumMod val="103000"/>
                </a:schemeClr>
              </a:gs>
              <a:gs pos="0">
                <a:schemeClr val="dk2">
                  <a:shade val="63000"/>
                  <a:satMod val="120000"/>
                </a:schemeClr>
              </a:gs>
            </a:gsLst>
          </a:gradFill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5395C0A-AD32-1F1E-6977-85A9B67F5F63}"/>
              </a:ext>
            </a:extLst>
          </p:cNvPr>
          <p:cNvSpPr/>
          <p:nvPr/>
        </p:nvSpPr>
        <p:spPr>
          <a:xfrm>
            <a:off x="850697" y="5811424"/>
            <a:ext cx="3017520" cy="783165"/>
          </a:xfrm>
          <a:custGeom>
            <a:avLst/>
            <a:gdLst>
              <a:gd name="csX0" fmla="*/ 0 w 4016415"/>
              <a:gd name="csY0" fmla="*/ 0 h 976136"/>
              <a:gd name="csX1" fmla="*/ 686768 w 4016415"/>
              <a:gd name="csY1" fmla="*/ 0 h 976136"/>
              <a:gd name="csX2" fmla="*/ 893879 w 4016415"/>
              <a:gd name="csY2" fmla="*/ 0 h 976136"/>
              <a:gd name="csX3" fmla="*/ 3815783 w 4016415"/>
              <a:gd name="csY3" fmla="*/ 0 h 976136"/>
              <a:gd name="csX4" fmla="*/ 4016415 w 4016415"/>
              <a:gd name="csY4" fmla="*/ 200632 h 976136"/>
              <a:gd name="csX5" fmla="*/ 4016415 w 4016415"/>
              <a:gd name="csY5" fmla="*/ 976136 h 976136"/>
              <a:gd name="csX6" fmla="*/ 3815783 w 4016415"/>
              <a:gd name="csY6" fmla="*/ 775504 h 976136"/>
              <a:gd name="csX7" fmla="*/ 486136 w 4016415"/>
              <a:gd name="csY7" fmla="*/ 775504 h 976136"/>
              <a:gd name="csX8" fmla="*/ 486136 w 4016415"/>
              <a:gd name="csY8" fmla="*/ 772562 h 976136"/>
              <a:gd name="csX9" fmla="*/ 0 w 4016415"/>
              <a:gd name="csY9" fmla="*/ 772562 h 976136"/>
              <a:gd name="csX10" fmla="*/ 386281 w 4016415"/>
              <a:gd name="csY10" fmla="*/ 386281 h 9761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016415" h="976136">
                <a:moveTo>
                  <a:pt x="0" y="0"/>
                </a:moveTo>
                <a:lnTo>
                  <a:pt x="686768" y="0"/>
                </a:lnTo>
                <a:lnTo>
                  <a:pt x="893879" y="0"/>
                </a:lnTo>
                <a:lnTo>
                  <a:pt x="3815783" y="0"/>
                </a:lnTo>
                <a:cubicBezTo>
                  <a:pt x="3926589" y="0"/>
                  <a:pt x="4016415" y="89826"/>
                  <a:pt x="4016415" y="200632"/>
                </a:cubicBezTo>
                <a:lnTo>
                  <a:pt x="4016415" y="976136"/>
                </a:lnTo>
                <a:cubicBezTo>
                  <a:pt x="4016415" y="865330"/>
                  <a:pt x="3926589" y="775504"/>
                  <a:pt x="3815783" y="775504"/>
                </a:cubicBezTo>
                <a:lnTo>
                  <a:pt x="486136" y="775504"/>
                </a:lnTo>
                <a:lnTo>
                  <a:pt x="486136" y="772562"/>
                </a:lnTo>
                <a:lnTo>
                  <a:pt x="0" y="772562"/>
                </a:lnTo>
                <a:lnTo>
                  <a:pt x="386281" y="386281"/>
                </a:lnTo>
                <a:close/>
              </a:path>
            </a:pathLst>
          </a:custGeom>
          <a:effectLst>
            <a:outerShdw blurRad="101600" dist="76200" dir="8100000" algn="tr" rotWithShape="0">
              <a:prstClr val="black">
                <a:alpha val="4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  <a:latin typeface="Amasis MT Pro Black" panose="02040A04050005020304" pitchFamily="18" charset="0"/>
              </a:rPr>
              <a:t>15 Bank</a:t>
            </a:r>
            <a:endParaRPr lang="en-US" sz="20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9" name="Rectangle: Top Corners Rounded 48">
            <a:extLst>
              <a:ext uri="{FF2B5EF4-FFF2-40B4-BE49-F238E27FC236}">
                <a16:creationId xmlns:a16="http://schemas.microsoft.com/office/drawing/2014/main" id="{10F1C0CB-19D4-9021-A21B-AB0BA40B66E3}"/>
              </a:ext>
            </a:extLst>
          </p:cNvPr>
          <p:cNvSpPr/>
          <p:nvPr/>
        </p:nvSpPr>
        <p:spPr>
          <a:xfrm rot="5400000">
            <a:off x="3636056" y="6473180"/>
            <a:ext cx="270686" cy="19363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100000">
                <a:schemeClr val="dk2">
                  <a:tint val="93000"/>
                  <a:satMod val="150000"/>
                  <a:shade val="98000"/>
                  <a:lumMod val="102000"/>
                </a:schemeClr>
              </a:gs>
              <a:gs pos="50000">
                <a:schemeClr val="dk2">
                  <a:tint val="98000"/>
                  <a:satMod val="130000"/>
                  <a:shade val="90000"/>
                  <a:lumMod val="103000"/>
                </a:schemeClr>
              </a:gs>
              <a:gs pos="0">
                <a:schemeClr val="dk2">
                  <a:shade val="63000"/>
                  <a:satMod val="120000"/>
                </a:schemeClr>
              </a:gs>
            </a:gsLst>
          </a:gradFill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622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30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39BB6-9AF5-4AC9-D4BA-5478FE6DE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1ECED74-A4C4-395D-1197-DE0D945ED5F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E578541-610B-BFE1-016B-D7C92CF343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E3B5F7-107D-50AF-15BF-615CA310C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9AE4F0-F1D3-2A27-843B-1A6BDC9C1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A6F92C-F45F-A098-E0E4-E5A37EE55DA1}"/>
              </a:ext>
            </a:extLst>
          </p:cNvPr>
          <p:cNvSpPr txBox="1"/>
          <p:nvPr/>
        </p:nvSpPr>
        <p:spPr>
          <a:xfrm>
            <a:off x="-1" y="0"/>
            <a:ext cx="7406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rgbClr val="003F76"/>
                </a:solidFill>
                <a:latin typeface="Aptos Slab Black" panose="020B0004020202020204" pitchFamily="34" charset="0"/>
              </a:rPr>
              <a:t>  ML System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95AF39-B3FE-8748-A153-AEAFE5E96E8F}"/>
              </a:ext>
            </a:extLst>
          </p:cNvPr>
          <p:cNvSpPr txBox="1"/>
          <p:nvPr/>
        </p:nvSpPr>
        <p:spPr>
          <a:xfrm>
            <a:off x="371820" y="727055"/>
            <a:ext cx="3478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The Final </a:t>
            </a:r>
            <a:r>
              <a:rPr kumimoji="0" lang="fr-FR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Scoring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 Engine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B5DF52-1867-18FA-D296-C37763E349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5" t="11970" r="19444" b="14862"/>
          <a:stretch>
            <a:fillRect/>
          </a:stretch>
        </p:blipFill>
        <p:spPr>
          <a:xfrm>
            <a:off x="462687" y="1616696"/>
            <a:ext cx="5608320" cy="45732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276C04-4CF6-5647-93AB-1C28A297F4C4}"/>
              </a:ext>
            </a:extLst>
          </p:cNvPr>
          <p:cNvSpPr txBox="1"/>
          <p:nvPr/>
        </p:nvSpPr>
        <p:spPr>
          <a:xfrm rot="18099707">
            <a:off x="-680530" y="3091027"/>
            <a:ext cx="3449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haroni" panose="02010803020104030203" pitchFamily="2" charset="-79"/>
                <a:cs typeface="Aharoni" panose="02010803020104030203" pitchFamily="2" charset="-79"/>
              </a:rPr>
              <a:t>Silent Fall-Back </a:t>
            </a:r>
            <a:r>
              <a:rPr lang="fr-FR" sz="2000" dirty="0" err="1">
                <a:latin typeface="Aharoni" panose="02010803020104030203" pitchFamily="2" charset="-79"/>
                <a:cs typeface="Aharoni" panose="02010803020104030203" pitchFamily="2" charset="-79"/>
              </a:rPr>
              <a:t>Mechanism</a:t>
            </a:r>
            <a:endParaRPr lang="en-US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" name="Arrow: Curved Right 13">
            <a:extLst>
              <a:ext uri="{FF2B5EF4-FFF2-40B4-BE49-F238E27FC236}">
                <a16:creationId xmlns:a16="http://schemas.microsoft.com/office/drawing/2014/main" id="{0B749A78-641C-F325-310B-3B634A183608}"/>
              </a:ext>
            </a:extLst>
          </p:cNvPr>
          <p:cNvSpPr/>
          <p:nvPr/>
        </p:nvSpPr>
        <p:spPr>
          <a:xfrm rot="1692554">
            <a:off x="1645303" y="2106855"/>
            <a:ext cx="772160" cy="1431156"/>
          </a:xfrm>
          <a:prstGeom prst="curvedRightArrow">
            <a:avLst>
              <a:gd name="adj1" fmla="val 22326"/>
              <a:gd name="adj2" fmla="val 42042"/>
              <a:gd name="adj3" fmla="val 36842"/>
            </a:avLst>
          </a:prstGeom>
          <a:gradFill>
            <a:gsLst>
              <a:gs pos="0">
                <a:srgbClr val="003F76"/>
              </a:gs>
              <a:gs pos="100000">
                <a:srgbClr val="2A9D8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Right 14">
            <a:extLst>
              <a:ext uri="{FF2B5EF4-FFF2-40B4-BE49-F238E27FC236}">
                <a16:creationId xmlns:a16="http://schemas.microsoft.com/office/drawing/2014/main" id="{BCE4AF76-242C-65AC-68C2-6DA06739312B}"/>
              </a:ext>
            </a:extLst>
          </p:cNvPr>
          <p:cNvSpPr/>
          <p:nvPr/>
        </p:nvSpPr>
        <p:spPr>
          <a:xfrm rot="1692554">
            <a:off x="598110" y="3814068"/>
            <a:ext cx="772160" cy="1431156"/>
          </a:xfrm>
          <a:prstGeom prst="curvedRightArrow">
            <a:avLst>
              <a:gd name="adj1" fmla="val 22326"/>
              <a:gd name="adj2" fmla="val 42042"/>
              <a:gd name="adj3" fmla="val 36842"/>
            </a:avLst>
          </a:prstGeom>
          <a:gradFill>
            <a:gsLst>
              <a:gs pos="100000">
                <a:srgbClr val="E8A21C"/>
              </a:gs>
              <a:gs pos="0">
                <a:srgbClr val="2A9D8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D59299-91F8-6A51-F761-753B1C4CD058}"/>
              </a:ext>
            </a:extLst>
          </p:cNvPr>
          <p:cNvSpPr txBox="1"/>
          <p:nvPr/>
        </p:nvSpPr>
        <p:spPr>
          <a:xfrm>
            <a:off x="6686681" y="4529646"/>
            <a:ext cx="60046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Amasis MT Pro Black" panose="02040A04050005020304" pitchFamily="18" charset="0"/>
              </a:rPr>
              <a:t>Never fails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Amasis MT Pro Black" panose="02040A04050005020304" pitchFamily="18" charset="0"/>
              </a:rPr>
              <a:t>Always scores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Amasis MT Pro Black" panose="02040A04050005020304" pitchFamily="18" charset="0"/>
              </a:rPr>
              <a:t>Optimal Decisions</a:t>
            </a:r>
          </a:p>
        </p:txBody>
      </p: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F36356E6-7B0D-FF80-8256-FD3D558177B7}"/>
              </a:ext>
            </a:extLst>
          </p:cNvPr>
          <p:cNvSpPr/>
          <p:nvPr/>
        </p:nvSpPr>
        <p:spPr>
          <a:xfrm>
            <a:off x="5425801" y="2046171"/>
            <a:ext cx="1385249" cy="722621"/>
          </a:xfrm>
          <a:prstGeom prst="chevron">
            <a:avLst/>
          </a:prstGeom>
          <a:solidFill>
            <a:srgbClr val="003F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</a:rPr>
              <a:t>0.99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4" name="Arrow: Pentagon 33">
            <a:extLst>
              <a:ext uri="{FF2B5EF4-FFF2-40B4-BE49-F238E27FC236}">
                <a16:creationId xmlns:a16="http://schemas.microsoft.com/office/drawing/2014/main" id="{9F7883ED-1044-859C-A349-94147F30A977}"/>
              </a:ext>
            </a:extLst>
          </p:cNvPr>
          <p:cNvSpPr/>
          <p:nvPr/>
        </p:nvSpPr>
        <p:spPr>
          <a:xfrm>
            <a:off x="4018084" y="2046171"/>
            <a:ext cx="1452443" cy="722621"/>
          </a:xfrm>
          <a:prstGeom prst="homePlate">
            <a:avLst/>
          </a:prstGeom>
          <a:solidFill>
            <a:srgbClr val="003F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0.9058</a:t>
            </a:r>
            <a:endParaRPr lang="en-US" dirty="0"/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4E81F15C-37C7-368E-2B47-5AA6419100EB}"/>
              </a:ext>
            </a:extLst>
          </p:cNvPr>
          <p:cNvSpPr/>
          <p:nvPr/>
        </p:nvSpPr>
        <p:spPr>
          <a:xfrm>
            <a:off x="6766324" y="2046171"/>
            <a:ext cx="1385249" cy="722621"/>
          </a:xfrm>
          <a:prstGeom prst="chevron">
            <a:avLst/>
          </a:prstGeom>
          <a:solidFill>
            <a:srgbClr val="003F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</a:rPr>
              <a:t>0.97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6" name="Arrow: Chevron 35">
            <a:extLst>
              <a:ext uri="{FF2B5EF4-FFF2-40B4-BE49-F238E27FC236}">
                <a16:creationId xmlns:a16="http://schemas.microsoft.com/office/drawing/2014/main" id="{8D476F7E-1E0C-C07C-A418-ACF8E4D0C651}"/>
              </a:ext>
            </a:extLst>
          </p:cNvPr>
          <p:cNvSpPr/>
          <p:nvPr/>
        </p:nvSpPr>
        <p:spPr>
          <a:xfrm>
            <a:off x="8106847" y="2046171"/>
            <a:ext cx="1385249" cy="722621"/>
          </a:xfrm>
          <a:prstGeom prst="chevron">
            <a:avLst/>
          </a:prstGeom>
          <a:solidFill>
            <a:srgbClr val="003F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</a:rPr>
              <a:t>0.8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3ED4735E-226F-77D4-132D-EC80A50FE192}"/>
              </a:ext>
            </a:extLst>
          </p:cNvPr>
          <p:cNvSpPr/>
          <p:nvPr/>
        </p:nvSpPr>
        <p:spPr>
          <a:xfrm>
            <a:off x="9447371" y="2046171"/>
            <a:ext cx="1385249" cy="722621"/>
          </a:xfrm>
          <a:prstGeom prst="chevron">
            <a:avLst/>
          </a:prstGeom>
          <a:solidFill>
            <a:srgbClr val="003F7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</a:rPr>
              <a:t>0.88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0C486D-4802-0398-A020-D083C353F654}"/>
              </a:ext>
            </a:extLst>
          </p:cNvPr>
          <p:cNvSpPr txBox="1"/>
          <p:nvPr/>
        </p:nvSpPr>
        <p:spPr>
          <a:xfrm>
            <a:off x="3923297" y="1718114"/>
            <a:ext cx="1055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PR-AUC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62DC8A-CDF3-A0FE-34F1-E562AB354B6A}"/>
              </a:ext>
            </a:extLst>
          </p:cNvPr>
          <p:cNvSpPr txBox="1"/>
          <p:nvPr/>
        </p:nvSpPr>
        <p:spPr>
          <a:xfrm>
            <a:off x="5336714" y="1718114"/>
            <a:ext cx="1214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ROC-AUC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1440F5-192F-1392-93EB-96ACA7B61BD5}"/>
              </a:ext>
            </a:extLst>
          </p:cNvPr>
          <p:cNvSpPr txBox="1"/>
          <p:nvPr/>
        </p:nvSpPr>
        <p:spPr>
          <a:xfrm>
            <a:off x="6686681" y="1717151"/>
            <a:ext cx="1143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Precision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AE4C2E-0BA4-4D29-90AE-F7A5D6105E9E}"/>
              </a:ext>
            </a:extLst>
          </p:cNvPr>
          <p:cNvSpPr txBox="1"/>
          <p:nvPr/>
        </p:nvSpPr>
        <p:spPr>
          <a:xfrm>
            <a:off x="8044961" y="1717151"/>
            <a:ext cx="1055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Recall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879E24-E3F3-AFB2-D8C2-70073EC1267E}"/>
              </a:ext>
            </a:extLst>
          </p:cNvPr>
          <p:cNvSpPr txBox="1"/>
          <p:nvPr/>
        </p:nvSpPr>
        <p:spPr>
          <a:xfrm>
            <a:off x="9386009" y="1717151"/>
            <a:ext cx="435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F1</a:t>
            </a:r>
            <a:endParaRPr lang="en-US" dirty="0"/>
          </a:p>
        </p:txBody>
      </p:sp>
      <p:sp>
        <p:nvSpPr>
          <p:cNvPr id="54" name="Arrow: Chevron 53">
            <a:extLst>
              <a:ext uri="{FF2B5EF4-FFF2-40B4-BE49-F238E27FC236}">
                <a16:creationId xmlns:a16="http://schemas.microsoft.com/office/drawing/2014/main" id="{E55A8D18-75EC-110F-FE32-F218E129D2B4}"/>
              </a:ext>
            </a:extLst>
          </p:cNvPr>
          <p:cNvSpPr/>
          <p:nvPr/>
        </p:nvSpPr>
        <p:spPr>
          <a:xfrm>
            <a:off x="6345097" y="3520035"/>
            <a:ext cx="1385249" cy="722621"/>
          </a:xfrm>
          <a:prstGeom prst="chevron">
            <a:avLst/>
          </a:prstGeom>
          <a:solidFill>
            <a:srgbClr val="2A9D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</a:rPr>
              <a:t>0.98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5" name="Arrow: Pentagon 54">
            <a:extLst>
              <a:ext uri="{FF2B5EF4-FFF2-40B4-BE49-F238E27FC236}">
                <a16:creationId xmlns:a16="http://schemas.microsoft.com/office/drawing/2014/main" id="{B7FAAF38-1F9B-E395-0DD8-D2132CA864CB}"/>
              </a:ext>
            </a:extLst>
          </p:cNvPr>
          <p:cNvSpPr/>
          <p:nvPr/>
        </p:nvSpPr>
        <p:spPr>
          <a:xfrm>
            <a:off x="4937380" y="3520035"/>
            <a:ext cx="1452443" cy="722621"/>
          </a:xfrm>
          <a:prstGeom prst="homePlate">
            <a:avLst/>
          </a:prstGeom>
          <a:solidFill>
            <a:srgbClr val="2A9D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/>
              <a:t>0.8761</a:t>
            </a:r>
            <a:endParaRPr lang="en-US" dirty="0"/>
          </a:p>
        </p:txBody>
      </p:sp>
      <p:sp>
        <p:nvSpPr>
          <p:cNvPr id="57" name="Arrow: Chevron 56">
            <a:extLst>
              <a:ext uri="{FF2B5EF4-FFF2-40B4-BE49-F238E27FC236}">
                <a16:creationId xmlns:a16="http://schemas.microsoft.com/office/drawing/2014/main" id="{49CAEA5D-3AAD-8D4C-0D95-C18515A3A27A}"/>
              </a:ext>
            </a:extLst>
          </p:cNvPr>
          <p:cNvSpPr/>
          <p:nvPr/>
        </p:nvSpPr>
        <p:spPr>
          <a:xfrm>
            <a:off x="7685620" y="3520035"/>
            <a:ext cx="1385249" cy="722621"/>
          </a:xfrm>
          <a:prstGeom prst="chevron">
            <a:avLst/>
          </a:prstGeom>
          <a:solidFill>
            <a:srgbClr val="2A9D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</a:rPr>
              <a:t>0.86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9" name="Arrow: Chevron 58">
            <a:extLst>
              <a:ext uri="{FF2B5EF4-FFF2-40B4-BE49-F238E27FC236}">
                <a16:creationId xmlns:a16="http://schemas.microsoft.com/office/drawing/2014/main" id="{D570EFAD-4327-0A33-E20B-51BBB19E7441}"/>
              </a:ext>
            </a:extLst>
          </p:cNvPr>
          <p:cNvSpPr/>
          <p:nvPr/>
        </p:nvSpPr>
        <p:spPr>
          <a:xfrm>
            <a:off x="9026143" y="3520035"/>
            <a:ext cx="1385249" cy="722621"/>
          </a:xfrm>
          <a:prstGeom prst="chevron">
            <a:avLst/>
          </a:prstGeom>
          <a:solidFill>
            <a:srgbClr val="2A9D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</a:rPr>
              <a:t>0.8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1" name="Arrow: Chevron 60">
            <a:extLst>
              <a:ext uri="{FF2B5EF4-FFF2-40B4-BE49-F238E27FC236}">
                <a16:creationId xmlns:a16="http://schemas.microsoft.com/office/drawing/2014/main" id="{FC123E91-B4C1-543E-7109-128194A0F9C5}"/>
              </a:ext>
            </a:extLst>
          </p:cNvPr>
          <p:cNvSpPr/>
          <p:nvPr/>
        </p:nvSpPr>
        <p:spPr>
          <a:xfrm>
            <a:off x="10366667" y="3520035"/>
            <a:ext cx="1385249" cy="722621"/>
          </a:xfrm>
          <a:prstGeom prst="chevron">
            <a:avLst/>
          </a:prstGeom>
          <a:solidFill>
            <a:srgbClr val="2A9D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bg1"/>
                </a:solidFill>
              </a:rPr>
              <a:t>0.83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4C1A6F-5748-1D11-CBC4-E85711F16623}"/>
              </a:ext>
            </a:extLst>
          </p:cNvPr>
          <p:cNvSpPr txBox="1"/>
          <p:nvPr/>
        </p:nvSpPr>
        <p:spPr>
          <a:xfrm>
            <a:off x="4842593" y="3191978"/>
            <a:ext cx="1055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PR-AUC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0C1265-0F4A-D99C-A2DD-3EE25F321F4B}"/>
              </a:ext>
            </a:extLst>
          </p:cNvPr>
          <p:cNvSpPr txBox="1"/>
          <p:nvPr/>
        </p:nvSpPr>
        <p:spPr>
          <a:xfrm>
            <a:off x="6256010" y="3191978"/>
            <a:ext cx="1214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ROC-AUC</a:t>
            </a:r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E259D1D-E59E-A2E6-5019-3D739C1D41CE}"/>
              </a:ext>
            </a:extLst>
          </p:cNvPr>
          <p:cNvSpPr txBox="1"/>
          <p:nvPr/>
        </p:nvSpPr>
        <p:spPr>
          <a:xfrm>
            <a:off x="7605977" y="3191015"/>
            <a:ext cx="1143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Precision</a:t>
            </a:r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99EE87F-8DC3-5087-6C88-35F11BD1A76C}"/>
              </a:ext>
            </a:extLst>
          </p:cNvPr>
          <p:cNvSpPr txBox="1"/>
          <p:nvPr/>
        </p:nvSpPr>
        <p:spPr>
          <a:xfrm>
            <a:off x="8964257" y="3191015"/>
            <a:ext cx="1055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Recall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0CAEB24-F1CD-BC20-756F-7292BDFFEAFC}"/>
              </a:ext>
            </a:extLst>
          </p:cNvPr>
          <p:cNvSpPr txBox="1"/>
          <p:nvPr/>
        </p:nvSpPr>
        <p:spPr>
          <a:xfrm>
            <a:off x="10305305" y="3191015"/>
            <a:ext cx="435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51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 animBg="1"/>
      <p:bldP spid="16" grpId="0"/>
      <p:bldP spid="32" grpId="0" animBg="1"/>
      <p:bldP spid="34" grpId="0" animBg="1"/>
      <p:bldP spid="35" grpId="0" animBg="1"/>
      <p:bldP spid="36" grpId="0" animBg="1"/>
      <p:bldP spid="38" grpId="0" animBg="1"/>
      <p:bldP spid="48" grpId="0"/>
      <p:bldP spid="49" grpId="0"/>
      <p:bldP spid="51" grpId="0"/>
      <p:bldP spid="52" grpId="0"/>
      <p:bldP spid="53" grpId="0"/>
      <p:bldP spid="54" grpId="0" animBg="1"/>
      <p:bldP spid="55" grpId="0" animBg="1"/>
      <p:bldP spid="57" grpId="0" animBg="1"/>
      <p:bldP spid="59" grpId="0" animBg="1"/>
      <p:bldP spid="61" grpId="0" animBg="1"/>
      <p:bldP spid="63" grpId="0"/>
      <p:bldP spid="65" grpId="0"/>
      <p:bldP spid="67" grpId="0"/>
      <p:bldP spid="69" grpId="0"/>
      <p:bldP spid="7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2935F-B909-82C5-FA22-E2FBB9D9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FDD90DED-5880-DA42-02E9-D5F55772C6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7FA2A70-148E-0665-2174-6B1E040635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AD7155F-A14F-5108-7C82-A86602EC5E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B0204F-080B-3935-AEAB-127C4E29A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C1DA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1B6AF7-9C08-BB50-67B6-8B768337C56A}"/>
              </a:ext>
            </a:extLst>
          </p:cNvPr>
          <p:cNvSpPr txBox="1"/>
          <p:nvPr/>
        </p:nvSpPr>
        <p:spPr>
          <a:xfrm>
            <a:off x="-1" y="0"/>
            <a:ext cx="818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rgbClr val="003F76"/>
                </a:solidFill>
                <a:latin typeface="Aptos Slab Black" panose="020B0004020202020204" pitchFamily="34" charset="0"/>
              </a:rPr>
              <a:t>  Technical Environment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95B5AD-7DAE-C58C-AEBE-FEAEA225D98B}"/>
              </a:ext>
            </a:extLst>
          </p:cNvPr>
          <p:cNvSpPr txBox="1"/>
          <p:nvPr/>
        </p:nvSpPr>
        <p:spPr>
          <a:xfrm>
            <a:off x="371820" y="727055"/>
            <a:ext cx="43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rgbClr val="003F76"/>
                </a:solidFill>
                <a:latin typeface="Arial Narrow" panose="020B0606020202030204" pitchFamily="34" charset="0"/>
              </a:rPr>
              <a:t>What was used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rgbClr val="003F76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3F76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924BC5-07FF-63E1-8487-F87DB4398F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907" y="3998164"/>
            <a:ext cx="902108" cy="914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78113BC-9760-C92E-F697-BD07B9E446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215" y="3998164"/>
            <a:ext cx="914400" cy="914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75C962B-19CC-70E9-C68A-AFC03D9782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061" y="3998164"/>
            <a:ext cx="914400" cy="9144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D29D17D-3636-8957-26A2-02881074AC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23" y="3998164"/>
            <a:ext cx="914400" cy="914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3085C8E-DDCF-0878-4A3F-679A13DC5A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292" y="3998164"/>
            <a:ext cx="914400" cy="9144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5259F00-70A0-4D8B-A1C1-E96A3F89A2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369" y="3998164"/>
            <a:ext cx="914400" cy="9144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8B7BBAF-3715-2DA8-EC2A-AE30D7D40D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446" y="3998164"/>
            <a:ext cx="914400" cy="9144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3795627-1E91-8553-F979-375EC5AF142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2538" y="3998164"/>
            <a:ext cx="906014" cy="9144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6DB2D3F-B90B-3E0C-72DB-DCB7D634DB5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984" y="3998164"/>
            <a:ext cx="914400" cy="9144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53BCA18-A934-4414-46E7-679F9609F49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49138" y="3998164"/>
            <a:ext cx="914400" cy="9144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B0D9A0B-B0A4-31AC-554C-9375FED85CF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98075" y="3998164"/>
            <a:ext cx="914400" cy="9144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3811864-CEEF-C808-BCA2-F37031A786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493" y="6000059"/>
            <a:ext cx="822960" cy="82296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5449FC5-DFF0-D8DD-12AE-613D00BE765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644" y="5943357"/>
            <a:ext cx="822960" cy="82296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E9D84F1-E0A7-5942-CA76-B866B023B5B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342" y="5921817"/>
            <a:ext cx="822960" cy="82296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8EC2D6E4-E0D3-F2C4-5394-C5970E5EA84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91" y="5944912"/>
            <a:ext cx="822960" cy="82296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0B82E10-48D8-B5D7-EFE5-FF75A5258B5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097" y="6000059"/>
            <a:ext cx="822960" cy="82296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DBD446E-DA31-C864-8629-FABFE6FF8CC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795" y="5964897"/>
            <a:ext cx="822960" cy="82296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69B723FB-FB9B-8EC5-79D2-26E31226B15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946" y="6000059"/>
            <a:ext cx="822960" cy="82296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81E3C423-3602-56D0-690B-4A855DD1D8B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248" y="5974288"/>
            <a:ext cx="822960" cy="82296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8F04AA6-3D8F-E6F1-DE05-36C53F4E987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9701" y="5921817"/>
            <a:ext cx="822960" cy="82296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D7C09D05-A349-7E8E-AE61-D193F18FA54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550" y="5974288"/>
            <a:ext cx="822960" cy="82296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B0BCF348-1E05-AF0D-921E-5B12D3B63C0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399" y="5963396"/>
            <a:ext cx="822960" cy="82296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1D7C6984-676F-408A-5756-4CE0C02F7C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0852" y="5943357"/>
            <a:ext cx="822960" cy="82296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5D06AD65-D81D-9DD3-0B3E-FBCA38A453D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62" y="1965027"/>
            <a:ext cx="1005840" cy="100584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A9213749-A7AC-A4DE-A2A9-4A25C2A8CE4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4" b="9068"/>
          <a:stretch>
            <a:fillRect/>
          </a:stretch>
        </p:blipFill>
        <p:spPr>
          <a:xfrm>
            <a:off x="3082432" y="2053432"/>
            <a:ext cx="1267457" cy="100584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EB29CFB-FACB-7B31-EC73-0AF4D164F9C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41" t="7306" r="11450" b="8509"/>
          <a:stretch>
            <a:fillRect/>
          </a:stretch>
        </p:blipFill>
        <p:spPr>
          <a:xfrm>
            <a:off x="9373885" y="2053432"/>
            <a:ext cx="951165" cy="100584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2CEF3145-47A2-CC46-7F06-75BEB6B546F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1" t="14551" r="19414" b="14578"/>
          <a:stretch>
            <a:fillRect/>
          </a:stretch>
        </p:blipFill>
        <p:spPr>
          <a:xfrm>
            <a:off x="6384421" y="2002319"/>
            <a:ext cx="796309" cy="1108065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A95131CD-E33F-B7F8-6571-2A9FFA28F1AB}"/>
              </a:ext>
            </a:extLst>
          </p:cNvPr>
          <p:cNvSpPr txBox="1"/>
          <p:nvPr/>
        </p:nvSpPr>
        <p:spPr>
          <a:xfrm>
            <a:off x="206156" y="1327101"/>
            <a:ext cx="2555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Hardware:</a:t>
            </a:r>
            <a:endParaRPr lang="en-US" sz="3600" dirty="0">
              <a:solidFill>
                <a:srgbClr val="163C5E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A1DA9A7-B930-12A7-9135-7F0F8CC46070}"/>
              </a:ext>
            </a:extLst>
          </p:cNvPr>
          <p:cNvSpPr txBox="1"/>
          <p:nvPr/>
        </p:nvSpPr>
        <p:spPr>
          <a:xfrm>
            <a:off x="206156" y="3285627"/>
            <a:ext cx="4114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Software &amp; Tools:</a:t>
            </a:r>
            <a:endParaRPr lang="en-US" sz="3600" dirty="0">
              <a:solidFill>
                <a:srgbClr val="163C5E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399C754-A564-BE18-3329-F501BC7B74C4}"/>
              </a:ext>
            </a:extLst>
          </p:cNvPr>
          <p:cNvSpPr txBox="1"/>
          <p:nvPr/>
        </p:nvSpPr>
        <p:spPr>
          <a:xfrm>
            <a:off x="203620" y="5359206"/>
            <a:ext cx="6633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Technologies &amp; </a:t>
            </a:r>
            <a:r>
              <a:rPr lang="fr-FR" sz="3600" dirty="0" err="1">
                <a:solidFill>
                  <a:srgbClr val="163C5E"/>
                </a:solidFill>
                <a:latin typeface="Arial Rounded MT Bold" panose="020F0704030504030204" pitchFamily="34" charset="0"/>
              </a:rPr>
              <a:t>Frameworks</a:t>
            </a:r>
            <a:r>
              <a:rPr lang="fr-FR" sz="3600" dirty="0">
                <a:solidFill>
                  <a:srgbClr val="163C5E"/>
                </a:solidFill>
                <a:latin typeface="Arial Rounded MT Bold" panose="020F0704030504030204" pitchFamily="34" charset="0"/>
              </a:rPr>
              <a:t>:</a:t>
            </a:r>
            <a:endParaRPr lang="en-US" sz="3600" dirty="0">
              <a:solidFill>
                <a:srgbClr val="163C5E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22B4C23-E3EB-976C-5B8B-E6829C48F5A9}"/>
              </a:ext>
            </a:extLst>
          </p:cNvPr>
          <p:cNvSpPr txBox="1"/>
          <p:nvPr/>
        </p:nvSpPr>
        <p:spPr>
          <a:xfrm>
            <a:off x="1318423" y="2267892"/>
            <a:ext cx="1082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Aptos Slab Light" panose="020F0502020204030204" pitchFamily="34" charset="0"/>
              </a:rPr>
              <a:t>Ryzen 5</a:t>
            </a:r>
            <a:endParaRPr lang="en-US" sz="2000" b="1" dirty="0">
              <a:latin typeface="Aptos Slab Light" panose="020F0502020204030204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1415342-E992-7CC2-8372-71F5E60E0912}"/>
              </a:ext>
            </a:extLst>
          </p:cNvPr>
          <p:cNvSpPr txBox="1"/>
          <p:nvPr/>
        </p:nvSpPr>
        <p:spPr>
          <a:xfrm>
            <a:off x="4144329" y="2376650"/>
            <a:ext cx="1516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Aptos Slab Light" panose="020F0502020204030204" pitchFamily="34" charset="0"/>
              </a:rPr>
              <a:t>16 GB RAM</a:t>
            </a:r>
            <a:endParaRPr lang="en-US" sz="2000" b="1" dirty="0">
              <a:latin typeface="Aptos Slab Light" panose="020F050202020403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90A7DC3-CAE8-3B59-F2C8-780268318092}"/>
              </a:ext>
            </a:extLst>
          </p:cNvPr>
          <p:cNvSpPr txBox="1"/>
          <p:nvPr/>
        </p:nvSpPr>
        <p:spPr>
          <a:xfrm>
            <a:off x="7142710" y="2355561"/>
            <a:ext cx="15693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Aptos Slab Light" panose="020F0502020204030204" pitchFamily="34" charset="0"/>
              </a:rPr>
              <a:t>512 GB SSD</a:t>
            </a:r>
            <a:endParaRPr lang="en-US" sz="2000" b="1" dirty="0">
              <a:latin typeface="Aptos Slab Light" panose="020F050202020403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BE1BE3A-F137-F746-67AC-D461BCE60A13}"/>
              </a:ext>
            </a:extLst>
          </p:cNvPr>
          <p:cNvSpPr txBox="1"/>
          <p:nvPr/>
        </p:nvSpPr>
        <p:spPr>
          <a:xfrm>
            <a:off x="10286999" y="2356296"/>
            <a:ext cx="15693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Aptos Slab Light" panose="020F0502020204030204" pitchFamily="34" charset="0"/>
              </a:rPr>
              <a:t>Windows 11</a:t>
            </a:r>
            <a:endParaRPr lang="en-US" sz="2000" b="1" dirty="0">
              <a:latin typeface="Aptos Slab Light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019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28DA9-F746-9396-ECB3-E1136B2F1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6FCB9C00-16BB-4CC9-C708-2E064C80A5A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417D3AD-E8CC-7EFA-7CE3-FC3FE2B15B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26D0188-BFFE-749B-29FB-EE9B617962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776E0F7-3177-92B7-C4AA-6E0412386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A4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5D6568-17F0-0D4A-A2F0-9DC926847C3E}"/>
              </a:ext>
            </a:extLst>
          </p:cNvPr>
          <p:cNvSpPr txBox="1"/>
          <p:nvPr/>
        </p:nvSpPr>
        <p:spPr>
          <a:xfrm>
            <a:off x="3423213" y="2274838"/>
            <a:ext cx="5345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4400" b="1" dirty="0">
                <a:solidFill>
                  <a:schemeClr val="bg1"/>
                </a:solidFill>
                <a:latin typeface="Aptos Slab Black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0297056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44071-4E6D-064F-C712-3AA35E963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4E71407-D357-4146-69AA-EF861A2B17C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4705D56-A710-1EBA-47CD-506E40A4CE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06D197F-A8BB-C286-6BD3-08A3B4DEA9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8AC058-55FE-3928-9A1A-C2A8A2B4C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7A4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88F8C4-9F9F-02E5-B114-176AC6299FD7}"/>
              </a:ext>
            </a:extLst>
          </p:cNvPr>
          <p:cNvSpPr txBox="1"/>
          <p:nvPr/>
        </p:nvSpPr>
        <p:spPr>
          <a:xfrm>
            <a:off x="-1" y="0"/>
            <a:ext cx="818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chemeClr val="bg1"/>
                </a:solidFill>
                <a:latin typeface="Aptos Slab Black" panose="020B0004020202020204" pitchFamily="34" charset="0"/>
              </a:rPr>
              <a:t>  Demo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4D5716-7C70-459B-51D4-D5F47B0A83DB}"/>
              </a:ext>
            </a:extLst>
          </p:cNvPr>
          <p:cNvSpPr txBox="1"/>
          <p:nvPr/>
        </p:nvSpPr>
        <p:spPr>
          <a:xfrm>
            <a:off x="371820" y="727055"/>
            <a:ext cx="43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Each client has his own patterns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113DD27-1657-A744-AA96-3FCE734B3564}"/>
              </a:ext>
            </a:extLst>
          </p:cNvPr>
          <p:cNvSpPr/>
          <p:nvPr/>
        </p:nvSpPr>
        <p:spPr>
          <a:xfrm>
            <a:off x="371820" y="1350500"/>
            <a:ext cx="5592308" cy="5423095"/>
          </a:xfrm>
          <a:prstGeom prst="roundRect">
            <a:avLst>
              <a:gd name="adj" fmla="val 7489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14EB4B-2250-0546-9893-A4147EF3DA53}"/>
              </a:ext>
            </a:extLst>
          </p:cNvPr>
          <p:cNvSpPr/>
          <p:nvPr/>
        </p:nvSpPr>
        <p:spPr>
          <a:xfrm>
            <a:off x="6302724" y="1350499"/>
            <a:ext cx="5592308" cy="5423095"/>
          </a:xfrm>
          <a:prstGeom prst="roundRect">
            <a:avLst>
              <a:gd name="adj" fmla="val 8129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86840A-C8BE-D010-2B32-DCC201210957}"/>
              </a:ext>
            </a:extLst>
          </p:cNvPr>
          <p:cNvSpPr txBox="1"/>
          <p:nvPr/>
        </p:nvSpPr>
        <p:spPr>
          <a:xfrm>
            <a:off x="403809" y="3767181"/>
            <a:ext cx="53169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Ahmed Ben Salem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Student</a:t>
            </a:r>
          </a:p>
          <a:p>
            <a:br>
              <a:rPr lang="en-US" b="1" dirty="0"/>
            </a:br>
            <a:r>
              <a:rPr lang="en-US" sz="2000" dirty="0" err="1"/>
              <a:t>PayZo</a:t>
            </a:r>
            <a:r>
              <a:rPr lang="en-US" sz="2000" dirty="0"/>
              <a:t> user since 400 days</a:t>
            </a:r>
          </a:p>
          <a:p>
            <a:r>
              <a:rPr lang="en-US" sz="2000" i="1" dirty="0"/>
              <a:t>Total balance: </a:t>
            </a:r>
            <a:r>
              <a:rPr lang="en-US" sz="2000" b="1" i="1" dirty="0"/>
              <a:t>8,000 TND</a:t>
            </a:r>
          </a:p>
          <a:p>
            <a:r>
              <a:rPr lang="en-US" sz="2000" i="1" dirty="0">
                <a:solidFill>
                  <a:schemeClr val="bg1"/>
                </a:solidFill>
                <a:highlight>
                  <a:srgbClr val="008000"/>
                </a:highlight>
              </a:rPr>
              <a:t>Trust score: 85/100</a:t>
            </a:r>
            <a:r>
              <a:rPr lang="en-US" sz="2000" i="1" dirty="0">
                <a:solidFill>
                  <a:srgbClr val="008000"/>
                </a:solidFill>
                <a:highlight>
                  <a:srgbClr val="008000"/>
                </a:highlight>
              </a:rPr>
              <a:t>.</a:t>
            </a:r>
            <a:endParaRPr lang="en-US" sz="2000" dirty="0">
              <a:solidFill>
                <a:schemeClr val="bg1"/>
              </a:solidFill>
              <a:highlight>
                <a:srgbClr val="008000"/>
              </a:highlight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D76D09F-2504-F8DE-E90F-3A246DB491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83" t="14700" r="8855" b="40501"/>
          <a:stretch>
            <a:fillRect/>
          </a:stretch>
        </p:blipFill>
        <p:spPr>
          <a:xfrm>
            <a:off x="7399245" y="1379650"/>
            <a:ext cx="3484610" cy="237744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6AC825F-3A69-AC2F-9E27-3CE533FC2A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05" t="9347" r="11794" b="10032"/>
          <a:stretch>
            <a:fillRect/>
          </a:stretch>
        </p:blipFill>
        <p:spPr>
          <a:xfrm>
            <a:off x="1531658" y="1363283"/>
            <a:ext cx="3409391" cy="23774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D3179B-D48B-06CB-F919-5DE7B020A562}"/>
              </a:ext>
            </a:extLst>
          </p:cNvPr>
          <p:cNvSpPr txBox="1"/>
          <p:nvPr/>
        </p:nvSpPr>
        <p:spPr>
          <a:xfrm>
            <a:off x="6302724" y="3768500"/>
            <a:ext cx="53169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Karim Trabelsi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Business Owner</a:t>
            </a:r>
          </a:p>
          <a:p>
            <a:br>
              <a:rPr lang="en-US" b="1" dirty="0"/>
            </a:br>
            <a:r>
              <a:rPr lang="en-US" sz="2000" dirty="0" err="1"/>
              <a:t>PayZo</a:t>
            </a:r>
            <a:r>
              <a:rPr lang="en-US" sz="2000" dirty="0"/>
              <a:t> user since 2.5 years</a:t>
            </a:r>
          </a:p>
          <a:p>
            <a:r>
              <a:rPr lang="en-US" sz="2000" i="1" dirty="0"/>
              <a:t>Total balance: </a:t>
            </a:r>
            <a:r>
              <a:rPr lang="en-US" sz="2000" b="1" i="1" dirty="0"/>
              <a:t>120,000 TND</a:t>
            </a:r>
          </a:p>
          <a:p>
            <a:r>
              <a:rPr lang="en-US" sz="2000" i="1" dirty="0">
                <a:solidFill>
                  <a:schemeClr val="bg1"/>
                </a:solidFill>
                <a:highlight>
                  <a:srgbClr val="008000"/>
                </a:highlight>
              </a:rPr>
              <a:t>Trust score: 82/100</a:t>
            </a:r>
            <a:r>
              <a:rPr lang="en-US" sz="2000" i="1" dirty="0">
                <a:solidFill>
                  <a:srgbClr val="008000"/>
                </a:solidFill>
                <a:highlight>
                  <a:srgbClr val="008000"/>
                </a:highlight>
              </a:rPr>
              <a:t>.</a:t>
            </a:r>
            <a:endParaRPr lang="en-US" sz="2000" dirty="0">
              <a:solidFill>
                <a:srgbClr val="008000"/>
              </a:solidFill>
              <a:highlight>
                <a:srgbClr val="0080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904BEA-2AE6-AE26-B99B-5266C81F05B8}"/>
              </a:ext>
            </a:extLst>
          </p:cNvPr>
          <p:cNvSpPr txBox="1"/>
          <p:nvPr/>
        </p:nvSpPr>
        <p:spPr>
          <a:xfrm>
            <a:off x="457575" y="5867952"/>
            <a:ext cx="55065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/>
              <a:t>usually sends 50–150 TND to a few saved friends</a:t>
            </a:r>
            <a:endParaRPr lang="en-US" b="1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E6BD94-0305-A0B1-D7E6-47D5AA63836F}"/>
              </a:ext>
            </a:extLst>
          </p:cNvPr>
          <p:cNvSpPr txBox="1"/>
          <p:nvPr/>
        </p:nvSpPr>
        <p:spPr>
          <a:xfrm>
            <a:off x="6418471" y="5867952"/>
            <a:ext cx="5476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/>
              <a:t>sends 200–15 000 TND across many recipients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2613959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7DCD8D-C369-7B46-6FCB-844424792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CD54F993-07A3-B941-5B9C-A8BA0E1F68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3C2FD34-7ABA-08C1-78DF-CCC831F1E6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E41539-2BCA-A5EA-FB3F-52E9DA0B2D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8170E04-875B-26B9-7B13-E9219739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7A4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DB43-D1AC-3C48-4B9A-7E69F1FB0FD4}"/>
              </a:ext>
            </a:extLst>
          </p:cNvPr>
          <p:cNvSpPr txBox="1"/>
          <p:nvPr/>
        </p:nvSpPr>
        <p:spPr>
          <a:xfrm>
            <a:off x="-1" y="0"/>
            <a:ext cx="818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chemeClr val="bg1"/>
                </a:solidFill>
                <a:latin typeface="Aptos Slab Black" panose="020B0004020202020204" pitchFamily="34" charset="0"/>
              </a:rPr>
              <a:t>  Demo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F6C3B7-AD0A-A474-4792-60E0C8582B6B}"/>
              </a:ext>
            </a:extLst>
          </p:cNvPr>
          <p:cNvSpPr txBox="1"/>
          <p:nvPr/>
        </p:nvSpPr>
        <p:spPr>
          <a:xfrm>
            <a:off x="371820" y="727055"/>
            <a:ext cx="43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Each client has his own patterns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C67D328-44ED-4FCB-5AA3-6548BAA3B6A5}"/>
              </a:ext>
            </a:extLst>
          </p:cNvPr>
          <p:cNvSpPr/>
          <p:nvPr/>
        </p:nvSpPr>
        <p:spPr>
          <a:xfrm>
            <a:off x="371820" y="1350500"/>
            <a:ext cx="2760527" cy="5423095"/>
          </a:xfrm>
          <a:prstGeom prst="roundRect">
            <a:avLst>
              <a:gd name="adj" fmla="val 7489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74C908-E1C8-FB9C-13FF-9BB83738C3FB}"/>
              </a:ext>
            </a:extLst>
          </p:cNvPr>
          <p:cNvSpPr/>
          <p:nvPr/>
        </p:nvSpPr>
        <p:spPr>
          <a:xfrm>
            <a:off x="12448881" y="1350499"/>
            <a:ext cx="5592308" cy="5423095"/>
          </a:xfrm>
          <a:prstGeom prst="roundRect">
            <a:avLst>
              <a:gd name="adj" fmla="val 8129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06CACC-3FA8-93BB-0E81-44C4608F7D08}"/>
              </a:ext>
            </a:extLst>
          </p:cNvPr>
          <p:cNvSpPr txBox="1"/>
          <p:nvPr/>
        </p:nvSpPr>
        <p:spPr>
          <a:xfrm>
            <a:off x="403809" y="3767181"/>
            <a:ext cx="2760527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Ahmed Ben Salem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Student</a:t>
            </a:r>
          </a:p>
          <a:p>
            <a:br>
              <a:rPr lang="en-US" sz="1600" b="1" dirty="0"/>
            </a:br>
            <a:r>
              <a:rPr lang="en-US" dirty="0" err="1"/>
              <a:t>PayZo</a:t>
            </a:r>
            <a:r>
              <a:rPr lang="en-US" dirty="0"/>
              <a:t> user since 400 days</a:t>
            </a:r>
          </a:p>
          <a:p>
            <a:r>
              <a:rPr lang="en-US" i="1" dirty="0"/>
              <a:t>Total balance: </a:t>
            </a:r>
            <a:r>
              <a:rPr lang="en-US" b="1" i="1" dirty="0"/>
              <a:t>8,000 TND</a:t>
            </a:r>
          </a:p>
          <a:p>
            <a:r>
              <a:rPr lang="en-US" i="1" dirty="0">
                <a:solidFill>
                  <a:schemeClr val="bg1"/>
                </a:solidFill>
                <a:highlight>
                  <a:srgbClr val="008000"/>
                </a:highlight>
              </a:rPr>
              <a:t>Trust score: 85/100</a:t>
            </a:r>
            <a:r>
              <a:rPr lang="en-US" i="1" dirty="0">
                <a:solidFill>
                  <a:srgbClr val="008000"/>
                </a:solidFill>
                <a:highlight>
                  <a:srgbClr val="008000"/>
                </a:highlight>
              </a:rPr>
              <a:t>.</a:t>
            </a:r>
            <a:endParaRPr lang="en-US" dirty="0">
              <a:solidFill>
                <a:schemeClr val="bg1"/>
              </a:solidFill>
              <a:highlight>
                <a:srgbClr val="008000"/>
              </a:highlight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B484ED8-F634-B43E-324C-378A230307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83" t="14700" r="8855" b="40501"/>
          <a:stretch>
            <a:fillRect/>
          </a:stretch>
        </p:blipFill>
        <p:spPr>
          <a:xfrm>
            <a:off x="13545402" y="1379650"/>
            <a:ext cx="3484610" cy="237744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799E12A-CA02-0783-4F3F-692197BB25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1" t="9347" r="28239" b="10032"/>
          <a:stretch>
            <a:fillRect/>
          </a:stretch>
        </p:blipFill>
        <p:spPr>
          <a:xfrm>
            <a:off x="739298" y="1370121"/>
            <a:ext cx="2025569" cy="23774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344343-278F-CC66-0173-DF4A8F9C6F4B}"/>
              </a:ext>
            </a:extLst>
          </p:cNvPr>
          <p:cNvSpPr txBox="1"/>
          <p:nvPr/>
        </p:nvSpPr>
        <p:spPr>
          <a:xfrm>
            <a:off x="12448881" y="3768500"/>
            <a:ext cx="53169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Karim Trabelsi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Business Owner</a:t>
            </a:r>
          </a:p>
          <a:p>
            <a:br>
              <a:rPr lang="en-US" b="1" dirty="0"/>
            </a:br>
            <a:r>
              <a:rPr lang="en-US" sz="2000" dirty="0" err="1"/>
              <a:t>PayZo</a:t>
            </a:r>
            <a:r>
              <a:rPr lang="en-US" sz="2000" dirty="0"/>
              <a:t> user since 2.5 years</a:t>
            </a:r>
          </a:p>
          <a:p>
            <a:r>
              <a:rPr lang="en-US" sz="2000" i="1" dirty="0"/>
              <a:t>Total balance: </a:t>
            </a:r>
            <a:r>
              <a:rPr lang="en-US" sz="2000" b="1" i="1" dirty="0"/>
              <a:t>120,000 TND</a:t>
            </a:r>
          </a:p>
          <a:p>
            <a:r>
              <a:rPr lang="en-US" sz="2000" i="1" dirty="0">
                <a:solidFill>
                  <a:schemeClr val="bg1"/>
                </a:solidFill>
                <a:highlight>
                  <a:srgbClr val="008000"/>
                </a:highlight>
              </a:rPr>
              <a:t>Trust score: 82</a:t>
            </a:r>
            <a:r>
              <a:rPr lang="en-US" sz="2000" i="1" dirty="0">
                <a:solidFill>
                  <a:srgbClr val="008000"/>
                </a:solidFill>
                <a:highlight>
                  <a:srgbClr val="008000"/>
                </a:highlight>
              </a:rPr>
              <a:t>.</a:t>
            </a:r>
            <a:endParaRPr lang="en-US" sz="2000" dirty="0">
              <a:solidFill>
                <a:srgbClr val="008000"/>
              </a:solidFill>
              <a:highlight>
                <a:srgbClr val="0080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3A034-07C4-2D50-8F90-C640DC9564DD}"/>
              </a:ext>
            </a:extLst>
          </p:cNvPr>
          <p:cNvSpPr txBox="1"/>
          <p:nvPr/>
        </p:nvSpPr>
        <p:spPr>
          <a:xfrm>
            <a:off x="12564628" y="5867952"/>
            <a:ext cx="5476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/>
              <a:t>sends 200–15 000 TND across many recipients</a:t>
            </a:r>
            <a:endParaRPr lang="en-US" b="1" u="sng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6E441D-5CB0-843D-1ACC-BDF64D3658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1880"/>
          <a:stretch>
            <a:fillRect/>
          </a:stretch>
        </p:blipFill>
        <p:spPr>
          <a:xfrm>
            <a:off x="3164336" y="1808792"/>
            <a:ext cx="9027664" cy="162020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00AF4BA-1A52-438F-33B9-D359E28E4BF6}"/>
              </a:ext>
            </a:extLst>
          </p:cNvPr>
          <p:cNvSpPr txBox="1"/>
          <p:nvPr/>
        </p:nvSpPr>
        <p:spPr>
          <a:xfrm>
            <a:off x="3132347" y="1379650"/>
            <a:ext cx="4139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 80 TND </a:t>
            </a:r>
            <a:r>
              <a:rPr lang="fr-FR" dirty="0" err="1"/>
              <a:t>transfer</a:t>
            </a:r>
            <a:r>
              <a:rPr lang="fr-FR" dirty="0"/>
              <a:t> to a </a:t>
            </a:r>
            <a:r>
              <a:rPr lang="fr-FR" dirty="0" err="1"/>
              <a:t>saved</a:t>
            </a:r>
            <a:r>
              <a:rPr lang="fr-FR" dirty="0"/>
              <a:t> </a:t>
            </a:r>
            <a:r>
              <a:rPr lang="en-US" dirty="0"/>
              <a:t>recipient: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FB049B3-0D2D-3377-ED8B-F48D24AAD0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6325" y="3910207"/>
            <a:ext cx="8381521" cy="286338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A001038-DA4D-771D-104C-EBA77DA3FA4C}"/>
              </a:ext>
            </a:extLst>
          </p:cNvPr>
          <p:cNvSpPr txBox="1"/>
          <p:nvPr/>
        </p:nvSpPr>
        <p:spPr>
          <a:xfrm>
            <a:off x="3164336" y="3540875"/>
            <a:ext cx="4311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Analyst</a:t>
            </a:r>
            <a:r>
              <a:rPr lang="fr-FR" dirty="0"/>
              <a:t> View: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486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F9BEE-219F-3857-9C0D-6F05747D5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83FF484-A70D-41EE-1B04-13AA1718E96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1E7B579-C794-7C9A-84D5-5003F28ABD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6FFD015-55AB-0367-D124-3A76332342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89411DF-825B-AA82-5968-6ADC69393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7A4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D75D98-4374-400D-AD4F-0DB14BF821AD}"/>
              </a:ext>
            </a:extLst>
          </p:cNvPr>
          <p:cNvSpPr txBox="1"/>
          <p:nvPr/>
        </p:nvSpPr>
        <p:spPr>
          <a:xfrm>
            <a:off x="-1" y="0"/>
            <a:ext cx="818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chemeClr val="bg1"/>
                </a:solidFill>
                <a:latin typeface="Aptos Slab Black" panose="020B0004020202020204" pitchFamily="34" charset="0"/>
              </a:rPr>
              <a:t>  Demo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45E24C-371A-9EBD-7253-BE7C3221F6E3}"/>
              </a:ext>
            </a:extLst>
          </p:cNvPr>
          <p:cNvSpPr txBox="1"/>
          <p:nvPr/>
        </p:nvSpPr>
        <p:spPr>
          <a:xfrm>
            <a:off x="371820" y="727055"/>
            <a:ext cx="43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Each client has his own patterns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1E67F53-81C2-5AC6-A192-E190C73A9F6F}"/>
              </a:ext>
            </a:extLst>
          </p:cNvPr>
          <p:cNvSpPr/>
          <p:nvPr/>
        </p:nvSpPr>
        <p:spPr>
          <a:xfrm>
            <a:off x="330604" y="1350500"/>
            <a:ext cx="2743200" cy="5423095"/>
          </a:xfrm>
          <a:prstGeom prst="roundRect">
            <a:avLst>
              <a:gd name="adj" fmla="val 7489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126699E-7766-B8FE-D163-7BB45AE49C56}"/>
              </a:ext>
            </a:extLst>
          </p:cNvPr>
          <p:cNvSpPr/>
          <p:nvPr/>
        </p:nvSpPr>
        <p:spPr>
          <a:xfrm>
            <a:off x="12475148" y="1350499"/>
            <a:ext cx="2743200" cy="5423095"/>
          </a:xfrm>
          <a:prstGeom prst="roundRect">
            <a:avLst>
              <a:gd name="adj" fmla="val 8129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717E75-85F4-68C8-407C-A3B3F5014B3A}"/>
              </a:ext>
            </a:extLst>
          </p:cNvPr>
          <p:cNvSpPr txBox="1"/>
          <p:nvPr/>
        </p:nvSpPr>
        <p:spPr>
          <a:xfrm>
            <a:off x="362593" y="3767181"/>
            <a:ext cx="2760527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Ahmed Ben Salem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Student</a:t>
            </a:r>
          </a:p>
          <a:p>
            <a:br>
              <a:rPr lang="en-US" sz="1600" b="1" dirty="0"/>
            </a:br>
            <a:r>
              <a:rPr lang="en-US" dirty="0" err="1"/>
              <a:t>PayZo</a:t>
            </a:r>
            <a:r>
              <a:rPr lang="en-US" dirty="0"/>
              <a:t> user since 400 days</a:t>
            </a:r>
          </a:p>
          <a:p>
            <a:r>
              <a:rPr lang="en-US" i="1" dirty="0"/>
              <a:t>Total balance: </a:t>
            </a:r>
            <a:r>
              <a:rPr lang="en-US" b="1" i="1" dirty="0"/>
              <a:t>8,000 TND</a:t>
            </a:r>
          </a:p>
          <a:p>
            <a:r>
              <a:rPr lang="en-US" i="1" dirty="0">
                <a:solidFill>
                  <a:schemeClr val="bg1"/>
                </a:solidFill>
                <a:highlight>
                  <a:srgbClr val="008000"/>
                </a:highlight>
              </a:rPr>
              <a:t>Trust score: 85</a:t>
            </a:r>
            <a:r>
              <a:rPr lang="en-US" i="1" dirty="0">
                <a:solidFill>
                  <a:srgbClr val="008000"/>
                </a:solidFill>
                <a:highlight>
                  <a:srgbClr val="008000"/>
                </a:highlight>
              </a:rPr>
              <a:t>.</a:t>
            </a:r>
            <a:endParaRPr lang="en-US" dirty="0">
              <a:solidFill>
                <a:schemeClr val="bg1"/>
              </a:solidFill>
              <a:highlight>
                <a:srgbClr val="008000"/>
              </a:highlight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CFE36CD-88CB-51DC-9924-4166E2FF46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71" t="14700" r="19420" b="40501"/>
          <a:stretch>
            <a:fillRect/>
          </a:stretch>
        </p:blipFill>
        <p:spPr>
          <a:xfrm>
            <a:off x="12901868" y="1379650"/>
            <a:ext cx="1889760" cy="237744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C31AF6C-3D6A-C511-8EDE-8C19693921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1" t="9347" r="28239" b="10032"/>
          <a:stretch>
            <a:fillRect/>
          </a:stretch>
        </p:blipFill>
        <p:spPr>
          <a:xfrm>
            <a:off x="698082" y="1370121"/>
            <a:ext cx="2025569" cy="23774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C81C9F-7F83-D3F1-F0E8-C53DC22F44D2}"/>
              </a:ext>
            </a:extLst>
          </p:cNvPr>
          <p:cNvSpPr txBox="1"/>
          <p:nvPr/>
        </p:nvSpPr>
        <p:spPr>
          <a:xfrm>
            <a:off x="12475149" y="3768500"/>
            <a:ext cx="2743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Karim Trabelsi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Business Owner</a:t>
            </a:r>
          </a:p>
          <a:p>
            <a:br>
              <a:rPr lang="en-US" sz="1600" b="1" dirty="0"/>
            </a:br>
            <a:r>
              <a:rPr lang="en-US" sz="1600" dirty="0" err="1"/>
              <a:t>PayZo</a:t>
            </a:r>
            <a:r>
              <a:rPr lang="en-US" sz="1600" dirty="0"/>
              <a:t> user since 2.5 years</a:t>
            </a:r>
          </a:p>
          <a:p>
            <a:r>
              <a:rPr lang="en-US" sz="1600" i="1" dirty="0"/>
              <a:t>Total balance: </a:t>
            </a:r>
            <a:r>
              <a:rPr lang="en-US" sz="1600" b="1" i="1" dirty="0"/>
              <a:t>120,000 TND</a:t>
            </a:r>
          </a:p>
          <a:p>
            <a:r>
              <a:rPr lang="en-US" sz="1600" i="1" dirty="0">
                <a:solidFill>
                  <a:schemeClr val="bg1"/>
                </a:solidFill>
                <a:highlight>
                  <a:srgbClr val="008000"/>
                </a:highlight>
              </a:rPr>
              <a:t>Trust score: 82</a:t>
            </a:r>
            <a:r>
              <a:rPr lang="en-US" sz="1600" i="1" dirty="0">
                <a:solidFill>
                  <a:srgbClr val="008000"/>
                </a:solidFill>
                <a:highlight>
                  <a:srgbClr val="008000"/>
                </a:highlight>
              </a:rPr>
              <a:t>.</a:t>
            </a:r>
            <a:endParaRPr lang="en-US" sz="1600" dirty="0">
              <a:solidFill>
                <a:srgbClr val="008000"/>
              </a:solidFill>
              <a:highlight>
                <a:srgbClr val="008000"/>
              </a:highlight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CCF2AFD-3095-0B65-8F7F-122E551C7F2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4678"/>
          <a:stretch>
            <a:fillRect/>
          </a:stretch>
        </p:blipFill>
        <p:spPr>
          <a:xfrm>
            <a:off x="3132347" y="1746186"/>
            <a:ext cx="9018436" cy="147314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42A064C-1641-9D6C-3A70-00C0023713F3}"/>
              </a:ext>
            </a:extLst>
          </p:cNvPr>
          <p:cNvSpPr txBox="1"/>
          <p:nvPr/>
        </p:nvSpPr>
        <p:spPr>
          <a:xfrm>
            <a:off x="3155109" y="1376853"/>
            <a:ext cx="468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 5000 TND </a:t>
            </a:r>
            <a:r>
              <a:rPr lang="fr-FR" dirty="0" err="1"/>
              <a:t>transfer</a:t>
            </a:r>
            <a:r>
              <a:rPr lang="fr-FR" dirty="0"/>
              <a:t> to a Unknown </a:t>
            </a:r>
            <a:r>
              <a:rPr lang="en-US" dirty="0"/>
              <a:t>recipient: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941E173-152C-26E4-3F0C-4C2323F49F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93009" y="3893620"/>
            <a:ext cx="8699878" cy="286412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FA105B9-A33B-0E4E-51F6-6501C5B9AF99}"/>
              </a:ext>
            </a:extLst>
          </p:cNvPr>
          <p:cNvSpPr txBox="1"/>
          <p:nvPr/>
        </p:nvSpPr>
        <p:spPr>
          <a:xfrm>
            <a:off x="3132346" y="3460100"/>
            <a:ext cx="4311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Analyst</a:t>
            </a:r>
            <a:r>
              <a:rPr lang="fr-FR" dirty="0"/>
              <a:t> View: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100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3C9CB3-ECCB-9BC4-5777-1E08AA686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66D893B-74FA-B5DB-D239-6B2FFDB0E3F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CB580CC-4208-7919-C695-1ACC57950D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54CBA81-C4A2-4A8E-8841-1120CEE28F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FD33992-BD92-E614-5136-28A6131B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7A4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908952-C2DC-E5EF-0466-EABA9F489658}"/>
              </a:ext>
            </a:extLst>
          </p:cNvPr>
          <p:cNvSpPr txBox="1"/>
          <p:nvPr/>
        </p:nvSpPr>
        <p:spPr>
          <a:xfrm>
            <a:off x="-1" y="0"/>
            <a:ext cx="818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chemeClr val="bg1"/>
                </a:solidFill>
                <a:latin typeface="Aptos Slab Black" panose="020B0004020202020204" pitchFamily="34" charset="0"/>
              </a:rPr>
              <a:t>  Demo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F7EBAD-5E97-EAE4-FBAC-C46E5E77168B}"/>
              </a:ext>
            </a:extLst>
          </p:cNvPr>
          <p:cNvSpPr txBox="1"/>
          <p:nvPr/>
        </p:nvSpPr>
        <p:spPr>
          <a:xfrm>
            <a:off x="371820" y="727055"/>
            <a:ext cx="43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Each client has his own patterns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C39A843-E8BF-246B-7794-2ED26CA27259}"/>
              </a:ext>
            </a:extLst>
          </p:cNvPr>
          <p:cNvSpPr/>
          <p:nvPr/>
        </p:nvSpPr>
        <p:spPr>
          <a:xfrm>
            <a:off x="-3072464" y="1350500"/>
            <a:ext cx="2743200" cy="5423095"/>
          </a:xfrm>
          <a:prstGeom prst="roundRect">
            <a:avLst>
              <a:gd name="adj" fmla="val 7489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666DD5-18C7-5699-7EDD-72C79B77DDCB}"/>
              </a:ext>
            </a:extLst>
          </p:cNvPr>
          <p:cNvSpPr/>
          <p:nvPr/>
        </p:nvSpPr>
        <p:spPr>
          <a:xfrm>
            <a:off x="9322713" y="1350499"/>
            <a:ext cx="2743200" cy="5423095"/>
          </a:xfrm>
          <a:prstGeom prst="roundRect">
            <a:avLst>
              <a:gd name="adj" fmla="val 8129"/>
            </a:avLst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4A2B21-5D2B-EAF9-8AD7-53E18BAAB88A}"/>
              </a:ext>
            </a:extLst>
          </p:cNvPr>
          <p:cNvSpPr txBox="1"/>
          <p:nvPr/>
        </p:nvSpPr>
        <p:spPr>
          <a:xfrm>
            <a:off x="-3040475" y="3767181"/>
            <a:ext cx="2760527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Ahmed Ben Salem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Student</a:t>
            </a:r>
          </a:p>
          <a:p>
            <a:br>
              <a:rPr lang="en-US" sz="1600" b="1" dirty="0"/>
            </a:br>
            <a:r>
              <a:rPr lang="en-US" dirty="0" err="1"/>
              <a:t>PayZo</a:t>
            </a:r>
            <a:r>
              <a:rPr lang="en-US" dirty="0"/>
              <a:t> user since 400 days</a:t>
            </a:r>
          </a:p>
          <a:p>
            <a:r>
              <a:rPr lang="en-US" i="1" dirty="0"/>
              <a:t>Total balance: </a:t>
            </a:r>
            <a:r>
              <a:rPr lang="en-US" b="1" i="1" dirty="0"/>
              <a:t>8,000 TND</a:t>
            </a:r>
          </a:p>
          <a:p>
            <a:r>
              <a:rPr lang="en-US" i="1" dirty="0">
                <a:solidFill>
                  <a:schemeClr val="bg1"/>
                </a:solidFill>
                <a:highlight>
                  <a:srgbClr val="008000"/>
                </a:highlight>
              </a:rPr>
              <a:t>Trust score: 85</a:t>
            </a:r>
            <a:r>
              <a:rPr lang="en-US" i="1" dirty="0">
                <a:solidFill>
                  <a:srgbClr val="008000"/>
                </a:solidFill>
                <a:highlight>
                  <a:srgbClr val="008000"/>
                </a:highlight>
              </a:rPr>
              <a:t>.</a:t>
            </a:r>
            <a:endParaRPr lang="en-US" dirty="0">
              <a:solidFill>
                <a:schemeClr val="bg1"/>
              </a:solidFill>
              <a:highlight>
                <a:srgbClr val="008000"/>
              </a:highlight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C172A71-5B06-4F73-2102-B937E21B89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71" t="14700" r="19420" b="40501"/>
          <a:stretch>
            <a:fillRect/>
          </a:stretch>
        </p:blipFill>
        <p:spPr>
          <a:xfrm>
            <a:off x="9749433" y="1379650"/>
            <a:ext cx="1889760" cy="237744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C8F2330-B41F-6CF2-0DE9-7EA3B0396E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1" t="9347" r="28239" b="10032"/>
          <a:stretch>
            <a:fillRect/>
          </a:stretch>
        </p:blipFill>
        <p:spPr>
          <a:xfrm>
            <a:off x="-2704986" y="1370121"/>
            <a:ext cx="2025569" cy="23774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878971-677F-85E7-0A30-5B8176C457C9}"/>
              </a:ext>
            </a:extLst>
          </p:cNvPr>
          <p:cNvSpPr txBox="1"/>
          <p:nvPr/>
        </p:nvSpPr>
        <p:spPr>
          <a:xfrm>
            <a:off x="9322713" y="3768500"/>
            <a:ext cx="531695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Karim Trabelsi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Business Owner</a:t>
            </a:r>
          </a:p>
          <a:p>
            <a:br>
              <a:rPr lang="en-US" sz="1600" b="1" dirty="0"/>
            </a:br>
            <a:r>
              <a:rPr lang="en-US" sz="1600" dirty="0" err="1"/>
              <a:t>PayZo</a:t>
            </a:r>
            <a:r>
              <a:rPr lang="en-US" sz="1600" dirty="0"/>
              <a:t> user since 2.5 years</a:t>
            </a:r>
          </a:p>
          <a:p>
            <a:r>
              <a:rPr lang="en-US" sz="1600" i="1" dirty="0"/>
              <a:t>Total balance: </a:t>
            </a:r>
            <a:r>
              <a:rPr lang="en-US" sz="1600" b="1" i="1" dirty="0"/>
              <a:t>120,000 TND</a:t>
            </a:r>
          </a:p>
          <a:p>
            <a:r>
              <a:rPr lang="en-US" sz="1600" i="1" dirty="0">
                <a:solidFill>
                  <a:schemeClr val="bg1"/>
                </a:solidFill>
                <a:highlight>
                  <a:srgbClr val="008000"/>
                </a:highlight>
              </a:rPr>
              <a:t>Trust score: 82/100</a:t>
            </a:r>
            <a:r>
              <a:rPr lang="en-US" sz="1600" i="1" dirty="0">
                <a:solidFill>
                  <a:srgbClr val="008000"/>
                </a:solidFill>
                <a:highlight>
                  <a:srgbClr val="008000"/>
                </a:highlight>
              </a:rPr>
              <a:t>.</a:t>
            </a:r>
            <a:endParaRPr lang="en-US" sz="1600" dirty="0">
              <a:solidFill>
                <a:srgbClr val="008000"/>
              </a:solidFill>
              <a:highlight>
                <a:srgbClr val="0080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E9B5A2-14D6-1618-F86A-B776A76105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1732999"/>
            <a:ext cx="9196626" cy="17350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00E6EF-8BE6-68B6-E53F-3DFAB433A451}"/>
              </a:ext>
            </a:extLst>
          </p:cNvPr>
          <p:cNvSpPr txBox="1"/>
          <p:nvPr/>
        </p:nvSpPr>
        <p:spPr>
          <a:xfrm>
            <a:off x="126087" y="1350499"/>
            <a:ext cx="4311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 5000 TND </a:t>
            </a:r>
            <a:r>
              <a:rPr lang="fr-FR" dirty="0" err="1"/>
              <a:t>transfer</a:t>
            </a:r>
            <a:r>
              <a:rPr lang="en-US" dirty="0"/>
              <a:t>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6261A3B-A66B-8DA3-5B0C-EB485F7D7B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91" y="3860641"/>
            <a:ext cx="9137635" cy="292842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DAD1E7B-2130-6551-1A5B-1351BF6F40CC}"/>
              </a:ext>
            </a:extLst>
          </p:cNvPr>
          <p:cNvSpPr txBox="1"/>
          <p:nvPr/>
        </p:nvSpPr>
        <p:spPr>
          <a:xfrm>
            <a:off x="58991" y="3499010"/>
            <a:ext cx="4311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Analyst</a:t>
            </a:r>
            <a:r>
              <a:rPr lang="fr-FR" dirty="0"/>
              <a:t> View: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972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0F620-BF02-CABB-7261-7A513FF4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FEB8AF4-BE3C-C095-B3F4-E4F514B9B6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357364A-10AA-A17A-E747-801BF20C1C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1C790FE-12F8-B2CC-EC7A-CCA0A737AD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DEC020-3EDB-94D6-476A-C55D149E5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7A4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28D48E-0D65-DA8B-8561-066E65BE6A3C}"/>
              </a:ext>
            </a:extLst>
          </p:cNvPr>
          <p:cNvSpPr txBox="1"/>
          <p:nvPr/>
        </p:nvSpPr>
        <p:spPr>
          <a:xfrm>
            <a:off x="-1" y="0"/>
            <a:ext cx="818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chemeClr val="bg1"/>
                </a:solidFill>
                <a:latin typeface="Aptos Slab Black" panose="020B0004020202020204" pitchFamily="34" charset="0"/>
              </a:rPr>
              <a:t>  Demo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133586-CE59-8F66-B056-DBE2613AC5B2}"/>
              </a:ext>
            </a:extLst>
          </p:cNvPr>
          <p:cNvSpPr txBox="1"/>
          <p:nvPr/>
        </p:nvSpPr>
        <p:spPr>
          <a:xfrm>
            <a:off x="371820" y="727055"/>
            <a:ext cx="43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chemeClr val="bg1"/>
                </a:solidFill>
                <a:latin typeface="Arial Narrow" panose="020B0606020202030204" pitchFamily="34" charset="0"/>
              </a:rPr>
              <a:t>Velocity attack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006B49-3AC6-D136-7ED3-053DB45D0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295019"/>
            <a:ext cx="12191999" cy="34476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17DCF3-073D-B65D-C33E-65F9E7AC3539}"/>
              </a:ext>
            </a:extLst>
          </p:cNvPr>
          <p:cNvSpPr txBox="1"/>
          <p:nvPr/>
        </p:nvSpPr>
        <p:spPr>
          <a:xfrm>
            <a:off x="11181080" y="5033754"/>
            <a:ext cx="645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0.12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DBE67-DD16-7BBA-B318-45925FCBA019}"/>
              </a:ext>
            </a:extLst>
          </p:cNvPr>
          <p:cNvSpPr txBox="1"/>
          <p:nvPr/>
        </p:nvSpPr>
        <p:spPr>
          <a:xfrm>
            <a:off x="11181080" y="4324880"/>
            <a:ext cx="645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0.27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DEF255-E3E1-B1F4-D4BE-2F990FBA889E}"/>
              </a:ext>
            </a:extLst>
          </p:cNvPr>
          <p:cNvSpPr txBox="1"/>
          <p:nvPr/>
        </p:nvSpPr>
        <p:spPr>
          <a:xfrm>
            <a:off x="11343640" y="3616006"/>
            <a:ext cx="645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0.51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C3E3EA-63AF-B292-C8B4-334863A5595F}"/>
              </a:ext>
            </a:extLst>
          </p:cNvPr>
          <p:cNvSpPr txBox="1"/>
          <p:nvPr/>
        </p:nvSpPr>
        <p:spPr>
          <a:xfrm>
            <a:off x="11224259" y="2920019"/>
            <a:ext cx="645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0.81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CD4FA6-45F0-6335-9C8B-B0AC46F93945}"/>
              </a:ext>
            </a:extLst>
          </p:cNvPr>
          <p:cNvSpPr txBox="1"/>
          <p:nvPr/>
        </p:nvSpPr>
        <p:spPr>
          <a:xfrm>
            <a:off x="11224259" y="2224033"/>
            <a:ext cx="645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0.94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BF3ADC-960F-9BC4-40F0-1570E565F69F}"/>
              </a:ext>
            </a:extLst>
          </p:cNvPr>
          <p:cNvSpPr txBox="1"/>
          <p:nvPr/>
        </p:nvSpPr>
        <p:spPr>
          <a:xfrm>
            <a:off x="0" y="1702477"/>
            <a:ext cx="10030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ML system doesn’t get tricked by small amounts sent in many </a:t>
            </a:r>
            <a:r>
              <a:rPr lang="en-US" sz="2400" dirty="0" err="1"/>
              <a:t>tranfers</a:t>
            </a:r>
            <a:endParaRPr lang="en-US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3B4246-B138-7036-B990-A97185C19666}"/>
              </a:ext>
            </a:extLst>
          </p:cNvPr>
          <p:cNvSpPr txBox="1"/>
          <p:nvPr/>
        </p:nvSpPr>
        <p:spPr>
          <a:xfrm>
            <a:off x="0" y="5813614"/>
            <a:ext cx="7471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0A0A0A"/>
                </a:solidFill>
                <a:effectLst/>
                <a:latin typeface="Anthropic Sans"/>
              </a:rPr>
              <a:t>It quickly catches the pattern and suspends them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31216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B7F7E-75EA-B156-7064-9FE9735BA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FD289B6-575D-898B-21B1-058F4F1A4D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5AA4B65-ADE5-B91E-1D28-50016B15DF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C7479E4-7EF1-2337-B907-966DE48611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AF6AC9B-042D-40B4-4E56-391AE4D18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7A4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50DED0-516B-E3E6-7439-B2D3338980B2}"/>
              </a:ext>
            </a:extLst>
          </p:cNvPr>
          <p:cNvSpPr txBox="1"/>
          <p:nvPr/>
        </p:nvSpPr>
        <p:spPr>
          <a:xfrm>
            <a:off x="-1" y="0"/>
            <a:ext cx="818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chemeClr val="bg1"/>
                </a:solidFill>
                <a:latin typeface="Aptos Slab Black" panose="020B0004020202020204" pitchFamily="34" charset="0"/>
              </a:rPr>
              <a:t>  Demo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A112A3-CADC-0CCF-3275-76BFA1A1B615}"/>
              </a:ext>
            </a:extLst>
          </p:cNvPr>
          <p:cNvSpPr txBox="1"/>
          <p:nvPr/>
        </p:nvSpPr>
        <p:spPr>
          <a:xfrm>
            <a:off x="371820" y="727055"/>
            <a:ext cx="43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chemeClr val="bg1"/>
                </a:solidFill>
                <a:latin typeface="Arial Narrow" panose="020B0606020202030204" pitchFamily="34" charset="0"/>
              </a:rPr>
              <a:t>The hour as a signal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E3BC83-CB43-8D11-4312-FBA829F05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147" y="1670184"/>
            <a:ext cx="9281509" cy="221483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CA6836-3501-03F2-8C8A-2B8610ABC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306" y="4038529"/>
            <a:ext cx="9281509" cy="265882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8" name="Arrow: Left 17">
            <a:extLst>
              <a:ext uri="{FF2B5EF4-FFF2-40B4-BE49-F238E27FC236}">
                <a16:creationId xmlns:a16="http://schemas.microsoft.com/office/drawing/2014/main" id="{A738067B-A4C9-7F31-8398-90B6C4B11790}"/>
              </a:ext>
            </a:extLst>
          </p:cNvPr>
          <p:cNvSpPr/>
          <p:nvPr/>
        </p:nvSpPr>
        <p:spPr>
          <a:xfrm>
            <a:off x="9603586" y="1670184"/>
            <a:ext cx="532788" cy="189299"/>
          </a:xfrm>
          <a:prstGeom prst="lef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7DA095C2-4836-8272-9E9E-83879A952FEF}"/>
              </a:ext>
            </a:extLst>
          </p:cNvPr>
          <p:cNvSpPr/>
          <p:nvPr/>
        </p:nvSpPr>
        <p:spPr>
          <a:xfrm>
            <a:off x="9602312" y="4109966"/>
            <a:ext cx="532788" cy="189299"/>
          </a:xfrm>
          <a:prstGeom prst="leftArrow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BC45C7-1386-6CD5-B75A-4117D089D547}"/>
              </a:ext>
            </a:extLst>
          </p:cNvPr>
          <p:cNvSpPr txBox="1"/>
          <p:nvPr/>
        </p:nvSpPr>
        <p:spPr>
          <a:xfrm>
            <a:off x="10218304" y="1591732"/>
            <a:ext cx="1188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1500 TND </a:t>
            </a:r>
            <a:br>
              <a:rPr lang="fr-FR" b="1" dirty="0"/>
            </a:br>
            <a:r>
              <a:rPr lang="fr-FR" b="1" dirty="0"/>
              <a:t>15:23 PM</a:t>
            </a:r>
            <a:endParaRPr 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A26EC5-EF43-4B74-F33F-D024DFC61816}"/>
              </a:ext>
            </a:extLst>
          </p:cNvPr>
          <p:cNvSpPr txBox="1"/>
          <p:nvPr/>
        </p:nvSpPr>
        <p:spPr>
          <a:xfrm>
            <a:off x="10234597" y="4029884"/>
            <a:ext cx="1188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1500 TND </a:t>
            </a:r>
            <a:br>
              <a:rPr lang="fr-FR" b="1" dirty="0"/>
            </a:br>
            <a:r>
              <a:rPr lang="fr-FR" b="1" dirty="0"/>
              <a:t>04:11 AM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2B820-EBCC-9957-13F3-C8E696B7503F}"/>
              </a:ext>
            </a:extLst>
          </p:cNvPr>
          <p:cNvSpPr txBox="1"/>
          <p:nvPr/>
        </p:nvSpPr>
        <p:spPr>
          <a:xfrm>
            <a:off x="221306" y="1244507"/>
            <a:ext cx="8617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A0A0A"/>
                </a:solidFill>
                <a:effectLst/>
                <a:latin typeface="Anthropic Sans"/>
              </a:rPr>
              <a:t>The exact same transfer, same amount, same people — only the hour is different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341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5B69B-6EE3-21D2-A8C8-660B8B92D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7425A768-2062-20D3-898E-FC16863A078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93DA473-28FA-4759-0DAA-040ABAAE36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132502C-4C79-6303-D135-7D118AC138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4B2405D-E6CC-7D56-471E-8774F7224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7A4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1A15CE-92D8-B7CD-C9C0-41959A76E2AC}"/>
              </a:ext>
            </a:extLst>
          </p:cNvPr>
          <p:cNvSpPr txBox="1"/>
          <p:nvPr/>
        </p:nvSpPr>
        <p:spPr>
          <a:xfrm>
            <a:off x="-1" y="0"/>
            <a:ext cx="818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chemeClr val="bg1"/>
                </a:solidFill>
                <a:latin typeface="Aptos Slab Black" panose="020B0004020202020204" pitchFamily="34" charset="0"/>
              </a:rPr>
              <a:t>  Conclusion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E5896A-B5F5-A01F-7907-66E2D80318AB}"/>
              </a:ext>
            </a:extLst>
          </p:cNvPr>
          <p:cNvSpPr txBox="1"/>
          <p:nvPr/>
        </p:nvSpPr>
        <p:spPr>
          <a:xfrm>
            <a:off x="371820" y="727055"/>
            <a:ext cx="43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chemeClr val="bg1"/>
                </a:solidFill>
                <a:latin typeface="Arial Narrow" panose="020B0606020202030204" pitchFamily="34" charset="0"/>
              </a:rPr>
              <a:t>Where we landed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5028A-C3ED-50E0-0677-406CAAA2F2E3}"/>
              </a:ext>
            </a:extLst>
          </p:cNvPr>
          <p:cNvSpPr txBox="1"/>
          <p:nvPr/>
        </p:nvSpPr>
        <p:spPr>
          <a:xfrm>
            <a:off x="1275864" y="1880449"/>
            <a:ext cx="96402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400" b="1" i="0" dirty="0" err="1">
                <a:solidFill>
                  <a:srgbClr val="0A0A0A"/>
                </a:solidFill>
                <a:effectLst/>
                <a:latin typeface="Anthropic Sans"/>
              </a:rPr>
              <a:t>PayZo</a:t>
            </a:r>
            <a:r>
              <a:rPr lang="en-US" sz="2400" b="1" i="0" dirty="0">
                <a:solidFill>
                  <a:srgbClr val="0A0A0A"/>
                </a:solidFill>
                <a:effectLst/>
                <a:latin typeface="Anthropic Sans"/>
              </a:rPr>
              <a:t> unifies cross-bank P2P into one view, and protects every transfer with ML fraud detection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US" sz="2400" b="1" i="0" dirty="0">
              <a:solidFill>
                <a:srgbClr val="0A0A0A"/>
              </a:solidFill>
              <a:effectLst/>
              <a:latin typeface="Anthropic Sans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400" b="1" i="0" dirty="0">
                <a:solidFill>
                  <a:srgbClr val="0A0A0A"/>
                </a:solidFill>
                <a:effectLst/>
                <a:latin typeface="Anthropic Sans"/>
              </a:rPr>
              <a:t>It learns how you normally pay, so it spots what doesn't look like you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US" sz="2400" b="1" i="0" dirty="0">
              <a:solidFill>
                <a:srgbClr val="0A0A0A"/>
              </a:solidFill>
              <a:effectLst/>
              <a:latin typeface="Anthropic Sans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400" b="1" i="0" dirty="0">
                <a:solidFill>
                  <a:srgbClr val="0A0A0A"/>
                </a:solidFill>
                <a:effectLst/>
                <a:latin typeface="Anthropic Sans"/>
              </a:rPr>
              <a:t>The fraud engine is always on thanks to its structure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US" sz="2400" b="1" i="0" dirty="0">
              <a:solidFill>
                <a:srgbClr val="0A0A0A"/>
              </a:solidFill>
              <a:effectLst/>
              <a:latin typeface="Anthropic Sans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400" b="1" i="0" dirty="0">
                <a:solidFill>
                  <a:srgbClr val="0A0A0A"/>
                </a:solidFill>
                <a:effectLst/>
                <a:latin typeface="Anthropic Sans"/>
              </a:rPr>
              <a:t>Delivered: mobile + web apps for clients, desktop + web apps for staff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US" sz="2400" b="1" i="0" dirty="0">
              <a:solidFill>
                <a:srgbClr val="0A0A0A"/>
              </a:solidFill>
              <a:effectLst/>
              <a:latin typeface="Anthropic Sans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400" b="1" i="0" dirty="0">
                <a:solidFill>
                  <a:srgbClr val="0A0A0A"/>
                </a:solidFill>
                <a:effectLst/>
                <a:latin typeface="Anthropic Sans"/>
              </a:rPr>
              <a:t>The hole platform runs end-to-end, packaged with Docker</a:t>
            </a:r>
          </a:p>
        </p:txBody>
      </p:sp>
    </p:spTree>
    <p:extLst>
      <p:ext uri="{BB962C8B-B14F-4D97-AF65-F5344CB8AC3E}">
        <p14:creationId xmlns:p14="http://schemas.microsoft.com/office/powerpoint/2010/main" val="3415432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A7D7B-6C05-97E8-F07E-B4E0C26D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C45F1D-CB11-B034-AA31-A44162335D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BEE6172-D150-E9DB-609C-0ECA1F313B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3226D0C-3A7E-DF7A-327F-E12F83C5E1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5ACCF8F-B818-25F5-4FC9-5C84F1E38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1188720"/>
          </a:xfrm>
          <a:prstGeom prst="rect">
            <a:avLst/>
          </a:prstGeom>
          <a:solidFill>
            <a:srgbClr val="7A4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7BDECA-582A-8AA8-39F1-7A5A4228D8C3}"/>
              </a:ext>
            </a:extLst>
          </p:cNvPr>
          <p:cNvSpPr txBox="1"/>
          <p:nvPr/>
        </p:nvSpPr>
        <p:spPr>
          <a:xfrm>
            <a:off x="-1" y="0"/>
            <a:ext cx="818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5400" b="1" dirty="0">
                <a:solidFill>
                  <a:schemeClr val="bg1"/>
                </a:solidFill>
                <a:latin typeface="Aptos Slab Black" panose="020B0004020202020204" pitchFamily="34" charset="0"/>
              </a:rPr>
              <a:t>  Perspectives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CA02B5-592F-1324-8C95-ABD2C0D560F5}"/>
              </a:ext>
            </a:extLst>
          </p:cNvPr>
          <p:cNvSpPr txBox="1"/>
          <p:nvPr/>
        </p:nvSpPr>
        <p:spPr>
          <a:xfrm>
            <a:off x="371820" y="727055"/>
            <a:ext cx="43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« </a:t>
            </a:r>
            <a:r>
              <a:rPr lang="en-US" sz="2400" i="1" dirty="0">
                <a:solidFill>
                  <a:schemeClr val="bg1"/>
                </a:solidFill>
                <a:latin typeface="Arial Narrow" panose="020B0606020202030204" pitchFamily="34" charset="0"/>
              </a:rPr>
              <a:t>What's next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»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A30210-249F-30A6-5499-845D8B167E31}"/>
              </a:ext>
            </a:extLst>
          </p:cNvPr>
          <p:cNvSpPr txBox="1"/>
          <p:nvPr/>
        </p:nvSpPr>
        <p:spPr>
          <a:xfrm>
            <a:off x="261505" y="1880449"/>
            <a:ext cx="113157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600" b="1" i="0" dirty="0">
                <a:solidFill>
                  <a:srgbClr val="0A0A0A"/>
                </a:solidFill>
                <a:effectLst/>
                <a:latin typeface="Anthropic Sans"/>
              </a:rPr>
              <a:t>Biometric login for the mobile app, such as fingerprint              and Face ID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US" sz="2600" b="1" i="0" dirty="0">
              <a:solidFill>
                <a:srgbClr val="0A0A0A"/>
              </a:solidFill>
              <a:effectLst/>
              <a:latin typeface="Anthropic Sans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US" sz="2600" b="1" i="0" dirty="0">
              <a:solidFill>
                <a:srgbClr val="0A0A0A"/>
              </a:solidFill>
              <a:effectLst/>
              <a:latin typeface="Anthropic Sans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US" sz="2600" b="1" i="0" dirty="0">
              <a:solidFill>
                <a:srgbClr val="0A0A0A"/>
              </a:solidFill>
              <a:effectLst/>
              <a:latin typeface="Anthropic Sans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600" b="1" i="0" dirty="0">
                <a:solidFill>
                  <a:srgbClr val="0A0A0A"/>
                </a:solidFill>
                <a:effectLst/>
                <a:latin typeface="Anthropic Sans"/>
              </a:rPr>
              <a:t>New detection features, such as the device and location of each transfer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US" sz="2600" b="1" i="0" dirty="0">
              <a:solidFill>
                <a:srgbClr val="0A0A0A"/>
              </a:solidFill>
              <a:effectLst/>
              <a:latin typeface="Anthropic Sans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US" sz="2600" b="1" i="0" dirty="0">
              <a:solidFill>
                <a:srgbClr val="0A0A0A"/>
              </a:solidFill>
              <a:effectLst/>
              <a:latin typeface="Anthropic Sans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endParaRPr lang="en-US" sz="2600" b="1" i="0" dirty="0">
              <a:solidFill>
                <a:srgbClr val="0A0A0A"/>
              </a:solidFill>
              <a:effectLst/>
              <a:latin typeface="Anthropic Sans"/>
            </a:endParaRP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600" b="1" i="0" dirty="0">
                <a:solidFill>
                  <a:srgbClr val="0A0A0A"/>
                </a:solidFill>
                <a:effectLst/>
                <a:latin typeface="Anthropic Sans"/>
              </a:rPr>
              <a:t>Automatic retraining fo</a:t>
            </a:r>
            <a:r>
              <a:rPr lang="en-US" sz="2600" b="1" dirty="0">
                <a:solidFill>
                  <a:srgbClr val="0A0A0A"/>
                </a:solidFill>
                <a:latin typeface="Anthropic Sans"/>
              </a:rPr>
              <a:t>r the ML model</a:t>
            </a:r>
            <a:endParaRPr lang="en-US" sz="2600" b="1" i="0" dirty="0">
              <a:solidFill>
                <a:srgbClr val="0A0A0A"/>
              </a:solidFill>
              <a:effectLst/>
              <a:latin typeface="Anthropic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68432A-1FFF-02BF-21F0-4649BA3AE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5427" y="1674645"/>
            <a:ext cx="871105" cy="8711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F0B451-34FC-8412-8B72-9206FC4D10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8181" y="1704875"/>
            <a:ext cx="952500" cy="952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205B44-F79F-CB30-3CE0-3931050296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4032" y="3250858"/>
            <a:ext cx="952500" cy="952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7DCF4E5-1235-55C4-D2E6-F03E0EFA3D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298" y="4865022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51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712464-64E4-0A68-4B8B-B77692869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5A6DE7-9B25-BB2B-DBB8-549682260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A4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190625-D4B2-4BED-3B4D-3D02BAB46500}"/>
              </a:ext>
            </a:extLst>
          </p:cNvPr>
          <p:cNvSpPr txBox="1"/>
          <p:nvPr/>
        </p:nvSpPr>
        <p:spPr>
          <a:xfrm>
            <a:off x="0" y="1905506"/>
            <a:ext cx="12192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9600" b="1" dirty="0">
                <a:solidFill>
                  <a:schemeClr val="bg1"/>
                </a:solidFill>
                <a:latin typeface="Aptos Slab Black" panose="020B0004020202020204" pitchFamily="34" charset="0"/>
              </a:rPr>
              <a:t>  Thank you </a:t>
            </a:r>
          </a:p>
          <a:p>
            <a:pPr lvl="0" algn="ctr">
              <a:defRPr/>
            </a:pPr>
            <a:r>
              <a:rPr lang="en-US" sz="9600" b="1" dirty="0">
                <a:solidFill>
                  <a:schemeClr val="bg1"/>
                </a:solidFill>
                <a:latin typeface="Aptos Slab Black" panose="020B0004020202020204" pitchFamily="34" charset="0"/>
              </a:rPr>
              <a:t>for your attention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E4930A7-0173-59DE-67A6-45FD950068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2347" y="-691729"/>
            <a:ext cx="5176827" cy="504059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1E13361-8C9D-915A-BBD1-826E50877B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5173" y="4126031"/>
            <a:ext cx="5176827" cy="504059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8111378-75F6-060F-3922-B0BF0F413B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54348" y="2582482"/>
            <a:ext cx="5176827" cy="504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6384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13258</TotalTime>
  <Words>1803</Words>
  <Application>Microsoft Office PowerPoint</Application>
  <PresentationFormat>Widescreen</PresentationFormat>
  <Paragraphs>545</Paragraphs>
  <Slides>47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6" baseType="lpstr">
      <vt:lpstr>Batang</vt:lpstr>
      <vt:lpstr>Abadi ExtraLight</vt:lpstr>
      <vt:lpstr>Aharoni</vt:lpstr>
      <vt:lpstr>Amasis MT Pro</vt:lpstr>
      <vt:lpstr>Amasis MT Pro Black</vt:lpstr>
      <vt:lpstr>Amasis MT Pro Medium</vt:lpstr>
      <vt:lpstr>Anthropic Sans</vt:lpstr>
      <vt:lpstr>Aptos</vt:lpstr>
      <vt:lpstr>Aptos Display</vt:lpstr>
      <vt:lpstr>Aptos Slab Black</vt:lpstr>
      <vt:lpstr>Aptos Slab Light</vt:lpstr>
      <vt:lpstr>Arial</vt:lpstr>
      <vt:lpstr>Arial Black</vt:lpstr>
      <vt:lpstr>Arial Narrow</vt:lpstr>
      <vt:lpstr>Arial Rounded MT Bold</vt:lpstr>
      <vt:lpstr>Bierstadt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salem Mohamed</dc:creator>
  <cp:lastModifiedBy>Ben salem Mohamed</cp:lastModifiedBy>
  <cp:revision>34</cp:revision>
  <dcterms:created xsi:type="dcterms:W3CDTF">2026-06-06T21:04:37Z</dcterms:created>
  <dcterms:modified xsi:type="dcterms:W3CDTF">2026-06-16T22:25:15Z</dcterms:modified>
</cp:coreProperties>
</file>